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jpg" ContentType="image/jpeg"/>
  <Default Extension="png" ContentType="image/png"/>
  <Default Extension="wdp" ContentType="image/vnd.ms-photo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12.xml" ContentType="application/vnd.openxmlformats-officedocument.presentationml.slide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7.xml" ContentType="application/vnd.openxmlformats-officedocument.presentationml.slide+xml"/>
  <Override PartName="/ppt/slides/slide25.xml" ContentType="application/vnd.openxmlformats-officedocument.presentationml.slide+xml"/>
  <Override PartName="/ppt/slides/slide38.xml" ContentType="application/vnd.openxmlformats-officedocument.presentationml.slide+xml"/>
  <Override PartName="/ppt/slides/slide20.xml" ContentType="application/vnd.openxmlformats-officedocument.presentationml.slide+xml"/>
  <Override PartName="/ppt/slides/slide33.xml" ContentType="application/vnd.openxmlformats-officedocument.presentationml.slide+xml"/>
  <Override PartName="/ppt/viewProps.xml" ContentType="application/vnd.openxmlformats-officedocument.presentationml.viewProps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slides/slide5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6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7.xml" ContentType="application/vnd.openxmlformats-officedocument.presentationml.slide+xml"/>
  <Override PartName="/ppt/slides/slide35.xml" ContentType="application/vnd.openxmlformats-officedocument.presentationml.slide+xml"/>
  <Override PartName="/ppt/slides/slide9.xml" ContentType="application/vnd.openxmlformats-officedocument.presentationml.slide+xml"/>
  <Override PartName="/ppt/slides/slide18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21.xml" ContentType="application/vnd.openxmlformats-officedocument.presentationml.slide+xml"/>
  <Override PartName="/ppt/slides/slide26.xml" ContentType="application/vnd.openxmlformats-officedocument.presentationml.slide+xml"/>
  <Override PartName="/ppt/slides/slide29.xml" ContentType="application/vnd.openxmlformats-officedocument.presentationml.slide+xml"/>
  <Override PartName="/ppt/slides/slide34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1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slides/slide37.xml" ContentType="application/vnd.openxmlformats-officedocument.presentationml.slide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0" r:id="rId4"/>
    <p:sldId id="262" r:id="rId5"/>
    <p:sldId id="265" r:id="rId6"/>
    <p:sldId id="264" r:id="rId7"/>
    <p:sldId id="263" r:id="rId8"/>
    <p:sldId id="266" r:id="rId9"/>
    <p:sldId id="267" r:id="rId10"/>
    <p:sldId id="268" r:id="rId11"/>
    <p:sldId id="269" r:id="rId12"/>
    <p:sldId id="271" r:id="rId13"/>
    <p:sldId id="270" r:id="rId14"/>
    <p:sldId id="272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96" r:id="rId32"/>
    <p:sldId id="297" r:id="rId33"/>
    <p:sldId id="294" r:id="rId34"/>
    <p:sldId id="302" r:id="rId35"/>
    <p:sldId id="295" r:id="rId36"/>
    <p:sldId id="298" r:id="rId37"/>
    <p:sldId id="299" r:id="rId38"/>
    <p:sldId id="301" r:id="rId39"/>
    <p:sldId id="303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EFEF"/>
    <a:srgbClr val="F9F9F9"/>
    <a:srgbClr val="F3F3F3"/>
    <a:srgbClr val="FAFAFA"/>
    <a:srgbClr val="E5E5E5"/>
    <a:srgbClr val="EEEEEE"/>
    <a:srgbClr val="EEEEF0"/>
    <a:srgbClr val="145865"/>
    <a:srgbClr val="A4E9E8"/>
    <a:srgbClr val="0F60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88" autoAdjust="0"/>
  </p:normalViewPr>
  <p:slideViewPr>
    <p:cSldViewPr snapToGrid="0">
      <p:cViewPr varScale="1">
        <p:scale>
          <a:sx n="144" d="100"/>
          <a:sy n="144" d="100"/>
        </p:scale>
        <p:origin x="15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2.xml" Id="rId13" /><Relationship Type="http://schemas.openxmlformats.org/officeDocument/2006/relationships/slide" Target="/ppt/slides/slide17.xml" Id="rId18" /><Relationship Type="http://schemas.openxmlformats.org/officeDocument/2006/relationships/slide" Target="/ppt/slides/slide25.xml" Id="rId26" /><Relationship Type="http://schemas.openxmlformats.org/officeDocument/2006/relationships/slide" Target="/ppt/slides/slide38.xml" Id="rId39" /><Relationship Type="http://schemas.openxmlformats.org/officeDocument/2006/relationships/slide" Target="/ppt/slides/slide20.xml" Id="rId21" /><Relationship Type="http://schemas.openxmlformats.org/officeDocument/2006/relationships/slide" Target="/ppt/slides/slide33.xml" Id="rId34" /><Relationship Type="http://schemas.openxmlformats.org/officeDocument/2006/relationships/viewProps" Target="/ppt/viewProps.xml" Id="rId42" /><Relationship Type="http://schemas.openxmlformats.org/officeDocument/2006/relationships/slide" Target="/ppt/slides/slide6.xml" Id="rId7" /><Relationship Type="http://schemas.openxmlformats.org/officeDocument/2006/relationships/slide" Target="/ppt/slides/slide1.xml" Id="rId2" /><Relationship Type="http://schemas.openxmlformats.org/officeDocument/2006/relationships/slide" Target="/ppt/slides/slide15.xml" Id="rId16" /><Relationship Type="http://schemas.openxmlformats.org/officeDocument/2006/relationships/slide" Target="/ppt/slides/slide19.xml" Id="rId20" /><Relationship Type="http://schemas.openxmlformats.org/officeDocument/2006/relationships/slide" Target="/ppt/slides/slide28.xml" Id="rId29" /><Relationship Type="http://schemas.openxmlformats.org/officeDocument/2006/relationships/presProps" Target="/ppt/presProps.xml" Id="rId41" /><Relationship Type="http://schemas.openxmlformats.org/officeDocument/2006/relationships/slideMaster" Target="/ppt/slideMasters/slideMaster1.xml" Id="rId1" /><Relationship Type="http://schemas.openxmlformats.org/officeDocument/2006/relationships/slide" Target="/ppt/slides/slide5.xml" Id="rId6" /><Relationship Type="http://schemas.openxmlformats.org/officeDocument/2006/relationships/slide" Target="/ppt/slides/slide10.xml" Id="rId11" /><Relationship Type="http://schemas.openxmlformats.org/officeDocument/2006/relationships/slide" Target="/ppt/slides/slide23.xml" Id="rId24" /><Relationship Type="http://schemas.openxmlformats.org/officeDocument/2006/relationships/slide" Target="/ppt/slides/slide31.xml" Id="rId32" /><Relationship Type="http://schemas.openxmlformats.org/officeDocument/2006/relationships/slide" Target="/ppt/slides/slide36.xml" Id="rId37" /><Relationship Type="http://schemas.openxmlformats.org/officeDocument/2006/relationships/slide" Target="/ppt/slides/slide39.xml" Id="rId40" /><Relationship Type="http://schemas.openxmlformats.org/officeDocument/2006/relationships/slide" Target="/ppt/slides/slide4.xml" Id="rId5" /><Relationship Type="http://schemas.openxmlformats.org/officeDocument/2006/relationships/slide" Target="/ppt/slides/slide14.xml" Id="rId15" /><Relationship Type="http://schemas.openxmlformats.org/officeDocument/2006/relationships/slide" Target="/ppt/slides/slide22.xml" Id="rId23" /><Relationship Type="http://schemas.openxmlformats.org/officeDocument/2006/relationships/slide" Target="/ppt/slides/slide27.xml" Id="rId28" /><Relationship Type="http://schemas.openxmlformats.org/officeDocument/2006/relationships/slide" Target="/ppt/slides/slide35.xml" Id="rId36" /><Relationship Type="http://schemas.openxmlformats.org/officeDocument/2006/relationships/slide" Target="/ppt/slides/slide9.xml" Id="rId10" /><Relationship Type="http://schemas.openxmlformats.org/officeDocument/2006/relationships/slide" Target="/ppt/slides/slide18.xml" Id="rId19" /><Relationship Type="http://schemas.openxmlformats.org/officeDocument/2006/relationships/slide" Target="/ppt/slides/slide30.xml" Id="rId31" /><Relationship Type="http://schemas.openxmlformats.org/officeDocument/2006/relationships/tableStyles" Target="/ppt/tableStyles.xml" Id="rId44" /><Relationship Type="http://schemas.openxmlformats.org/officeDocument/2006/relationships/slide" Target="/ppt/slides/slide3.xml" Id="rId4" /><Relationship Type="http://schemas.openxmlformats.org/officeDocument/2006/relationships/slide" Target="/ppt/slides/slide8.xml" Id="rId9" /><Relationship Type="http://schemas.openxmlformats.org/officeDocument/2006/relationships/slide" Target="/ppt/slides/slide13.xml" Id="rId14" /><Relationship Type="http://schemas.openxmlformats.org/officeDocument/2006/relationships/slide" Target="/ppt/slides/slide21.xml" Id="rId22" /><Relationship Type="http://schemas.openxmlformats.org/officeDocument/2006/relationships/slide" Target="/ppt/slides/slide26.xml" Id="rId27" /><Relationship Type="http://schemas.openxmlformats.org/officeDocument/2006/relationships/slide" Target="/ppt/slides/slide29.xml" Id="rId30" /><Relationship Type="http://schemas.openxmlformats.org/officeDocument/2006/relationships/slide" Target="/ppt/slides/slide34.xml" Id="rId35" /><Relationship Type="http://schemas.openxmlformats.org/officeDocument/2006/relationships/theme" Target="/ppt/theme/theme1.xml" Id="rId43" /><Relationship Type="http://schemas.openxmlformats.org/officeDocument/2006/relationships/slide" Target="/ppt/slides/slide7.xml" Id="rId8" /><Relationship Type="http://schemas.openxmlformats.org/officeDocument/2006/relationships/slide" Target="/ppt/slides/slide2.xml" Id="rId3" /><Relationship Type="http://schemas.openxmlformats.org/officeDocument/2006/relationships/slide" Target="/ppt/slides/slide11.xml" Id="rId12" /><Relationship Type="http://schemas.openxmlformats.org/officeDocument/2006/relationships/slide" Target="/ppt/slides/slide16.xml" Id="rId17" /><Relationship Type="http://schemas.openxmlformats.org/officeDocument/2006/relationships/slide" Target="/ppt/slides/slide24.xml" Id="rId25" /><Relationship Type="http://schemas.openxmlformats.org/officeDocument/2006/relationships/slide" Target="/ppt/slides/slide32.xml" Id="rId33" /><Relationship Type="http://schemas.openxmlformats.org/officeDocument/2006/relationships/slide" Target="/ppt/slides/slide37.xml" Id="rId38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801F8-7340-1402-FE74-329EE3BD05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FBD1F5-262F-9553-C4CE-9B88BC65DC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E7922-F3B2-6144-4754-029A01AF9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4A463-294B-42DB-A10C-B75105CBC9DD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75D98-A983-B45A-523F-0D0686340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3DCBF-5D9A-20E2-FF94-74B24D3C6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1ED9F-FF7E-48A1-9839-FDD293679C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057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A742F8-A881-5FF1-1999-B43DDB311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4A463-294B-42DB-A10C-B75105CBC9DD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029F20-AF55-1056-B950-C600A2B81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ACFCE5-8344-3627-3922-EADBB2D61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1ED9F-FF7E-48A1-9839-FDD293679C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8270727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7" /><Relationship Type="http://schemas.openxmlformats.org/officeDocument/2006/relationships/theme" Target="/ppt/theme/theme1.xml" Id="rId12" /><Relationship Type="http://schemas.openxmlformats.org/officeDocument/2006/relationships/slideLayout" Target="/ppt/slideLayouts/slideLayout1.xml" Id="rId1" /></Relationships>
</file>

<file path=ppt/slideMasters/slideMaster1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EEB258-57E0-71D1-389B-98D2B72C7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886475-98E0-0BC8-B451-B2CD37038F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4029D-50AA-8D51-E194-B5C200855E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F4A463-294B-42DB-A10C-B75105CBC9DD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0BA88-27FB-F80B-4C1E-1D7B404B94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AD736-077E-C574-5A88-F7A28ACFC0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1ED9F-FF7E-48A1-9839-FDD293679C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0382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1.png" Id="rId2" /><Relationship Type="http://schemas.openxmlformats.org/officeDocument/2006/relationships/slideLayout" Target="/ppt/slideLayouts/slideLayout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2.png" Id="rId3" /><Relationship Type="http://schemas.openxmlformats.org/officeDocument/2006/relationships/image" Target="/ppt/media/image1.png" Id="rId2" /><Relationship Type="http://schemas.openxmlformats.org/officeDocument/2006/relationships/slideLayout" Target="/ppt/slideLayouts/slideLayout1.xml" Id="rId1" /><Relationship Type="http://schemas.openxmlformats.org/officeDocument/2006/relationships/image" Target="/ppt/media/image3.png" Id="rId5" /><Relationship Type="http://schemas.microsoft.com/office/2007/relationships/hdphoto" Target="/ppt/media/hdphoto1.wdp" Id="rId4" /><Relationship Type="http://schemas.openxmlformats.org/officeDocument/2006/relationships/hyperlink" Target="https://drive.google.com/file/d/1IAVanXlwS34PDMmqaZoby2vpN0M3rp6y/view?usp=sharing" TargetMode="External" Id="rI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2.png" Id="rId3" /><Relationship Type="http://schemas.openxmlformats.org/officeDocument/2006/relationships/image" Target="/ppt/media/image1.png" Id="rId2" /><Relationship Type="http://schemas.openxmlformats.org/officeDocument/2006/relationships/slideLayout" Target="/ppt/slideLayouts/slideLayout1.xml" Id="rId1" /><Relationship Type="http://schemas.microsoft.com/office/2007/relationships/hdphoto" Target="/ppt/media/hdphoto1.wdp" Id="rI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2.png" Id="rId3" /><Relationship Type="http://schemas.openxmlformats.org/officeDocument/2006/relationships/image" Target="/ppt/media/image1.png" Id="rId2" /><Relationship Type="http://schemas.openxmlformats.org/officeDocument/2006/relationships/slideLayout" Target="/ppt/slideLayouts/slideLayout1.xml" Id="rId1" /><Relationship Type="http://schemas.microsoft.com/office/2007/relationships/hdphoto" Target="/ppt/media/hdphoto1.wdp" Id="rI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image" Target="/ppt/media/image2.png" Id="rId3" /><Relationship Type="http://schemas.openxmlformats.org/officeDocument/2006/relationships/image" Target="/ppt/media/image1.png" Id="rId2" /><Relationship Type="http://schemas.openxmlformats.org/officeDocument/2006/relationships/slideLayout" Target="/ppt/slideLayouts/slideLayout1.xml" Id="rId1" /><Relationship Type="http://schemas.microsoft.com/office/2007/relationships/hdphoto" Target="/ppt/media/hdphoto1.wdp" Id="rI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2.png" Id="rId3" /><Relationship Type="http://schemas.openxmlformats.org/officeDocument/2006/relationships/image" Target="/ppt/media/image1.png" Id="rId2" /><Relationship Type="http://schemas.openxmlformats.org/officeDocument/2006/relationships/slideLayout" Target="/ppt/slideLayouts/slideLayout1.xml" Id="rId1" /><Relationship Type="http://schemas.microsoft.com/office/2007/relationships/hdphoto" Target="/ppt/media/hdphoto1.wdp" Id="rI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image" Target="/ppt/media/image2.png" Id="rId3" /><Relationship Type="http://schemas.openxmlformats.org/officeDocument/2006/relationships/image" Target="/ppt/media/image1.png" Id="rId2" /><Relationship Type="http://schemas.openxmlformats.org/officeDocument/2006/relationships/slideLayout" Target="/ppt/slideLayouts/slideLayout1.xml" Id="rId1" /><Relationship Type="http://schemas.microsoft.com/office/2007/relationships/hdphoto" Target="/ppt/media/hdphoto1.wdp" Id="rI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image" Target="/ppt/media/image2.png" Id="rId3" /><Relationship Type="http://schemas.openxmlformats.org/officeDocument/2006/relationships/image" Target="/ppt/media/image1.png" Id="rId2" /><Relationship Type="http://schemas.openxmlformats.org/officeDocument/2006/relationships/slideLayout" Target="/ppt/slideLayouts/slideLayout1.xml" Id="rId1" /><Relationship Type="http://schemas.microsoft.com/office/2007/relationships/hdphoto" Target="/ppt/media/hdphoto1.wdp" Id="rI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image" Target="/ppt/media/image2.png" Id="rId3" /><Relationship Type="http://schemas.openxmlformats.org/officeDocument/2006/relationships/image" Target="/ppt/media/image1.png" Id="rId2" /><Relationship Type="http://schemas.openxmlformats.org/officeDocument/2006/relationships/slideLayout" Target="/ppt/slideLayouts/slideLayout1.xml" Id="rId1" /><Relationship Type="http://schemas.microsoft.com/office/2007/relationships/hdphoto" Target="/ppt/media/hdphoto1.wdp" Id="rI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image" Target="/ppt/media/image2.png" Id="rId3" /><Relationship Type="http://schemas.openxmlformats.org/officeDocument/2006/relationships/image" Target="/ppt/media/image1.png" Id="rId2" /><Relationship Type="http://schemas.openxmlformats.org/officeDocument/2006/relationships/slideLayout" Target="/ppt/slideLayouts/slideLayout1.xml" Id="rId1" /><Relationship Type="http://schemas.microsoft.com/office/2007/relationships/hdphoto" Target="/ppt/media/hdphoto1.wdp" Id="rId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image" Target="/ppt/media/image4.jpg" Id="rId2" /><Relationship Type="http://schemas.openxmlformats.org/officeDocument/2006/relationships/slideLayout" Target="/ppt/slideLayouts/slideLayout7.xml" Id="rId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image" Target="/ppt/media/image4.jpg" Id="rId2" /><Relationship Type="http://schemas.openxmlformats.org/officeDocument/2006/relationships/slideLayout" Target="/ppt/slideLayouts/slideLayout7.xml" Id="rId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image" Target="/ppt/media/image4.jpg" Id="rId2" /><Relationship Type="http://schemas.openxmlformats.org/officeDocument/2006/relationships/slideLayout" Target="/ppt/slideLayouts/slideLayout7.xml" Id="rId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image" Target="/ppt/media/image6.png" Id="rId3" /><Relationship Type="http://schemas.openxmlformats.org/officeDocument/2006/relationships/image" Target="/ppt/media/image5.jpg" Id="rId2" /><Relationship Type="http://schemas.openxmlformats.org/officeDocument/2006/relationships/slideLayout" Target="/ppt/slideLayouts/slideLayout7.xml" Id="rId1" /><Relationship Type="http://schemas.openxmlformats.org/officeDocument/2006/relationships/image" Target="/ppt/media/image7.png" Id="rId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image" Target="/ppt/media/image6.png" Id="rId3" /><Relationship Type="http://schemas.openxmlformats.org/officeDocument/2006/relationships/image" Target="/ppt/media/image5.jpg" Id="rId2" /><Relationship Type="http://schemas.openxmlformats.org/officeDocument/2006/relationships/slideLayout" Target="/ppt/slideLayouts/slideLayout7.xml" Id="rId1" /><Relationship Type="http://schemas.openxmlformats.org/officeDocument/2006/relationships/image" Target="/ppt/media/image7.png" Id="rId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image" Target="/ppt/media/image6.png" Id="rId3" /><Relationship Type="http://schemas.openxmlformats.org/officeDocument/2006/relationships/image" Target="/ppt/media/image5.jpg" Id="rId2" /><Relationship Type="http://schemas.openxmlformats.org/officeDocument/2006/relationships/slideLayout" Target="/ppt/slideLayouts/slideLayout7.xml" Id="rId1" /><Relationship Type="http://schemas.openxmlformats.org/officeDocument/2006/relationships/image" Target="/ppt/media/image7.png" Id="rId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image" Target="/ppt/media/image6.png" Id="rId3" /><Relationship Type="http://schemas.openxmlformats.org/officeDocument/2006/relationships/image" Target="/ppt/media/image5.jpg" Id="rId2" /><Relationship Type="http://schemas.openxmlformats.org/officeDocument/2006/relationships/slideLayout" Target="/ppt/slideLayouts/slideLayout7.xml" Id="rId1" /><Relationship Type="http://schemas.openxmlformats.org/officeDocument/2006/relationships/image" Target="/ppt/media/image7.png" Id="rId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image" Target="/ppt/media/image6.png" Id="rId3" /><Relationship Type="http://schemas.openxmlformats.org/officeDocument/2006/relationships/image" Target="/ppt/media/image5.jpg" Id="rId2" /><Relationship Type="http://schemas.openxmlformats.org/officeDocument/2006/relationships/slideLayout" Target="/ppt/slideLayouts/slideLayout7.xml" Id="rId1" /><Relationship Type="http://schemas.openxmlformats.org/officeDocument/2006/relationships/image" Target="/ppt/media/image7.png" Id="rId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image" Target="/ppt/media/image9.png" Id="rId3" /><Relationship Type="http://schemas.openxmlformats.org/officeDocument/2006/relationships/image" Target="/ppt/media/image8.png" Id="rId2" /><Relationship Type="http://schemas.openxmlformats.org/officeDocument/2006/relationships/slideLayout" Target="/ppt/slideLayouts/slideLayout7.xml" Id="rId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image" Target="/ppt/media/image9.png" Id="rId3" /><Relationship Type="http://schemas.openxmlformats.org/officeDocument/2006/relationships/image" Target="/ppt/media/image10.jpeg" Id="rId2" /><Relationship Type="http://schemas.openxmlformats.org/officeDocument/2006/relationships/slideLayout" Target="/ppt/slideLayouts/slideLayout7.xml" Id="rId1" /><Relationship Type="http://schemas.openxmlformats.org/officeDocument/2006/relationships/image" Target="/ppt/media/image11.png" Id="rId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image" Target="/ppt/media/image11.png" Id="rId3" /><Relationship Type="http://schemas.openxmlformats.org/officeDocument/2006/relationships/image" Target="/ppt/media/image12.jpeg" Id="rId2" /><Relationship Type="http://schemas.openxmlformats.org/officeDocument/2006/relationships/slideLayout" Target="/ppt/slideLayouts/slideLayout7.xml" Id="rId1" /><Relationship Type="http://schemas.openxmlformats.org/officeDocument/2006/relationships/image" Target="/ppt/media/image13.png" Id="rId5" /><Relationship Type="http://schemas.openxmlformats.org/officeDocument/2006/relationships/image" Target="/ppt/media/image9.png" Id="rId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image" Target="/ppt/media/image13.png" Id="rId3" /><Relationship Type="http://schemas.openxmlformats.org/officeDocument/2006/relationships/image" Target="/ppt/media/image14.png" Id="rId2" /><Relationship Type="http://schemas.openxmlformats.org/officeDocument/2006/relationships/slideLayout" Target="/ppt/slideLayouts/slideLayout7.xml" Id="rId1" /><Relationship Type="http://schemas.openxmlformats.org/officeDocument/2006/relationships/image" Target="/ppt/media/image11.png" Id="rId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image" Target="/ppt/media/image16.png" Id="rId3" /><Relationship Type="http://schemas.openxmlformats.org/officeDocument/2006/relationships/image" Target="/ppt/media/image15.jpeg" Id="rId2" /><Relationship Type="http://schemas.openxmlformats.org/officeDocument/2006/relationships/slideLayout" Target="/ppt/slideLayouts/slideLayout7.xml" Id="rId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image" Target="/ppt/media/image16.png" Id="rId3" /><Relationship Type="http://schemas.openxmlformats.org/officeDocument/2006/relationships/image" Target="/ppt/media/image17.png" Id="rId2" /><Relationship Type="http://schemas.openxmlformats.org/officeDocument/2006/relationships/slideLayout" Target="/ppt/slideLayouts/slideLayout7.xml" Id="rId1" /><Relationship Type="http://schemas.openxmlformats.org/officeDocument/2006/relationships/image" Target="/ppt/media/image18.png" Id="rId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image" Target="/ppt/media/image18.png" Id="rId3" /><Relationship Type="http://schemas.openxmlformats.org/officeDocument/2006/relationships/image" Target="/ppt/media/image19.jpeg" Id="rId2" /><Relationship Type="http://schemas.openxmlformats.org/officeDocument/2006/relationships/slideLayout" Target="/ppt/slideLayouts/slideLayout7.xml" Id="rId1" /><Relationship Type="http://schemas.openxmlformats.org/officeDocument/2006/relationships/image" Target="/ppt/media/image20.png" Id="rId5" /><Relationship Type="http://schemas.openxmlformats.org/officeDocument/2006/relationships/image" Target="/ppt/media/image16.png" Id="rId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image" Target="/ppt/media/image20.png" Id="rId3" /><Relationship Type="http://schemas.openxmlformats.org/officeDocument/2006/relationships/image" Target="/ppt/media/image21.png" Id="rId2" /><Relationship Type="http://schemas.openxmlformats.org/officeDocument/2006/relationships/slideLayout" Target="/ppt/slideLayouts/slideLayout7.xml" Id="rId1" /><Relationship Type="http://schemas.openxmlformats.org/officeDocument/2006/relationships/image" Target="/ppt/media/image18.png" Id="rId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image" Target="/ppt/media/image27.png" Id="rId8" /><Relationship Type="http://schemas.openxmlformats.org/officeDocument/2006/relationships/image" Target="/ppt/media/image32.png" Id="rId13" /><Relationship Type="http://schemas.openxmlformats.org/officeDocument/2006/relationships/image" Target="/ppt/media/image23.png" Id="rId3" /><Relationship Type="http://schemas.microsoft.com/office/2007/relationships/hdphoto" Target="/ppt/media/hdphoto2.wdp" Id="rId7" /><Relationship Type="http://schemas.openxmlformats.org/officeDocument/2006/relationships/image" Target="/ppt/media/image31.png" Id="rId12" /><Relationship Type="http://schemas.openxmlformats.org/officeDocument/2006/relationships/image" Target="/ppt/media/image22.jpeg" Id="rId2" /><Relationship Type="http://schemas.openxmlformats.org/officeDocument/2006/relationships/slideLayout" Target="/ppt/slideLayouts/slideLayout7.xml" Id="rId1" /><Relationship Type="http://schemas.openxmlformats.org/officeDocument/2006/relationships/image" Target="/ppt/media/image26.png" Id="rId6" /><Relationship Type="http://schemas.openxmlformats.org/officeDocument/2006/relationships/image" Target="/ppt/media/image30.png" Id="rId11" /><Relationship Type="http://schemas.openxmlformats.org/officeDocument/2006/relationships/image" Target="/ppt/media/image25.png" Id="rId5" /><Relationship Type="http://schemas.openxmlformats.org/officeDocument/2006/relationships/image" Target="/ppt/media/image29.png" Id="rId10" /><Relationship Type="http://schemas.openxmlformats.org/officeDocument/2006/relationships/image" Target="/ppt/media/image24.png" Id="rId4" /><Relationship Type="http://schemas.openxmlformats.org/officeDocument/2006/relationships/image" Target="/ppt/media/image28.png" Id="rId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image" Target="/ppt/media/image30.png" Id="rId8" /><Relationship Type="http://schemas.openxmlformats.org/officeDocument/2006/relationships/image" Target="/ppt/media/image35.png" Id="rId13" /><Relationship Type="http://schemas.openxmlformats.org/officeDocument/2006/relationships/image" Target="/ppt/media/image23.png" Id="rId3" /><Relationship Type="http://schemas.microsoft.com/office/2007/relationships/hdphoto" Target="/ppt/media/hdphoto2.wdp" Id="rId7" /><Relationship Type="http://schemas.openxmlformats.org/officeDocument/2006/relationships/image" Target="/ppt/media/image34.png" Id="rId12" /><Relationship Type="http://schemas.openxmlformats.org/officeDocument/2006/relationships/image" Target="/ppt/media/image22.jpeg" Id="rId2" /><Relationship Type="http://schemas.openxmlformats.org/officeDocument/2006/relationships/image" Target="/ppt/media/image27.png" Id="rId16" /><Relationship Type="http://schemas.openxmlformats.org/officeDocument/2006/relationships/slideLayout" Target="/ppt/slideLayouts/slideLayout7.xml" Id="rId1" /><Relationship Type="http://schemas.openxmlformats.org/officeDocument/2006/relationships/image" Target="/ppt/media/image26.png" Id="rId6" /><Relationship Type="http://schemas.openxmlformats.org/officeDocument/2006/relationships/image" Target="/ppt/media/image33.png" Id="rId11" /><Relationship Type="http://schemas.openxmlformats.org/officeDocument/2006/relationships/image" Target="/ppt/media/image25.png" Id="rId5" /><Relationship Type="http://schemas.openxmlformats.org/officeDocument/2006/relationships/image" Target="/ppt/media/image29.png" Id="rId15" /><Relationship Type="http://schemas.openxmlformats.org/officeDocument/2006/relationships/image" Target="/ppt/media/image32.png" Id="rId10" /><Relationship Type="http://schemas.openxmlformats.org/officeDocument/2006/relationships/image" Target="/ppt/media/image24.png" Id="rId4" /><Relationship Type="http://schemas.openxmlformats.org/officeDocument/2006/relationships/image" Target="/ppt/media/image31.png" Id="rId9" /><Relationship Type="http://schemas.openxmlformats.org/officeDocument/2006/relationships/image" Target="/ppt/media/image28.png" Id="rId1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image" Target="/ppt/media/image35.png" Id="rId8" /><Relationship Type="http://schemas.openxmlformats.org/officeDocument/2006/relationships/image" Target="/ppt/media/image29.png" Id="rId13" /><Relationship Type="http://schemas.openxmlformats.org/officeDocument/2006/relationships/image" Target="/ppt/media/image23.png" Id="rId3" /><Relationship Type="http://schemas.openxmlformats.org/officeDocument/2006/relationships/image" Target="/ppt/media/image34.png" Id="rId7" /><Relationship Type="http://schemas.openxmlformats.org/officeDocument/2006/relationships/image" Target="/ppt/media/image28.png" Id="rId12" /><Relationship Type="http://schemas.openxmlformats.org/officeDocument/2006/relationships/image" Target="/ppt/media/image22.jpeg" Id="rId2" /><Relationship Type="http://schemas.openxmlformats.org/officeDocument/2006/relationships/slideLayout" Target="/ppt/slideLayouts/slideLayout7.xml" Id="rId1" /><Relationship Type="http://schemas.openxmlformats.org/officeDocument/2006/relationships/image" Target="/ppt/media/image33.png" Id="rId6" /><Relationship Type="http://schemas.openxmlformats.org/officeDocument/2006/relationships/image" Target="/ppt/media/image32.png" Id="rId11" /><Relationship Type="http://schemas.openxmlformats.org/officeDocument/2006/relationships/image" Target="/ppt/media/image25.png" Id="rId5" /><Relationship Type="http://schemas.microsoft.com/office/2007/relationships/hdphoto" Target="/ppt/media/hdphoto2.wdp" Id="rId15" /><Relationship Type="http://schemas.openxmlformats.org/officeDocument/2006/relationships/image" Target="/ppt/media/image31.png" Id="rId10" /><Relationship Type="http://schemas.openxmlformats.org/officeDocument/2006/relationships/image" Target="/ppt/media/image24.png" Id="rId4" /><Relationship Type="http://schemas.openxmlformats.org/officeDocument/2006/relationships/image" Target="/ppt/media/image30.png" Id="rId9" /><Relationship Type="http://schemas.openxmlformats.org/officeDocument/2006/relationships/image" Target="/ppt/media/image26.png" Id="rId1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image" Target="/ppt/media/image37.png" Id="rId8" /><Relationship Type="http://schemas.openxmlformats.org/officeDocument/2006/relationships/image" Target="/ppt/media/image23.png" Id="rId3" /><Relationship Type="http://schemas.openxmlformats.org/officeDocument/2006/relationships/image" Target="/ppt/media/image36.png" Id="rId7" /><Relationship Type="http://schemas.openxmlformats.org/officeDocument/2006/relationships/image" Target="/ppt/media/image22.jpeg" Id="rId2" /><Relationship Type="http://schemas.openxmlformats.org/officeDocument/2006/relationships/slideLayout" Target="/ppt/slideLayouts/slideLayout7.xml" Id="rId1" /><Relationship Type="http://schemas.openxmlformats.org/officeDocument/2006/relationships/image" Target="/ppt/media/image28.png" Id="rId6" /><Relationship Type="http://schemas.openxmlformats.org/officeDocument/2006/relationships/image" Target="/ppt/media/image25.png" Id="rId5" /><Relationship Type="http://schemas.openxmlformats.org/officeDocument/2006/relationships/image" Target="/ppt/media/image24.png" Id="rId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image" Target="/ppt/media/image37.png" Id="rId8" /><Relationship Type="http://schemas.openxmlformats.org/officeDocument/2006/relationships/image" Target="/ppt/media/image23.png" Id="rId3" /><Relationship Type="http://schemas.openxmlformats.org/officeDocument/2006/relationships/image" Target="/ppt/media/image36.png" Id="rId7" /><Relationship Type="http://schemas.openxmlformats.org/officeDocument/2006/relationships/image" Target="/ppt/media/image22.jpeg" Id="rId2" /><Relationship Type="http://schemas.openxmlformats.org/officeDocument/2006/relationships/slideLayout" Target="/ppt/slideLayouts/slideLayout7.xml" Id="rId1" /><Relationship Type="http://schemas.openxmlformats.org/officeDocument/2006/relationships/image" Target="/ppt/media/image28.png" Id="rId6" /><Relationship Type="http://schemas.openxmlformats.org/officeDocument/2006/relationships/image" Target="/ppt/media/image25.png" Id="rId5" /><Relationship Type="http://schemas.openxmlformats.org/officeDocument/2006/relationships/image" Target="/ppt/media/image24.png" Id="rId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image" Target="/ppt/media/image29.png" Id="rId8" /><Relationship Type="http://schemas.openxmlformats.org/officeDocument/2006/relationships/image" Target="/ppt/media/image23.png" Id="rId3" /><Relationship Type="http://schemas.openxmlformats.org/officeDocument/2006/relationships/image" Target="/ppt/media/image36.png" Id="rId7" /><Relationship Type="http://schemas.openxmlformats.org/officeDocument/2006/relationships/image" Target="/ppt/media/image22.jpeg" Id="rId2" /><Relationship Type="http://schemas.openxmlformats.org/officeDocument/2006/relationships/slideLayout" Target="/ppt/slideLayouts/slideLayout7.xml" Id="rId1" /><Relationship Type="http://schemas.openxmlformats.org/officeDocument/2006/relationships/image" Target="/ppt/media/image38.png" Id="rId6" /><Relationship Type="http://schemas.openxmlformats.org/officeDocument/2006/relationships/image" Target="/ppt/media/image25.png" Id="rId5" /><Relationship Type="http://schemas.openxmlformats.org/officeDocument/2006/relationships/image" Target="/ppt/media/image24.png" Id="rId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image" Target="/ppt/media/image24.png" Id="rId3" /><Relationship Type="http://schemas.openxmlformats.org/officeDocument/2006/relationships/image" Target="/ppt/media/image29.png" Id="rId7" /><Relationship Type="http://schemas.openxmlformats.org/officeDocument/2006/relationships/image" Target="/ppt/media/image23.png" Id="rId2" /><Relationship Type="http://schemas.openxmlformats.org/officeDocument/2006/relationships/slideLayout" Target="/ppt/slideLayouts/slideLayout7.xml" Id="rId1" /><Relationship Type="http://schemas.openxmlformats.org/officeDocument/2006/relationships/image" Target="/ppt/media/image36.png" Id="rId6" /><Relationship Type="http://schemas.openxmlformats.org/officeDocument/2006/relationships/image" Target="/ppt/media/image38.png" Id="rId5" /><Relationship Type="http://schemas.openxmlformats.org/officeDocument/2006/relationships/image" Target="/ppt/media/image25.png" Id="rId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image" Target="/ppt/media/image24.png" Id="rId3" /><Relationship Type="http://schemas.openxmlformats.org/officeDocument/2006/relationships/image" Target="/ppt/media/image29.png" Id="rId7" /><Relationship Type="http://schemas.openxmlformats.org/officeDocument/2006/relationships/image" Target="/ppt/media/image23.png" Id="rId2" /><Relationship Type="http://schemas.openxmlformats.org/officeDocument/2006/relationships/slideLayout" Target="/ppt/slideLayouts/slideLayout7.xml" Id="rId1" /><Relationship Type="http://schemas.openxmlformats.org/officeDocument/2006/relationships/image" Target="/ppt/media/image36.png" Id="rId6" /><Relationship Type="http://schemas.openxmlformats.org/officeDocument/2006/relationships/image" Target="/ppt/media/image39.png" Id="rId5" /><Relationship Type="http://schemas.openxmlformats.org/officeDocument/2006/relationships/image" Target="/ppt/media/image25.png" Id="rId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image" Target="/ppt/media/image41.jpeg" Id="rId8" /><Relationship Type="http://schemas.openxmlformats.org/officeDocument/2006/relationships/image" Target="/ppt/media/image46.jpeg" Id="rId13" /><Relationship Type="http://schemas.openxmlformats.org/officeDocument/2006/relationships/image" Target="/ppt/media/image24.png" Id="rId3" /><Relationship Type="http://schemas.openxmlformats.org/officeDocument/2006/relationships/image" Target="/ppt/media/image40.png" Id="rId7" /><Relationship Type="http://schemas.openxmlformats.org/officeDocument/2006/relationships/image" Target="/ppt/media/image45.jpeg" Id="rId12" /><Relationship Type="http://schemas.openxmlformats.org/officeDocument/2006/relationships/image" Target="/ppt/media/image23.png" Id="rId2" /><Relationship Type="http://schemas.openxmlformats.org/officeDocument/2006/relationships/slideLayout" Target="/ppt/slideLayouts/slideLayout7.xml" Id="rId1" /><Relationship Type="http://schemas.openxmlformats.org/officeDocument/2006/relationships/image" Target="/ppt/media/image29.png" Id="rId6" /><Relationship Type="http://schemas.openxmlformats.org/officeDocument/2006/relationships/image" Target="/ppt/media/image44.jpeg" Id="rId11" /><Relationship Type="http://schemas.openxmlformats.org/officeDocument/2006/relationships/image" Target="/ppt/media/image36.png" Id="rId5" /><Relationship Type="http://schemas.openxmlformats.org/officeDocument/2006/relationships/image" Target="/ppt/media/image48.jpeg" Id="rId15" /><Relationship Type="http://schemas.openxmlformats.org/officeDocument/2006/relationships/image" Target="/ppt/media/image43.jpeg" Id="rId10" /><Relationship Type="http://schemas.openxmlformats.org/officeDocument/2006/relationships/image" Target="/ppt/media/image25.png" Id="rId4" /><Relationship Type="http://schemas.openxmlformats.org/officeDocument/2006/relationships/image" Target="/ppt/media/image42.png" Id="rId9" /><Relationship Type="http://schemas.openxmlformats.org/officeDocument/2006/relationships/image" Target="/ppt/media/image47.jpeg" Id="rId1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BE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3069968-F9A4-9D1E-259B-29A1E32776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17776" y="-249628"/>
            <a:ext cx="16227552" cy="9127998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926F4BE-942C-AFA2-07FE-1D483C2781F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8397180" y="2945894"/>
                </a:moveTo>
                <a:cubicBezTo>
                  <a:pt x="8434884" y="2945894"/>
                  <a:pt x="8460184" y="2961521"/>
                  <a:pt x="8473082" y="2992775"/>
                </a:cubicBezTo>
                <a:cubicBezTo>
                  <a:pt x="8485981" y="3024029"/>
                  <a:pt x="8492430" y="3090754"/>
                  <a:pt x="8492430" y="3192949"/>
                </a:cubicBezTo>
                <a:lnTo>
                  <a:pt x="8492430" y="4024898"/>
                </a:lnTo>
                <a:cubicBezTo>
                  <a:pt x="8492430" y="4141976"/>
                  <a:pt x="8486726" y="4215894"/>
                  <a:pt x="8475315" y="4246652"/>
                </a:cubicBezTo>
                <a:cubicBezTo>
                  <a:pt x="8463905" y="4277410"/>
                  <a:pt x="8439348" y="4292789"/>
                  <a:pt x="8401645" y="4292789"/>
                </a:cubicBezTo>
                <a:cubicBezTo>
                  <a:pt x="8364935" y="4292789"/>
                  <a:pt x="8340378" y="4277906"/>
                  <a:pt x="8327975" y="4248140"/>
                </a:cubicBezTo>
                <a:cubicBezTo>
                  <a:pt x="8315573" y="4218375"/>
                  <a:pt x="8309372" y="4150410"/>
                  <a:pt x="8309372" y="4044246"/>
                </a:cubicBezTo>
                <a:lnTo>
                  <a:pt x="8309372" y="3192949"/>
                </a:lnTo>
                <a:cubicBezTo>
                  <a:pt x="8309372" y="3082816"/>
                  <a:pt x="8314829" y="3014107"/>
                  <a:pt x="8325743" y="2986822"/>
                </a:cubicBezTo>
                <a:cubicBezTo>
                  <a:pt x="8336657" y="2959537"/>
                  <a:pt x="8360469" y="2945894"/>
                  <a:pt x="8397180" y="2945894"/>
                </a:cubicBezTo>
                <a:close/>
                <a:moveTo>
                  <a:pt x="6666607" y="2609543"/>
                </a:moveTo>
                <a:cubicBezTo>
                  <a:pt x="6735068" y="2609543"/>
                  <a:pt x="6781701" y="2616736"/>
                  <a:pt x="6806506" y="2631123"/>
                </a:cubicBezTo>
                <a:cubicBezTo>
                  <a:pt x="6831310" y="2645509"/>
                  <a:pt x="6847185" y="2668082"/>
                  <a:pt x="6854131" y="2698840"/>
                </a:cubicBezTo>
                <a:cubicBezTo>
                  <a:pt x="6861076" y="2729597"/>
                  <a:pt x="6864549" y="2799547"/>
                  <a:pt x="6864549" y="2908687"/>
                </a:cubicBezTo>
                <a:lnTo>
                  <a:pt x="6864549" y="3844816"/>
                </a:lnTo>
                <a:cubicBezTo>
                  <a:pt x="6864549" y="4005550"/>
                  <a:pt x="6854131" y="4104025"/>
                  <a:pt x="6833295" y="4140240"/>
                </a:cubicBezTo>
                <a:cubicBezTo>
                  <a:pt x="6812459" y="4176455"/>
                  <a:pt x="6756896" y="4194562"/>
                  <a:pt x="6666607" y="4194562"/>
                </a:cubicBezTo>
                <a:close/>
                <a:moveTo>
                  <a:pt x="7708106" y="2197289"/>
                </a:moveTo>
                <a:lnTo>
                  <a:pt x="7708106" y="4606816"/>
                </a:lnTo>
                <a:lnTo>
                  <a:pt x="8270677" y="4606816"/>
                </a:lnTo>
                <a:lnTo>
                  <a:pt x="8309372" y="4457616"/>
                </a:lnTo>
                <a:cubicBezTo>
                  <a:pt x="8359973" y="4519256"/>
                  <a:pt x="8415784" y="4565485"/>
                  <a:pt x="8476804" y="4596305"/>
                </a:cubicBezTo>
                <a:cubicBezTo>
                  <a:pt x="8537823" y="4627125"/>
                  <a:pt x="8603556" y="4642535"/>
                  <a:pt x="8674000" y="4642535"/>
                </a:cubicBezTo>
                <a:cubicBezTo>
                  <a:pt x="8772227" y="4642535"/>
                  <a:pt x="8857059" y="4616490"/>
                  <a:pt x="8928496" y="4564400"/>
                </a:cubicBezTo>
                <a:cubicBezTo>
                  <a:pt x="8999934" y="4512310"/>
                  <a:pt x="9045326" y="4450795"/>
                  <a:pt x="9064674" y="4379853"/>
                </a:cubicBezTo>
                <a:cubicBezTo>
                  <a:pt x="9084022" y="4308912"/>
                  <a:pt x="9093696" y="4201011"/>
                  <a:pt x="9093696" y="4056152"/>
                </a:cubicBezTo>
                <a:lnTo>
                  <a:pt x="9093696" y="3166160"/>
                </a:lnTo>
                <a:cubicBezTo>
                  <a:pt x="9093696" y="3020309"/>
                  <a:pt x="9090471" y="2925058"/>
                  <a:pt x="9084022" y="2880410"/>
                </a:cubicBezTo>
                <a:cubicBezTo>
                  <a:pt x="9077573" y="2835762"/>
                  <a:pt x="9058473" y="2790121"/>
                  <a:pt x="9026723" y="2743488"/>
                </a:cubicBezTo>
                <a:cubicBezTo>
                  <a:pt x="8994974" y="2696855"/>
                  <a:pt x="8948836" y="2660641"/>
                  <a:pt x="8888313" y="2634844"/>
                </a:cubicBezTo>
                <a:cubicBezTo>
                  <a:pt x="8827790" y="2609047"/>
                  <a:pt x="8756352" y="2596148"/>
                  <a:pt x="8674000" y="2596148"/>
                </a:cubicBezTo>
                <a:cubicBezTo>
                  <a:pt x="8602563" y="2596148"/>
                  <a:pt x="8536334" y="2610318"/>
                  <a:pt x="8475315" y="2638657"/>
                </a:cubicBezTo>
                <a:cubicBezTo>
                  <a:pt x="8414296" y="2666997"/>
                  <a:pt x="8358981" y="2710002"/>
                  <a:pt x="8309372" y="2767673"/>
                </a:cubicBezTo>
                <a:lnTo>
                  <a:pt x="8309372" y="2197289"/>
                </a:lnTo>
                <a:close/>
                <a:moveTo>
                  <a:pt x="6040041" y="2197289"/>
                </a:moveTo>
                <a:lnTo>
                  <a:pt x="6040041" y="4606816"/>
                </a:lnTo>
                <a:lnTo>
                  <a:pt x="6830318" y="4606816"/>
                </a:lnTo>
                <a:cubicBezTo>
                  <a:pt x="6980138" y="4606816"/>
                  <a:pt x="7092256" y="4598630"/>
                  <a:pt x="7166670" y="4582259"/>
                </a:cubicBezTo>
                <a:cubicBezTo>
                  <a:pt x="7241084" y="4565888"/>
                  <a:pt x="7303592" y="4537115"/>
                  <a:pt x="7354193" y="4495939"/>
                </a:cubicBezTo>
                <a:cubicBezTo>
                  <a:pt x="7404795" y="4454763"/>
                  <a:pt x="7440266" y="4397712"/>
                  <a:pt x="7460605" y="4324787"/>
                </a:cubicBezTo>
                <a:cubicBezTo>
                  <a:pt x="7480945" y="4251861"/>
                  <a:pt x="7491115" y="4107250"/>
                  <a:pt x="7491115" y="3890953"/>
                </a:cubicBezTo>
                <a:lnTo>
                  <a:pt x="7491115" y="3047097"/>
                </a:lnTo>
                <a:cubicBezTo>
                  <a:pt x="7491115" y="2818894"/>
                  <a:pt x="7484170" y="2665850"/>
                  <a:pt x="7470279" y="2587963"/>
                </a:cubicBezTo>
                <a:cubicBezTo>
                  <a:pt x="7456388" y="2510076"/>
                  <a:pt x="7421662" y="2439382"/>
                  <a:pt x="7366100" y="2375883"/>
                </a:cubicBezTo>
                <a:cubicBezTo>
                  <a:pt x="7310537" y="2312383"/>
                  <a:pt x="7229426" y="2266742"/>
                  <a:pt x="7122766" y="2238961"/>
                </a:cubicBezTo>
                <a:cubicBezTo>
                  <a:pt x="7016105" y="2211180"/>
                  <a:pt x="6811467" y="2197289"/>
                  <a:pt x="6508849" y="2197289"/>
                </a:cubicBezTo>
                <a:close/>
                <a:moveTo>
                  <a:pt x="3858816" y="2197289"/>
                </a:moveTo>
                <a:lnTo>
                  <a:pt x="3858816" y="4606816"/>
                </a:lnTo>
                <a:lnTo>
                  <a:pt x="4406504" y="4606816"/>
                </a:lnTo>
                <a:lnTo>
                  <a:pt x="4407248" y="3017332"/>
                </a:lnTo>
                <a:lnTo>
                  <a:pt x="4637187" y="4606816"/>
                </a:lnTo>
                <a:lnTo>
                  <a:pt x="5025628" y="4606816"/>
                </a:lnTo>
                <a:lnTo>
                  <a:pt x="5243662" y="2980125"/>
                </a:lnTo>
                <a:lnTo>
                  <a:pt x="5244406" y="4606816"/>
                </a:lnTo>
                <a:lnTo>
                  <a:pt x="5792093" y="4606816"/>
                </a:lnTo>
                <a:lnTo>
                  <a:pt x="5792093" y="2197289"/>
                </a:lnTo>
                <a:lnTo>
                  <a:pt x="4976887" y="2197289"/>
                </a:lnTo>
                <a:lnTo>
                  <a:pt x="4832896" y="3322429"/>
                </a:lnTo>
                <a:lnTo>
                  <a:pt x="4743925" y="2709537"/>
                </a:lnTo>
                <a:cubicBezTo>
                  <a:pt x="4718391" y="2512897"/>
                  <a:pt x="4693602" y="2342148"/>
                  <a:pt x="4669558" y="2197289"/>
                </a:cubicBezTo>
                <a:close/>
                <a:moveTo>
                  <a:pt x="2982516" y="2197289"/>
                </a:moveTo>
                <a:lnTo>
                  <a:pt x="2982516" y="4606816"/>
                </a:lnTo>
                <a:lnTo>
                  <a:pt x="3609082" y="4606816"/>
                </a:lnTo>
                <a:lnTo>
                  <a:pt x="3609082" y="2197289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BE0B"/>
          </a:solidFill>
          <a:ln>
            <a:noFill/>
          </a:ln>
          <a:effectLst>
            <a:outerShdw blurRad="127000" dist="63500" dir="2700000" algn="tl" rotWithShape="0">
              <a:prstClr val="black">
                <a:alpha val="5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6302061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BE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285D46B-5267-07CA-0A87-692EEE1B79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17776" y="-249628"/>
            <a:ext cx="16227552" cy="912799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DA9A64D-3643-7EB5-A14C-26BBB9FBF40A}"/>
              </a:ext>
            </a:extLst>
          </p:cNvPr>
          <p:cNvSpPr txBox="1"/>
          <p:nvPr/>
        </p:nvSpPr>
        <p:spPr>
          <a:xfrm>
            <a:off x="2305050" y="8873957"/>
            <a:ext cx="75819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latin typeface="Montserrat Black" pitchFamily="50" charset="0"/>
                <a:cs typeface="Mongolian Baiti" panose="03000500000000000000" pitchFamily="66" charset="0"/>
              </a:rPr>
              <a:t>PROEJCT OBJECTIVE</a:t>
            </a:r>
            <a:endParaRPr lang="en-IN" sz="8000" dirty="0">
              <a:solidFill>
                <a:schemeClr val="bg1"/>
              </a:solidFill>
              <a:latin typeface="Montserrat Black" pitchFamily="50" charset="0"/>
              <a:cs typeface="Mongolian Baiti" panose="03000500000000000000" pitchFamily="66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926F4BE-942C-AFA2-07FE-1D483C2781F5}"/>
              </a:ext>
            </a:extLst>
          </p:cNvPr>
          <p:cNvSpPr/>
          <p:nvPr/>
        </p:nvSpPr>
        <p:spPr>
          <a:xfrm>
            <a:off x="-92354400" y="-43688000"/>
            <a:ext cx="222707200" cy="1243076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8397180" y="2945894"/>
                </a:moveTo>
                <a:cubicBezTo>
                  <a:pt x="8434884" y="2945894"/>
                  <a:pt x="8460184" y="2961521"/>
                  <a:pt x="8473082" y="2992775"/>
                </a:cubicBezTo>
                <a:cubicBezTo>
                  <a:pt x="8485981" y="3024029"/>
                  <a:pt x="8492430" y="3090754"/>
                  <a:pt x="8492430" y="3192949"/>
                </a:cubicBezTo>
                <a:lnTo>
                  <a:pt x="8492430" y="4024898"/>
                </a:lnTo>
                <a:cubicBezTo>
                  <a:pt x="8492430" y="4141976"/>
                  <a:pt x="8486726" y="4215894"/>
                  <a:pt x="8475315" y="4246652"/>
                </a:cubicBezTo>
                <a:cubicBezTo>
                  <a:pt x="8463905" y="4277410"/>
                  <a:pt x="8439348" y="4292789"/>
                  <a:pt x="8401645" y="4292789"/>
                </a:cubicBezTo>
                <a:cubicBezTo>
                  <a:pt x="8364935" y="4292789"/>
                  <a:pt x="8340378" y="4277906"/>
                  <a:pt x="8327975" y="4248140"/>
                </a:cubicBezTo>
                <a:cubicBezTo>
                  <a:pt x="8315573" y="4218375"/>
                  <a:pt x="8309372" y="4150410"/>
                  <a:pt x="8309372" y="4044246"/>
                </a:cubicBezTo>
                <a:lnTo>
                  <a:pt x="8309372" y="3192949"/>
                </a:lnTo>
                <a:cubicBezTo>
                  <a:pt x="8309372" y="3082816"/>
                  <a:pt x="8314829" y="3014107"/>
                  <a:pt x="8325743" y="2986822"/>
                </a:cubicBezTo>
                <a:cubicBezTo>
                  <a:pt x="8336657" y="2959537"/>
                  <a:pt x="8360469" y="2945894"/>
                  <a:pt x="8397180" y="2945894"/>
                </a:cubicBezTo>
                <a:close/>
                <a:moveTo>
                  <a:pt x="6666607" y="2609543"/>
                </a:moveTo>
                <a:cubicBezTo>
                  <a:pt x="6735068" y="2609543"/>
                  <a:pt x="6781701" y="2616736"/>
                  <a:pt x="6806506" y="2631123"/>
                </a:cubicBezTo>
                <a:cubicBezTo>
                  <a:pt x="6831310" y="2645509"/>
                  <a:pt x="6847185" y="2668082"/>
                  <a:pt x="6854131" y="2698840"/>
                </a:cubicBezTo>
                <a:cubicBezTo>
                  <a:pt x="6861076" y="2729597"/>
                  <a:pt x="6864549" y="2799547"/>
                  <a:pt x="6864549" y="2908687"/>
                </a:cubicBezTo>
                <a:lnTo>
                  <a:pt x="6864549" y="3844816"/>
                </a:lnTo>
                <a:cubicBezTo>
                  <a:pt x="6864549" y="4005550"/>
                  <a:pt x="6854131" y="4104025"/>
                  <a:pt x="6833295" y="4140240"/>
                </a:cubicBezTo>
                <a:cubicBezTo>
                  <a:pt x="6812459" y="4176455"/>
                  <a:pt x="6756896" y="4194562"/>
                  <a:pt x="6666607" y="4194562"/>
                </a:cubicBezTo>
                <a:close/>
                <a:moveTo>
                  <a:pt x="7708106" y="2197289"/>
                </a:moveTo>
                <a:lnTo>
                  <a:pt x="7708106" y="4606816"/>
                </a:lnTo>
                <a:lnTo>
                  <a:pt x="8270677" y="4606816"/>
                </a:lnTo>
                <a:lnTo>
                  <a:pt x="8309372" y="4457616"/>
                </a:lnTo>
                <a:cubicBezTo>
                  <a:pt x="8359973" y="4519256"/>
                  <a:pt x="8415784" y="4565485"/>
                  <a:pt x="8476804" y="4596305"/>
                </a:cubicBezTo>
                <a:cubicBezTo>
                  <a:pt x="8537823" y="4627125"/>
                  <a:pt x="8603556" y="4642535"/>
                  <a:pt x="8674000" y="4642535"/>
                </a:cubicBezTo>
                <a:cubicBezTo>
                  <a:pt x="8772227" y="4642535"/>
                  <a:pt x="8857059" y="4616490"/>
                  <a:pt x="8928496" y="4564400"/>
                </a:cubicBezTo>
                <a:cubicBezTo>
                  <a:pt x="8999934" y="4512310"/>
                  <a:pt x="9045326" y="4450795"/>
                  <a:pt x="9064674" y="4379853"/>
                </a:cubicBezTo>
                <a:cubicBezTo>
                  <a:pt x="9084022" y="4308912"/>
                  <a:pt x="9093696" y="4201011"/>
                  <a:pt x="9093696" y="4056152"/>
                </a:cubicBezTo>
                <a:lnTo>
                  <a:pt x="9093696" y="3166160"/>
                </a:lnTo>
                <a:cubicBezTo>
                  <a:pt x="9093696" y="3020309"/>
                  <a:pt x="9090471" y="2925058"/>
                  <a:pt x="9084022" y="2880410"/>
                </a:cubicBezTo>
                <a:cubicBezTo>
                  <a:pt x="9077573" y="2835762"/>
                  <a:pt x="9058473" y="2790121"/>
                  <a:pt x="9026723" y="2743488"/>
                </a:cubicBezTo>
                <a:cubicBezTo>
                  <a:pt x="8994974" y="2696855"/>
                  <a:pt x="8948836" y="2660641"/>
                  <a:pt x="8888313" y="2634844"/>
                </a:cubicBezTo>
                <a:cubicBezTo>
                  <a:pt x="8827790" y="2609047"/>
                  <a:pt x="8756352" y="2596148"/>
                  <a:pt x="8674000" y="2596148"/>
                </a:cubicBezTo>
                <a:cubicBezTo>
                  <a:pt x="8602563" y="2596148"/>
                  <a:pt x="8536334" y="2610318"/>
                  <a:pt x="8475315" y="2638657"/>
                </a:cubicBezTo>
                <a:cubicBezTo>
                  <a:pt x="8414296" y="2666997"/>
                  <a:pt x="8358981" y="2710002"/>
                  <a:pt x="8309372" y="2767673"/>
                </a:cubicBezTo>
                <a:lnTo>
                  <a:pt x="8309372" y="2197289"/>
                </a:lnTo>
                <a:close/>
                <a:moveTo>
                  <a:pt x="6040041" y="2197289"/>
                </a:moveTo>
                <a:lnTo>
                  <a:pt x="6040041" y="4606816"/>
                </a:lnTo>
                <a:lnTo>
                  <a:pt x="6830318" y="4606816"/>
                </a:lnTo>
                <a:cubicBezTo>
                  <a:pt x="6980138" y="4606816"/>
                  <a:pt x="7092256" y="4598630"/>
                  <a:pt x="7166670" y="4582259"/>
                </a:cubicBezTo>
                <a:cubicBezTo>
                  <a:pt x="7241084" y="4565888"/>
                  <a:pt x="7303592" y="4537115"/>
                  <a:pt x="7354193" y="4495939"/>
                </a:cubicBezTo>
                <a:cubicBezTo>
                  <a:pt x="7404795" y="4454763"/>
                  <a:pt x="7440266" y="4397712"/>
                  <a:pt x="7460605" y="4324787"/>
                </a:cubicBezTo>
                <a:cubicBezTo>
                  <a:pt x="7480945" y="4251861"/>
                  <a:pt x="7491115" y="4107250"/>
                  <a:pt x="7491115" y="3890953"/>
                </a:cubicBezTo>
                <a:lnTo>
                  <a:pt x="7491115" y="3047097"/>
                </a:lnTo>
                <a:cubicBezTo>
                  <a:pt x="7491115" y="2818894"/>
                  <a:pt x="7484170" y="2665850"/>
                  <a:pt x="7470279" y="2587963"/>
                </a:cubicBezTo>
                <a:cubicBezTo>
                  <a:pt x="7456388" y="2510076"/>
                  <a:pt x="7421662" y="2439382"/>
                  <a:pt x="7366100" y="2375883"/>
                </a:cubicBezTo>
                <a:cubicBezTo>
                  <a:pt x="7310537" y="2312383"/>
                  <a:pt x="7229426" y="2266742"/>
                  <a:pt x="7122766" y="2238961"/>
                </a:cubicBezTo>
                <a:cubicBezTo>
                  <a:pt x="7016105" y="2211180"/>
                  <a:pt x="6811467" y="2197289"/>
                  <a:pt x="6508849" y="2197289"/>
                </a:cubicBezTo>
                <a:close/>
                <a:moveTo>
                  <a:pt x="3858816" y="2197289"/>
                </a:moveTo>
                <a:lnTo>
                  <a:pt x="3858816" y="4606816"/>
                </a:lnTo>
                <a:lnTo>
                  <a:pt x="4406504" y="4606816"/>
                </a:lnTo>
                <a:lnTo>
                  <a:pt x="4407248" y="3017332"/>
                </a:lnTo>
                <a:lnTo>
                  <a:pt x="4637187" y="4606816"/>
                </a:lnTo>
                <a:lnTo>
                  <a:pt x="5025628" y="4606816"/>
                </a:lnTo>
                <a:lnTo>
                  <a:pt x="5243662" y="2980125"/>
                </a:lnTo>
                <a:lnTo>
                  <a:pt x="5244406" y="4606816"/>
                </a:lnTo>
                <a:lnTo>
                  <a:pt x="5792093" y="4606816"/>
                </a:lnTo>
                <a:lnTo>
                  <a:pt x="5792093" y="2197289"/>
                </a:lnTo>
                <a:lnTo>
                  <a:pt x="4976887" y="2197289"/>
                </a:lnTo>
                <a:lnTo>
                  <a:pt x="4832896" y="3322429"/>
                </a:lnTo>
                <a:lnTo>
                  <a:pt x="4743925" y="2709537"/>
                </a:lnTo>
                <a:cubicBezTo>
                  <a:pt x="4718391" y="2512897"/>
                  <a:pt x="4693602" y="2342148"/>
                  <a:pt x="4669558" y="2197289"/>
                </a:cubicBezTo>
                <a:close/>
                <a:moveTo>
                  <a:pt x="2982516" y="2197289"/>
                </a:moveTo>
                <a:lnTo>
                  <a:pt x="2982516" y="4606816"/>
                </a:lnTo>
                <a:lnTo>
                  <a:pt x="3609082" y="4606816"/>
                </a:lnTo>
                <a:lnTo>
                  <a:pt x="3609082" y="2197289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BE0B"/>
          </a:solidFill>
          <a:ln>
            <a:noFill/>
          </a:ln>
          <a:effectLst>
            <a:outerShdw blurRad="127000" dist="63500" dir="2700000" algn="tl" rotWithShape="0">
              <a:prstClr val="black">
                <a:alpha val="5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3F63DD-F002-52FE-5FAB-2CEF517DB6AB}"/>
              </a:ext>
            </a:extLst>
          </p:cNvPr>
          <p:cNvSpPr txBox="1"/>
          <p:nvPr/>
        </p:nvSpPr>
        <p:spPr>
          <a:xfrm>
            <a:off x="1612392" y="13256378"/>
            <a:ext cx="89672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Candara Light" panose="020E0502030303020204" pitchFamily="34" charset="0"/>
              </a:rPr>
              <a:t>The primary objective of this project is to analyze movie data sourced from IMDb to uncover patterns and insights related to movie ratings, genres, popularity, and audience preferences.</a:t>
            </a:r>
            <a:endParaRPr lang="en-IN" sz="2000" dirty="0">
              <a:solidFill>
                <a:schemeClr val="bg1"/>
              </a:solidFill>
              <a:latin typeface="Candara Light" panose="020E05020303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134540-847D-01C8-8F96-4B67684B9DE5}"/>
              </a:ext>
            </a:extLst>
          </p:cNvPr>
          <p:cNvSpPr txBox="1"/>
          <p:nvPr/>
        </p:nvSpPr>
        <p:spPr>
          <a:xfrm>
            <a:off x="2305050" y="528719"/>
            <a:ext cx="7581900" cy="378565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ln w="3175">
                  <a:noFill/>
                </a:ln>
                <a:gradFill flip="none" rotWithShape="1">
                  <a:gsLst>
                    <a:gs pos="0">
                      <a:schemeClr val="accent4">
                        <a:lumMod val="89000"/>
                      </a:schemeClr>
                    </a:gs>
                    <a:gs pos="23000">
                      <a:schemeClr val="accent4">
                        <a:lumMod val="89000"/>
                      </a:schemeClr>
                    </a:gs>
                    <a:gs pos="69000">
                      <a:schemeClr val="accent4">
                        <a:lumMod val="75000"/>
                      </a:schemeClr>
                    </a:gs>
                    <a:gs pos="97000">
                      <a:schemeClr val="accent4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Montserrat Black" pitchFamily="50" charset="0"/>
                <a:cs typeface="Mongolian Baiti" panose="03000500000000000000" pitchFamily="66" charset="0"/>
              </a:rPr>
              <a:t>IMDb</a:t>
            </a:r>
          </a:p>
          <a:p>
            <a:pPr algn="ctr"/>
            <a:r>
              <a:rPr lang="en-US" sz="8000" dirty="0">
                <a:ln w="3175">
                  <a:noFill/>
                </a:ln>
                <a:gradFill flip="none" rotWithShape="1">
                  <a:gsLst>
                    <a:gs pos="0">
                      <a:schemeClr val="accent4">
                        <a:lumMod val="89000"/>
                      </a:schemeClr>
                    </a:gs>
                    <a:gs pos="23000">
                      <a:schemeClr val="accent4">
                        <a:lumMod val="89000"/>
                      </a:schemeClr>
                    </a:gs>
                    <a:gs pos="69000">
                      <a:schemeClr val="accent4">
                        <a:lumMod val="75000"/>
                      </a:schemeClr>
                    </a:gs>
                    <a:gs pos="97000">
                      <a:schemeClr val="accent4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Montserrat Black" pitchFamily="50" charset="0"/>
                <a:cs typeface="Mongolian Baiti" panose="03000500000000000000" pitchFamily="66" charset="0"/>
              </a:rPr>
              <a:t>MOVIES</a:t>
            </a:r>
          </a:p>
          <a:p>
            <a:pPr algn="ctr"/>
            <a:r>
              <a:rPr lang="en-US" sz="8000" dirty="0">
                <a:ln w="3175">
                  <a:noFill/>
                </a:ln>
                <a:gradFill flip="none" rotWithShape="1">
                  <a:gsLst>
                    <a:gs pos="0">
                      <a:schemeClr val="accent4">
                        <a:lumMod val="89000"/>
                      </a:schemeClr>
                    </a:gs>
                    <a:gs pos="23000">
                      <a:schemeClr val="accent4">
                        <a:lumMod val="89000"/>
                      </a:schemeClr>
                    </a:gs>
                    <a:gs pos="69000">
                      <a:schemeClr val="accent4">
                        <a:lumMod val="75000"/>
                      </a:schemeClr>
                    </a:gs>
                    <a:gs pos="97000">
                      <a:schemeClr val="accent4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Montserrat Black" pitchFamily="50" charset="0"/>
                <a:cs typeface="Mongolian Baiti" panose="03000500000000000000" pitchFamily="66" charset="0"/>
              </a:rPr>
              <a:t>ANALYSIS</a:t>
            </a:r>
            <a:endParaRPr lang="en-IN" sz="8000" dirty="0">
              <a:ln w="3175">
                <a:noFill/>
              </a:ln>
              <a:gradFill flip="none" rotWithShape="1">
                <a:gsLst>
                  <a:gs pos="0">
                    <a:schemeClr val="accent4">
                      <a:lumMod val="89000"/>
                    </a:schemeClr>
                  </a:gs>
                  <a:gs pos="23000">
                    <a:schemeClr val="accent4">
                      <a:lumMod val="89000"/>
                    </a:schemeClr>
                  </a:gs>
                  <a:gs pos="69000">
                    <a:schemeClr val="accent4">
                      <a:lumMod val="75000"/>
                    </a:schemeClr>
                  </a:gs>
                  <a:gs pos="97000">
                    <a:schemeClr val="accent4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atin typeface="Montserrat Black" pitchFamily="50" charset="0"/>
              <a:cs typeface="Mongolian Baiti" panose="03000500000000000000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E2FC32-AD94-E517-7F77-92FB48135B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2361" l="10000" r="91406">
                        <a14:foregroundMark x1="13242" y1="60278" x2="23047" y2="57986"/>
                        <a14:foregroundMark x1="23047" y1="57986" x2="43047" y2="70556"/>
                        <a14:foregroundMark x1="43047" y1="70556" x2="66836" y2="64792"/>
                        <a14:foregroundMark x1="66836" y1="64792" x2="55664" y2="74931"/>
                        <a14:foregroundMark x1="55664" y1="74931" x2="75195" y2="63889"/>
                        <a14:foregroundMark x1="75195" y1="63889" x2="84219" y2="65972"/>
                        <a14:foregroundMark x1="84219" y1="65972" x2="87344" y2="69306"/>
                        <a14:foregroundMark x1="87344" y1="69306" x2="89766" y2="67431"/>
                        <a14:foregroundMark x1="86797" y1="72500" x2="58125" y2="82222"/>
                        <a14:foregroundMark x1="58125" y1="82222" x2="52773" y2="80208"/>
                        <a14:foregroundMark x1="52773" y1="80208" x2="31484" y2="82431"/>
                        <a14:foregroundMark x1="31484" y1="82431" x2="17930" y2="74167"/>
                        <a14:foregroundMark x1="17930" y1="74167" x2="12461" y2="65903"/>
                        <a14:foregroundMark x1="11328" y1="56250" x2="11563" y2="79653"/>
                        <a14:foregroundMark x1="11563" y1="79653" x2="45078" y2="87361"/>
                        <a14:foregroundMark x1="45078" y1="87361" x2="85586" y2="84028"/>
                        <a14:foregroundMark x1="85586" y1="84028" x2="87930" y2="78264"/>
                        <a14:foregroundMark x1="87930" y1="78264" x2="89844" y2="61875"/>
                        <a14:foregroundMark x1="89844" y1="61875" x2="84922" y2="56319"/>
                        <a14:foregroundMark x1="84922" y1="56319" x2="77695" y2="55694"/>
                        <a14:foregroundMark x1="90078" y1="55625" x2="91445" y2="61597"/>
                        <a14:foregroundMark x1="91445" y1="61597" x2="86250" y2="83403"/>
                        <a14:foregroundMark x1="86250" y1="83403" x2="70977" y2="86875"/>
                        <a14:foregroundMark x1="70977" y1="86875" x2="19336" y2="85347"/>
                        <a14:foregroundMark x1="19336" y1="85347" x2="14414" y2="80903"/>
                        <a14:foregroundMark x1="8633" y1="52431" x2="8906" y2="87014"/>
                        <a14:foregroundMark x1="8906" y1="87014" x2="10313" y2="94028"/>
                        <a14:foregroundMark x1="10313" y1="94028" x2="19141" y2="97222"/>
                        <a14:foregroundMark x1="19141" y1="97222" x2="36484" y2="97222"/>
                        <a14:foregroundMark x1="36484" y1="97222" x2="58828" y2="97500"/>
                        <a14:foregroundMark x1="58828" y1="97500" x2="88477" y2="92361"/>
                        <a14:foregroundMark x1="88477" y1="92361" x2="90742" y2="84931"/>
                        <a14:foregroundMark x1="90742" y1="84931" x2="91367" y2="67778"/>
                        <a14:foregroundMark x1="91367" y1="67778" x2="90781" y2="60208"/>
                        <a14:foregroundMark x1="90781" y1="60208" x2="90313" y2="58542"/>
                        <a14:backgroundMark x1="47969" y1="45139" x2="52344" y2="37778"/>
                        <a14:backgroundMark x1="52344" y1="37778" x2="57773" y2="42153"/>
                        <a14:backgroundMark x1="57773" y1="42153" x2="64219" y2="43681"/>
                        <a14:backgroundMark x1="64219" y1="43681" x2="68867" y2="41042"/>
                        <a14:backgroundMark x1="68867" y1="41042" x2="82031" y2="47014"/>
                        <a14:backgroundMark x1="82031" y1="47014" x2="88477" y2="44236"/>
                        <a14:backgroundMark x1="88477" y1="44236" x2="91563" y2="39722"/>
                        <a14:backgroundMark x1="91563" y1="39722" x2="88789" y2="43125"/>
                        <a14:backgroundMark x1="88789" y1="43125" x2="85078" y2="40833"/>
                        <a14:backgroundMark x1="85078" y1="40833" x2="77813" y2="43819"/>
                        <a14:backgroundMark x1="77813" y1="43819" x2="73281" y2="40833"/>
                        <a14:backgroundMark x1="73281" y1="40833" x2="73906" y2="393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3739"/>
          <a:stretch/>
        </p:blipFill>
        <p:spPr>
          <a:xfrm>
            <a:off x="-2017776" y="3724368"/>
            <a:ext cx="16227552" cy="51354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FEDC0F4-582F-BA83-4402-85B09E83CC6A}"/>
              </a:ext>
            </a:extLst>
          </p:cNvPr>
          <p:cNvSpPr txBox="1"/>
          <p:nvPr/>
        </p:nvSpPr>
        <p:spPr>
          <a:xfrm>
            <a:off x="2536317" y="6213641"/>
            <a:ext cx="89672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solidFill>
                  <a:srgbClr val="CDCDCD"/>
                </a:solidFill>
                <a:latin typeface="Noto Sans Lisu" panose="020B0502040504020204" pitchFamily="34" charset="0"/>
                <a:ea typeface="Noto Sans Lisu" panose="020B0502040504020204" pitchFamily="34" charset="0"/>
              </a:rPr>
              <a:t>PREPARED BY SHREYASH PATEL</a:t>
            </a:r>
            <a:endParaRPr lang="en-IN" sz="2000" b="1" dirty="0">
              <a:solidFill>
                <a:srgbClr val="CDCDCD"/>
              </a:solidFill>
              <a:latin typeface="Noto Sans Lisu" panose="020B0502040504020204" pitchFamily="34" charset="0"/>
              <a:ea typeface="Noto Sans Lisu" panose="020B0502040504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BC1E00-7D11-966F-C55E-AD0C04DBA1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525" y="5970482"/>
            <a:ext cx="3881416" cy="6432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042F96-371C-E72D-04E5-D430F396DD08}"/>
              </a:ext>
            </a:extLst>
          </p:cNvPr>
          <p:cNvSpPr txBox="1"/>
          <p:nvPr/>
        </p:nvSpPr>
        <p:spPr>
          <a:xfrm>
            <a:off x="771525" y="5092718"/>
            <a:ext cx="90754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Montserrat" pitchFamily="2" charset="0"/>
              </a:rPr>
              <a:t>Drive Link:</a:t>
            </a:r>
          </a:p>
          <a:p>
            <a:r>
              <a:rPr lang="en-IN" dirty="0">
                <a:solidFill>
                  <a:srgbClr val="0070C0"/>
                </a:solidFill>
                <a:latin typeface="Candara" panose="020E0502030303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https://drive.google.com/file/d/1IAVanXlwS34PDMmqaZoby2vpN0M3rp6y/view?usp=sharing</a:t>
            </a:r>
            <a:endParaRPr lang="en-IN" dirty="0">
              <a:solidFill>
                <a:srgbClr val="0070C0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13707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BE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285D46B-5267-07CA-0A87-692EEE1B79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65829" y="-1553896"/>
            <a:ext cx="16923658" cy="951955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DA9A64D-3643-7EB5-A14C-26BBB9FBF40A}"/>
              </a:ext>
            </a:extLst>
          </p:cNvPr>
          <p:cNvSpPr txBox="1"/>
          <p:nvPr/>
        </p:nvSpPr>
        <p:spPr>
          <a:xfrm>
            <a:off x="2305050" y="468297"/>
            <a:ext cx="7581900" cy="255454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latin typeface="Montserrat Black" pitchFamily="50" charset="0"/>
                <a:cs typeface="Mongolian Baiti" panose="03000500000000000000" pitchFamily="66" charset="0"/>
              </a:rPr>
              <a:t>PROEJCT OBJECTIVE</a:t>
            </a:r>
            <a:endParaRPr lang="en-IN" sz="8000" dirty="0">
              <a:solidFill>
                <a:schemeClr val="bg1"/>
              </a:solidFill>
              <a:latin typeface="Montserrat Black" pitchFamily="50" charset="0"/>
              <a:cs typeface="Mongolian Baiti" panose="03000500000000000000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E2FC32-AD94-E517-7F77-92FB48135B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2361" l="10000" r="91406">
                        <a14:foregroundMark x1="13242" y1="60278" x2="23047" y2="57986"/>
                        <a14:foregroundMark x1="23047" y1="57986" x2="43047" y2="70556"/>
                        <a14:foregroundMark x1="43047" y1="70556" x2="66836" y2="64792"/>
                        <a14:foregroundMark x1="66836" y1="64792" x2="55664" y2="74931"/>
                        <a14:foregroundMark x1="55664" y1="74931" x2="75195" y2="63889"/>
                        <a14:foregroundMark x1="75195" y1="63889" x2="84219" y2="65972"/>
                        <a14:foregroundMark x1="84219" y1="65972" x2="87344" y2="69306"/>
                        <a14:foregroundMark x1="87344" y1="69306" x2="89766" y2="67431"/>
                        <a14:foregroundMark x1="86797" y1="72500" x2="58125" y2="82222"/>
                        <a14:foregroundMark x1="58125" y1="82222" x2="52773" y2="80208"/>
                        <a14:foregroundMark x1="52773" y1="80208" x2="31484" y2="82431"/>
                        <a14:foregroundMark x1="31484" y1="82431" x2="17930" y2="74167"/>
                        <a14:foregroundMark x1="17930" y1="74167" x2="12461" y2="65903"/>
                        <a14:foregroundMark x1="11328" y1="56250" x2="11563" y2="79653"/>
                        <a14:foregroundMark x1="11563" y1="79653" x2="45078" y2="87361"/>
                        <a14:foregroundMark x1="45078" y1="87361" x2="85586" y2="84028"/>
                        <a14:foregroundMark x1="85586" y1="84028" x2="87930" y2="78264"/>
                        <a14:foregroundMark x1="87930" y1="78264" x2="89844" y2="61875"/>
                        <a14:foregroundMark x1="89844" y1="61875" x2="84922" y2="56319"/>
                        <a14:foregroundMark x1="84922" y1="56319" x2="77695" y2="55694"/>
                        <a14:foregroundMark x1="90078" y1="55625" x2="91445" y2="61597"/>
                        <a14:foregroundMark x1="91445" y1="61597" x2="86250" y2="83403"/>
                        <a14:foregroundMark x1="86250" y1="83403" x2="70977" y2="86875"/>
                        <a14:foregroundMark x1="70977" y1="86875" x2="19336" y2="85347"/>
                        <a14:foregroundMark x1="19336" y1="85347" x2="14414" y2="80903"/>
                        <a14:foregroundMark x1="8633" y1="52431" x2="8906" y2="87014"/>
                        <a14:foregroundMark x1="8906" y1="87014" x2="10313" y2="94028"/>
                        <a14:foregroundMark x1="10313" y1="94028" x2="19141" y2="97222"/>
                        <a14:foregroundMark x1="19141" y1="97222" x2="36484" y2="97222"/>
                        <a14:foregroundMark x1="36484" y1="97222" x2="58828" y2="97500"/>
                        <a14:foregroundMark x1="58828" y1="97500" x2="88477" y2="92361"/>
                        <a14:foregroundMark x1="88477" y1="92361" x2="90742" y2="84931"/>
                        <a14:foregroundMark x1="90742" y1="84931" x2="91367" y2="67778"/>
                        <a14:foregroundMark x1="91367" y1="67778" x2="90781" y2="60208"/>
                        <a14:foregroundMark x1="90781" y1="60208" x2="90313" y2="58542"/>
                        <a14:backgroundMark x1="47969" y1="45139" x2="52344" y2="37778"/>
                        <a14:backgroundMark x1="52344" y1="37778" x2="57773" y2="42153"/>
                        <a14:backgroundMark x1="57773" y1="42153" x2="64219" y2="43681"/>
                        <a14:backgroundMark x1="64219" y1="43681" x2="68867" y2="41042"/>
                        <a14:backgroundMark x1="68867" y1="41042" x2="82031" y2="47014"/>
                        <a14:backgroundMark x1="82031" y1="47014" x2="88477" y2="44236"/>
                        <a14:backgroundMark x1="88477" y1="44236" x2="91563" y2="39722"/>
                        <a14:backgroundMark x1="91563" y1="39722" x2="88789" y2="43125"/>
                        <a14:backgroundMark x1="88789" y1="43125" x2="85078" y2="40833"/>
                        <a14:backgroundMark x1="85078" y1="40833" x2="77813" y2="43819"/>
                        <a14:backgroundMark x1="77813" y1="43819" x2="73281" y2="40833"/>
                        <a14:backgroundMark x1="73281" y1="40833" x2="73906" y2="393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3739"/>
          <a:stretch/>
        </p:blipFill>
        <p:spPr>
          <a:xfrm>
            <a:off x="-2017776" y="2625311"/>
            <a:ext cx="16227552" cy="51354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83F63DD-F002-52FE-5FAB-2CEF517DB6AB}"/>
              </a:ext>
            </a:extLst>
          </p:cNvPr>
          <p:cNvSpPr txBox="1"/>
          <p:nvPr/>
        </p:nvSpPr>
        <p:spPr>
          <a:xfrm>
            <a:off x="1612392" y="4958917"/>
            <a:ext cx="89672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Candara Light" panose="020E0502030303020204" pitchFamily="34" charset="0"/>
              </a:rPr>
              <a:t>The primary objective of this project is to analyze movie data sourced from IMDb to uncover patterns and insights related to movie ratings, genres, popularity, and audience preferences.</a:t>
            </a:r>
            <a:endParaRPr lang="en-IN" sz="2000" dirty="0">
              <a:solidFill>
                <a:schemeClr val="bg1"/>
              </a:solidFill>
              <a:latin typeface="Candara Light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543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285D46B-5267-07CA-0A87-692EEE1B79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86743" y="-2922774"/>
            <a:ext cx="17765486" cy="99930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A08B55-E93E-E4EC-27A1-F760BB004017}"/>
              </a:ext>
            </a:extLst>
          </p:cNvPr>
          <p:cNvSpPr txBox="1"/>
          <p:nvPr/>
        </p:nvSpPr>
        <p:spPr>
          <a:xfrm>
            <a:off x="2305050" y="3463637"/>
            <a:ext cx="7581900" cy="132343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latin typeface="Montserrat Black" pitchFamily="50" charset="0"/>
                <a:cs typeface="Mongolian Baiti" panose="03000500000000000000" pitchFamily="66" charset="0"/>
              </a:rPr>
              <a:t>AGENDA</a:t>
            </a:r>
            <a:endParaRPr lang="en-IN" sz="8000" dirty="0">
              <a:solidFill>
                <a:schemeClr val="bg1"/>
              </a:solidFill>
              <a:latin typeface="Montserrat Black" pitchFamily="50" charset="0"/>
              <a:cs typeface="Mongolian Baiti" panose="03000500000000000000" pitchFamily="66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B9EE9E-9F45-39BF-09AB-A0C9CBC7D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2361" l="10000" r="91406">
                        <a14:foregroundMark x1="13242" y1="60278" x2="23047" y2="57986"/>
                        <a14:foregroundMark x1="23047" y1="57986" x2="43047" y2="70556"/>
                        <a14:foregroundMark x1="43047" y1="70556" x2="66836" y2="64792"/>
                        <a14:foregroundMark x1="66836" y1="64792" x2="55664" y2="74931"/>
                        <a14:foregroundMark x1="55664" y1="74931" x2="75195" y2="63889"/>
                        <a14:foregroundMark x1="75195" y1="63889" x2="84219" y2="65972"/>
                        <a14:foregroundMark x1="84219" y1="65972" x2="87344" y2="69306"/>
                        <a14:foregroundMark x1="87344" y1="69306" x2="89766" y2="67431"/>
                        <a14:foregroundMark x1="86797" y1="72500" x2="58125" y2="82222"/>
                        <a14:foregroundMark x1="58125" y1="82222" x2="52773" y2="80208"/>
                        <a14:foregroundMark x1="52773" y1="80208" x2="31484" y2="82431"/>
                        <a14:foregroundMark x1="31484" y1="82431" x2="17930" y2="74167"/>
                        <a14:foregroundMark x1="17930" y1="74167" x2="12461" y2="65903"/>
                        <a14:foregroundMark x1="11328" y1="56250" x2="11563" y2="79653"/>
                        <a14:foregroundMark x1="11563" y1="79653" x2="45078" y2="87361"/>
                        <a14:foregroundMark x1="45078" y1="87361" x2="85586" y2="84028"/>
                        <a14:foregroundMark x1="85586" y1="84028" x2="87930" y2="78264"/>
                        <a14:foregroundMark x1="87930" y1="78264" x2="89844" y2="61875"/>
                        <a14:foregroundMark x1="89844" y1="61875" x2="84922" y2="56319"/>
                        <a14:foregroundMark x1="84922" y1="56319" x2="77695" y2="55694"/>
                        <a14:foregroundMark x1="90078" y1="55625" x2="91445" y2="61597"/>
                        <a14:foregroundMark x1="91445" y1="61597" x2="86250" y2="83403"/>
                        <a14:foregroundMark x1="86250" y1="83403" x2="70977" y2="86875"/>
                        <a14:foregroundMark x1="70977" y1="86875" x2="19336" y2="85347"/>
                        <a14:foregroundMark x1="19336" y1="85347" x2="14414" y2="80903"/>
                        <a14:foregroundMark x1="8633" y1="52431" x2="8906" y2="87014"/>
                        <a14:foregroundMark x1="8906" y1="87014" x2="10313" y2="94028"/>
                        <a14:foregroundMark x1="10313" y1="94028" x2="19141" y2="97222"/>
                        <a14:foregroundMark x1="19141" y1="97222" x2="36484" y2="97222"/>
                        <a14:foregroundMark x1="36484" y1="97222" x2="58828" y2="97500"/>
                        <a14:foregroundMark x1="58828" y1="97500" x2="88477" y2="92361"/>
                        <a14:foregroundMark x1="88477" y1="92361" x2="90742" y2="84931"/>
                        <a14:foregroundMark x1="90742" y1="84931" x2="91367" y2="67778"/>
                        <a14:foregroundMark x1="91367" y1="67778" x2="90781" y2="60208"/>
                        <a14:foregroundMark x1="90781" y1="60208" x2="90313" y2="58542"/>
                        <a14:backgroundMark x1="47969" y1="45139" x2="52344" y2="37778"/>
                        <a14:backgroundMark x1="52344" y1="37778" x2="57773" y2="42153"/>
                        <a14:backgroundMark x1="57773" y1="42153" x2="64219" y2="43681"/>
                        <a14:backgroundMark x1="64219" y1="43681" x2="68867" y2="41042"/>
                        <a14:backgroundMark x1="68867" y1="41042" x2="82031" y2="47014"/>
                        <a14:backgroundMark x1="82031" y1="47014" x2="88477" y2="44236"/>
                        <a14:backgroundMark x1="88477" y1="44236" x2="91563" y2="39722"/>
                        <a14:backgroundMark x1="91563" y1="39722" x2="88789" y2="43125"/>
                        <a14:backgroundMark x1="88789" y1="43125" x2="85078" y2="40833"/>
                        <a14:backgroundMark x1="85078" y1="40833" x2="77813" y2="43819"/>
                        <a14:backgroundMark x1="77813" y1="43819" x2="73281" y2="40833"/>
                        <a14:backgroundMark x1="73281" y1="40833" x2="73906" y2="393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3739"/>
          <a:stretch/>
        </p:blipFill>
        <p:spPr>
          <a:xfrm>
            <a:off x="-2786743" y="1407873"/>
            <a:ext cx="17765486" cy="5622204"/>
          </a:xfrm>
          <a:prstGeom prst="rect">
            <a:avLst/>
          </a:prstGeom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000FA52-2501-C0B0-3F50-FDEA96F5C9E9}"/>
              </a:ext>
            </a:extLst>
          </p:cNvPr>
          <p:cNvSpPr/>
          <p:nvPr/>
        </p:nvSpPr>
        <p:spPr>
          <a:xfrm>
            <a:off x="807067" y="7248141"/>
            <a:ext cx="3096768" cy="3532986"/>
          </a:xfrm>
          <a:prstGeom prst="roundRect">
            <a:avLst>
              <a:gd name="adj" fmla="val 11500"/>
            </a:avLst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D3C70EA-AA33-416A-7516-BB7A2A720426}"/>
              </a:ext>
            </a:extLst>
          </p:cNvPr>
          <p:cNvGrpSpPr/>
          <p:nvPr/>
        </p:nvGrpSpPr>
        <p:grpSpPr>
          <a:xfrm>
            <a:off x="914400" y="7450718"/>
            <a:ext cx="3096768" cy="2597119"/>
            <a:chOff x="510540" y="2965802"/>
            <a:chExt cx="3096768" cy="259711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0C6788D-457F-B878-7F1D-21D05EBB7336}"/>
                </a:ext>
              </a:extLst>
            </p:cNvPr>
            <p:cNvSpPr txBox="1"/>
            <p:nvPr/>
          </p:nvSpPr>
          <p:spPr>
            <a:xfrm>
              <a:off x="510540" y="3777817"/>
              <a:ext cx="3096768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  <a:latin typeface="Montserrat" pitchFamily="2" charset="0"/>
                </a:rPr>
                <a:t>DATA COLLECTION</a:t>
              </a:r>
            </a:p>
            <a:p>
              <a:pPr>
                <a:spcBef>
                  <a:spcPts val="1200"/>
                </a:spcBef>
              </a:pPr>
              <a:r>
                <a:rPr lang="en-US" sz="2000" dirty="0">
                  <a:solidFill>
                    <a:srgbClr val="000000"/>
                  </a:solidFill>
                  <a:latin typeface="Candara Light" panose="020E0502030303020204" pitchFamily="34" charset="0"/>
                </a:rPr>
                <a:t>Scrape movie data from IMDb including rating, genre, description, votes, and other metadata.</a:t>
              </a:r>
              <a:endParaRPr lang="en-IN" sz="2000" dirty="0">
                <a:solidFill>
                  <a:srgbClr val="000000"/>
                </a:solidFill>
                <a:latin typeface="Candara Light" panose="020E050203030302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CA096E0-440A-F08B-C723-E6056C904F10}"/>
                </a:ext>
              </a:extLst>
            </p:cNvPr>
            <p:cNvSpPr txBox="1"/>
            <p:nvPr/>
          </p:nvSpPr>
          <p:spPr>
            <a:xfrm>
              <a:off x="510540" y="2965802"/>
              <a:ext cx="309676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000000"/>
                  </a:solidFill>
                  <a:latin typeface="Montserrat" pitchFamily="2" charset="0"/>
                </a:rPr>
                <a:t>01</a:t>
              </a:r>
              <a:endParaRPr lang="en-IN" sz="4000" dirty="0">
                <a:solidFill>
                  <a:srgbClr val="000000"/>
                </a:solidFill>
                <a:latin typeface="Montserrat" pitchFamily="2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E8B55B1-6FAD-EE61-51FB-0D997B62B648}"/>
              </a:ext>
            </a:extLst>
          </p:cNvPr>
          <p:cNvGrpSpPr/>
          <p:nvPr/>
        </p:nvGrpSpPr>
        <p:grpSpPr>
          <a:xfrm>
            <a:off x="8229600" y="2965802"/>
            <a:ext cx="3096768" cy="2904896"/>
            <a:chOff x="510540" y="2965802"/>
            <a:chExt cx="3096768" cy="2904896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D5C513F-B080-7170-E424-91AD4E4C06B0}"/>
                </a:ext>
              </a:extLst>
            </p:cNvPr>
            <p:cNvSpPr txBox="1"/>
            <p:nvPr/>
          </p:nvSpPr>
          <p:spPr>
            <a:xfrm>
              <a:off x="510540" y="3777817"/>
              <a:ext cx="3096768" cy="20928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  <a:latin typeface="Montserrat" pitchFamily="2" charset="0"/>
                </a:rPr>
                <a:t>Exploratory Data Analysis (EDA)</a:t>
              </a:r>
            </a:p>
            <a:p>
              <a:pPr>
                <a:spcBef>
                  <a:spcPts val="1200"/>
                </a:spcBef>
              </a:pPr>
              <a:r>
                <a:rPr lang="en-US" sz="2000" dirty="0">
                  <a:solidFill>
                    <a:srgbClr val="000000"/>
                  </a:solidFill>
                  <a:latin typeface="Candara Light" panose="020E0502030303020204" pitchFamily="34" charset="0"/>
                </a:rPr>
                <a:t>Analyze patterns, relationships and distribution of variables to uncover key trends.</a:t>
              </a:r>
              <a:endParaRPr lang="en-IN" sz="2000" dirty="0">
                <a:solidFill>
                  <a:srgbClr val="000000"/>
                </a:solidFill>
                <a:latin typeface="Candara Light" panose="020E050203030302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44492ED-C8D5-ABA2-6A5B-A09A5A5524F4}"/>
                </a:ext>
              </a:extLst>
            </p:cNvPr>
            <p:cNvSpPr txBox="1"/>
            <p:nvPr/>
          </p:nvSpPr>
          <p:spPr>
            <a:xfrm>
              <a:off x="510540" y="2965802"/>
              <a:ext cx="309676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000000"/>
                  </a:solidFill>
                  <a:latin typeface="Montserrat" pitchFamily="2" charset="0"/>
                </a:rPr>
                <a:t>03</a:t>
              </a:r>
              <a:endParaRPr lang="en-IN" sz="4000" dirty="0">
                <a:solidFill>
                  <a:srgbClr val="000000"/>
                </a:solidFill>
                <a:latin typeface="Montserrat" pitchFamily="2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52D9AF5-ACBC-0B06-5B44-8A4916CD5FF2}"/>
              </a:ext>
            </a:extLst>
          </p:cNvPr>
          <p:cNvGrpSpPr/>
          <p:nvPr/>
        </p:nvGrpSpPr>
        <p:grpSpPr>
          <a:xfrm>
            <a:off x="4572000" y="2962656"/>
            <a:ext cx="3096768" cy="3212672"/>
            <a:chOff x="510540" y="2965802"/>
            <a:chExt cx="3096768" cy="321267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9A8687C-FA1B-2888-7101-A3881BB070FE}"/>
                </a:ext>
              </a:extLst>
            </p:cNvPr>
            <p:cNvSpPr txBox="1"/>
            <p:nvPr/>
          </p:nvSpPr>
          <p:spPr>
            <a:xfrm>
              <a:off x="510540" y="3777817"/>
              <a:ext cx="3096768" cy="24006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  <a:latin typeface="Montserrat" pitchFamily="2" charset="0"/>
                </a:rPr>
                <a:t>DATA CLEANING &amp; PREPROCESSING</a:t>
              </a:r>
            </a:p>
            <a:p>
              <a:pPr>
                <a:spcBef>
                  <a:spcPts val="1200"/>
                </a:spcBef>
              </a:pPr>
              <a:r>
                <a:rPr lang="en-US" sz="2000" dirty="0">
                  <a:solidFill>
                    <a:srgbClr val="000000"/>
                  </a:solidFill>
                  <a:latin typeface="Candara Light" panose="020E0502030303020204" pitchFamily="34" charset="0"/>
                </a:rPr>
                <a:t>Clean and transform raw data by handling missing values, converting formats, and preparing features for analysis.</a:t>
              </a:r>
              <a:endParaRPr lang="en-IN" sz="2000" dirty="0">
                <a:solidFill>
                  <a:srgbClr val="000000"/>
                </a:solidFill>
                <a:latin typeface="Candara Light" panose="020E0502030303020204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57BCD19-40C8-CABA-0EAF-124C4D80C24B}"/>
                </a:ext>
              </a:extLst>
            </p:cNvPr>
            <p:cNvSpPr txBox="1"/>
            <p:nvPr/>
          </p:nvSpPr>
          <p:spPr>
            <a:xfrm>
              <a:off x="510540" y="2965802"/>
              <a:ext cx="309676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000000"/>
                  </a:solidFill>
                  <a:latin typeface="Montserrat" pitchFamily="2" charset="0"/>
                </a:rPr>
                <a:t>02</a:t>
              </a:r>
              <a:endParaRPr lang="en-IN" sz="4000" dirty="0">
                <a:solidFill>
                  <a:srgbClr val="000000"/>
                </a:solidFill>
                <a:latin typeface="Montserrat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89667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Click="0" advTm="100">
        <p159:morph option="byObject"/>
      </p:transition>
    </mc:Choice>
    <mc:Fallback xmlns="">
      <p:transition spd="slow" advClick="0" advTm="1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285D46B-5267-07CA-0A87-692EEE1B79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86743" y="-2922774"/>
            <a:ext cx="17765486" cy="99930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A08B55-E93E-E4EC-27A1-F760BB004017}"/>
              </a:ext>
            </a:extLst>
          </p:cNvPr>
          <p:cNvSpPr txBox="1"/>
          <p:nvPr/>
        </p:nvSpPr>
        <p:spPr>
          <a:xfrm>
            <a:off x="2305050" y="705920"/>
            <a:ext cx="7581900" cy="132343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latin typeface="Montserrat Black" pitchFamily="50" charset="0"/>
                <a:cs typeface="Mongolian Baiti" panose="03000500000000000000" pitchFamily="66" charset="0"/>
              </a:rPr>
              <a:t>AGENDA</a:t>
            </a:r>
            <a:endParaRPr lang="en-IN" sz="8000" dirty="0">
              <a:solidFill>
                <a:schemeClr val="bg1"/>
              </a:solidFill>
              <a:latin typeface="Montserrat Black" pitchFamily="50" charset="0"/>
              <a:cs typeface="Mongolian Baiti" panose="03000500000000000000" pitchFamily="66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B9EE9E-9F45-39BF-09AB-A0C9CBC7D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2361" l="10000" r="91406">
                        <a14:foregroundMark x1="13242" y1="60278" x2="23047" y2="57986"/>
                        <a14:foregroundMark x1="23047" y1="57986" x2="43047" y2="70556"/>
                        <a14:foregroundMark x1="43047" y1="70556" x2="66836" y2="64792"/>
                        <a14:foregroundMark x1="66836" y1="64792" x2="55664" y2="74931"/>
                        <a14:foregroundMark x1="55664" y1="74931" x2="75195" y2="63889"/>
                        <a14:foregroundMark x1="75195" y1="63889" x2="84219" y2="65972"/>
                        <a14:foregroundMark x1="84219" y1="65972" x2="87344" y2="69306"/>
                        <a14:foregroundMark x1="87344" y1="69306" x2="89766" y2="67431"/>
                        <a14:foregroundMark x1="86797" y1="72500" x2="58125" y2="82222"/>
                        <a14:foregroundMark x1="58125" y1="82222" x2="52773" y2="80208"/>
                        <a14:foregroundMark x1="52773" y1="80208" x2="31484" y2="82431"/>
                        <a14:foregroundMark x1="31484" y1="82431" x2="17930" y2="74167"/>
                        <a14:foregroundMark x1="17930" y1="74167" x2="12461" y2="65903"/>
                        <a14:foregroundMark x1="11328" y1="56250" x2="11563" y2="79653"/>
                        <a14:foregroundMark x1="11563" y1="79653" x2="45078" y2="87361"/>
                        <a14:foregroundMark x1="45078" y1="87361" x2="85586" y2="84028"/>
                        <a14:foregroundMark x1="85586" y1="84028" x2="87930" y2="78264"/>
                        <a14:foregroundMark x1="87930" y1="78264" x2="89844" y2="61875"/>
                        <a14:foregroundMark x1="89844" y1="61875" x2="84922" y2="56319"/>
                        <a14:foregroundMark x1="84922" y1="56319" x2="77695" y2="55694"/>
                        <a14:foregroundMark x1="90078" y1="55625" x2="91445" y2="61597"/>
                        <a14:foregroundMark x1="91445" y1="61597" x2="86250" y2="83403"/>
                        <a14:foregroundMark x1="86250" y1="83403" x2="70977" y2="86875"/>
                        <a14:foregroundMark x1="70977" y1="86875" x2="19336" y2="85347"/>
                        <a14:foregroundMark x1="19336" y1="85347" x2="14414" y2="80903"/>
                        <a14:foregroundMark x1="8633" y1="52431" x2="8906" y2="87014"/>
                        <a14:foregroundMark x1="8906" y1="87014" x2="10313" y2="94028"/>
                        <a14:foregroundMark x1="10313" y1="94028" x2="19141" y2="97222"/>
                        <a14:foregroundMark x1="19141" y1="97222" x2="36484" y2="97222"/>
                        <a14:foregroundMark x1="36484" y1="97222" x2="58828" y2="97500"/>
                        <a14:foregroundMark x1="58828" y1="97500" x2="88477" y2="92361"/>
                        <a14:foregroundMark x1="88477" y1="92361" x2="90742" y2="84931"/>
                        <a14:foregroundMark x1="90742" y1="84931" x2="91367" y2="67778"/>
                        <a14:foregroundMark x1="91367" y1="67778" x2="90781" y2="60208"/>
                        <a14:foregroundMark x1="90781" y1="60208" x2="90313" y2="58542"/>
                        <a14:backgroundMark x1="47969" y1="45139" x2="52344" y2="37778"/>
                        <a14:backgroundMark x1="52344" y1="37778" x2="57773" y2="42153"/>
                        <a14:backgroundMark x1="57773" y1="42153" x2="64219" y2="43681"/>
                        <a14:backgroundMark x1="64219" y1="43681" x2="68867" y2="41042"/>
                        <a14:backgroundMark x1="68867" y1="41042" x2="82031" y2="47014"/>
                        <a14:backgroundMark x1="82031" y1="47014" x2="88477" y2="44236"/>
                        <a14:backgroundMark x1="88477" y1="44236" x2="91563" y2="39722"/>
                        <a14:backgroundMark x1="91563" y1="39722" x2="88789" y2="43125"/>
                        <a14:backgroundMark x1="88789" y1="43125" x2="85078" y2="40833"/>
                        <a14:backgroundMark x1="85078" y1="40833" x2="77813" y2="43819"/>
                        <a14:backgroundMark x1="77813" y1="43819" x2="73281" y2="40833"/>
                        <a14:backgroundMark x1="73281" y1="40833" x2="73906" y2="393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3739"/>
          <a:stretch/>
        </p:blipFill>
        <p:spPr>
          <a:xfrm>
            <a:off x="-2786743" y="1407873"/>
            <a:ext cx="17765486" cy="5622204"/>
          </a:xfrm>
          <a:prstGeom prst="rect">
            <a:avLst/>
          </a:prstGeom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000FA52-2501-C0B0-3F50-FDEA96F5C9E9}"/>
              </a:ext>
            </a:extLst>
          </p:cNvPr>
          <p:cNvSpPr/>
          <p:nvPr/>
        </p:nvSpPr>
        <p:spPr>
          <a:xfrm>
            <a:off x="807067" y="2763225"/>
            <a:ext cx="3096768" cy="3532986"/>
          </a:xfrm>
          <a:prstGeom prst="roundRect">
            <a:avLst>
              <a:gd name="adj" fmla="val 11500"/>
            </a:avLst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D3C70EA-AA33-416A-7516-BB7A2A720426}"/>
              </a:ext>
            </a:extLst>
          </p:cNvPr>
          <p:cNvGrpSpPr/>
          <p:nvPr/>
        </p:nvGrpSpPr>
        <p:grpSpPr>
          <a:xfrm>
            <a:off x="914400" y="2965802"/>
            <a:ext cx="3096768" cy="2597119"/>
            <a:chOff x="510540" y="2965802"/>
            <a:chExt cx="3096768" cy="259711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0C6788D-457F-B878-7F1D-21D05EBB7336}"/>
                </a:ext>
              </a:extLst>
            </p:cNvPr>
            <p:cNvSpPr txBox="1"/>
            <p:nvPr/>
          </p:nvSpPr>
          <p:spPr>
            <a:xfrm>
              <a:off x="510540" y="3777817"/>
              <a:ext cx="3096768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  <a:latin typeface="Montserrat" pitchFamily="2" charset="0"/>
                </a:rPr>
                <a:t>Data Collection</a:t>
              </a:r>
            </a:p>
            <a:p>
              <a:pPr>
                <a:spcBef>
                  <a:spcPts val="1200"/>
                </a:spcBef>
              </a:pPr>
              <a:r>
                <a:rPr lang="en-US" sz="2000" dirty="0">
                  <a:solidFill>
                    <a:srgbClr val="000000"/>
                  </a:solidFill>
                  <a:latin typeface="Candara Light" panose="020E0502030303020204" pitchFamily="34" charset="0"/>
                </a:rPr>
                <a:t>Scrape movie data from IMDb including rating, genre, description, votes, and other metadata.</a:t>
              </a:r>
              <a:endParaRPr lang="en-IN" sz="2000" dirty="0">
                <a:solidFill>
                  <a:srgbClr val="000000"/>
                </a:solidFill>
                <a:latin typeface="Candara Light" panose="020E050203030302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CA096E0-440A-F08B-C723-E6056C904F10}"/>
                </a:ext>
              </a:extLst>
            </p:cNvPr>
            <p:cNvSpPr txBox="1"/>
            <p:nvPr/>
          </p:nvSpPr>
          <p:spPr>
            <a:xfrm>
              <a:off x="510540" y="2965802"/>
              <a:ext cx="309676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000000"/>
                  </a:solidFill>
                  <a:latin typeface="Montserrat" pitchFamily="2" charset="0"/>
                </a:rPr>
                <a:t>01</a:t>
              </a:r>
              <a:endParaRPr lang="en-IN" sz="4000" dirty="0">
                <a:solidFill>
                  <a:srgbClr val="000000"/>
                </a:solidFill>
                <a:latin typeface="Montserrat" pitchFamily="2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E8B55B1-6FAD-EE61-51FB-0D997B62B648}"/>
              </a:ext>
            </a:extLst>
          </p:cNvPr>
          <p:cNvGrpSpPr/>
          <p:nvPr/>
        </p:nvGrpSpPr>
        <p:grpSpPr>
          <a:xfrm>
            <a:off x="8229600" y="2965802"/>
            <a:ext cx="3096768" cy="2904896"/>
            <a:chOff x="510540" y="2965802"/>
            <a:chExt cx="3096768" cy="2904896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D5C513F-B080-7170-E424-91AD4E4C06B0}"/>
                </a:ext>
              </a:extLst>
            </p:cNvPr>
            <p:cNvSpPr txBox="1"/>
            <p:nvPr/>
          </p:nvSpPr>
          <p:spPr>
            <a:xfrm>
              <a:off x="510540" y="3777817"/>
              <a:ext cx="3096768" cy="20928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  <a:latin typeface="Montserrat" pitchFamily="2" charset="0"/>
                </a:rPr>
                <a:t>Exploratory Data Analysis (EDA)</a:t>
              </a:r>
            </a:p>
            <a:p>
              <a:pPr>
                <a:spcBef>
                  <a:spcPts val="1200"/>
                </a:spcBef>
              </a:pPr>
              <a:r>
                <a:rPr lang="en-US" sz="2000" dirty="0">
                  <a:solidFill>
                    <a:srgbClr val="000000"/>
                  </a:solidFill>
                  <a:latin typeface="Candara Light" panose="020E0502030303020204" pitchFamily="34" charset="0"/>
                </a:rPr>
                <a:t>Analyze patterns, relationships and distribution of variables to uncover key trends.</a:t>
              </a:r>
              <a:endParaRPr lang="en-IN" sz="2000" dirty="0">
                <a:solidFill>
                  <a:srgbClr val="000000"/>
                </a:solidFill>
                <a:latin typeface="Candara Light" panose="020E050203030302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44492ED-C8D5-ABA2-6A5B-A09A5A5524F4}"/>
                </a:ext>
              </a:extLst>
            </p:cNvPr>
            <p:cNvSpPr txBox="1"/>
            <p:nvPr/>
          </p:nvSpPr>
          <p:spPr>
            <a:xfrm>
              <a:off x="510540" y="2965802"/>
              <a:ext cx="309676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000000"/>
                  </a:solidFill>
                  <a:latin typeface="Montserrat" pitchFamily="2" charset="0"/>
                </a:rPr>
                <a:t>03</a:t>
              </a:r>
              <a:endParaRPr lang="en-IN" sz="4000" dirty="0">
                <a:solidFill>
                  <a:srgbClr val="000000"/>
                </a:solidFill>
                <a:latin typeface="Montserrat" pitchFamily="2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52D9AF5-ACBC-0B06-5B44-8A4916CD5FF2}"/>
              </a:ext>
            </a:extLst>
          </p:cNvPr>
          <p:cNvGrpSpPr/>
          <p:nvPr/>
        </p:nvGrpSpPr>
        <p:grpSpPr>
          <a:xfrm>
            <a:off x="4572000" y="2962656"/>
            <a:ext cx="3096768" cy="3212672"/>
            <a:chOff x="510540" y="2965802"/>
            <a:chExt cx="3096768" cy="321267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9A8687C-FA1B-2888-7101-A3881BB070FE}"/>
                </a:ext>
              </a:extLst>
            </p:cNvPr>
            <p:cNvSpPr txBox="1"/>
            <p:nvPr/>
          </p:nvSpPr>
          <p:spPr>
            <a:xfrm>
              <a:off x="510540" y="3777817"/>
              <a:ext cx="3096768" cy="24006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  <a:latin typeface="Montserrat" pitchFamily="2" charset="0"/>
                </a:rPr>
                <a:t>DATA CLEANING &amp; PREPROCESSING</a:t>
              </a:r>
            </a:p>
            <a:p>
              <a:pPr>
                <a:spcBef>
                  <a:spcPts val="1200"/>
                </a:spcBef>
              </a:pPr>
              <a:r>
                <a:rPr lang="en-US" sz="2000" dirty="0">
                  <a:solidFill>
                    <a:srgbClr val="000000"/>
                  </a:solidFill>
                  <a:latin typeface="Candara Light" panose="020E0502030303020204" pitchFamily="34" charset="0"/>
                </a:rPr>
                <a:t>Clean and transform raw data by handling missing values, converting formats, and preparing features for analysis.</a:t>
              </a:r>
              <a:endParaRPr lang="en-IN" sz="2000" dirty="0">
                <a:solidFill>
                  <a:srgbClr val="000000"/>
                </a:solidFill>
                <a:latin typeface="Candara Light" panose="020E0502030303020204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57BCD19-40C8-CABA-0EAF-124C4D80C24B}"/>
                </a:ext>
              </a:extLst>
            </p:cNvPr>
            <p:cNvSpPr txBox="1"/>
            <p:nvPr/>
          </p:nvSpPr>
          <p:spPr>
            <a:xfrm>
              <a:off x="510540" y="2965802"/>
              <a:ext cx="309676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000000"/>
                  </a:solidFill>
                  <a:latin typeface="Montserrat" pitchFamily="2" charset="0"/>
                </a:rPr>
                <a:t>02</a:t>
              </a:r>
              <a:endParaRPr lang="en-IN" sz="4000" dirty="0">
                <a:solidFill>
                  <a:srgbClr val="000000"/>
                </a:solidFill>
                <a:latin typeface="Montserrat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49173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BE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285D46B-5267-07CA-0A87-692EEE1B79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86743" y="-2922774"/>
            <a:ext cx="17765486" cy="99930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A08B55-E93E-E4EC-27A1-F760BB004017}"/>
              </a:ext>
            </a:extLst>
          </p:cNvPr>
          <p:cNvSpPr txBox="1"/>
          <p:nvPr/>
        </p:nvSpPr>
        <p:spPr>
          <a:xfrm>
            <a:off x="2305050" y="705920"/>
            <a:ext cx="7581900" cy="132343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latin typeface="Montserrat Black" pitchFamily="50" charset="0"/>
                <a:cs typeface="Mongolian Baiti" panose="03000500000000000000" pitchFamily="66" charset="0"/>
              </a:rPr>
              <a:t>AGENDA</a:t>
            </a:r>
            <a:endParaRPr lang="en-IN" sz="8000" dirty="0">
              <a:solidFill>
                <a:schemeClr val="bg1"/>
              </a:solidFill>
              <a:latin typeface="Montserrat Black" pitchFamily="50" charset="0"/>
              <a:cs typeface="Mongolian Baiti" panose="03000500000000000000" pitchFamily="66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B9EE9E-9F45-39BF-09AB-A0C9CBC7D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2361" l="10000" r="91406">
                        <a14:foregroundMark x1="13242" y1="60278" x2="23047" y2="57986"/>
                        <a14:foregroundMark x1="23047" y1="57986" x2="43047" y2="70556"/>
                        <a14:foregroundMark x1="43047" y1="70556" x2="66836" y2="64792"/>
                        <a14:foregroundMark x1="66836" y1="64792" x2="55664" y2="74931"/>
                        <a14:foregroundMark x1="55664" y1="74931" x2="75195" y2="63889"/>
                        <a14:foregroundMark x1="75195" y1="63889" x2="84219" y2="65972"/>
                        <a14:foregroundMark x1="84219" y1="65972" x2="87344" y2="69306"/>
                        <a14:foregroundMark x1="87344" y1="69306" x2="89766" y2="67431"/>
                        <a14:foregroundMark x1="86797" y1="72500" x2="58125" y2="82222"/>
                        <a14:foregroundMark x1="58125" y1="82222" x2="52773" y2="80208"/>
                        <a14:foregroundMark x1="52773" y1="80208" x2="31484" y2="82431"/>
                        <a14:foregroundMark x1="31484" y1="82431" x2="17930" y2="74167"/>
                        <a14:foregroundMark x1="17930" y1="74167" x2="12461" y2="65903"/>
                        <a14:foregroundMark x1="11328" y1="56250" x2="11563" y2="79653"/>
                        <a14:foregroundMark x1="11563" y1="79653" x2="45078" y2="87361"/>
                        <a14:foregroundMark x1="45078" y1="87361" x2="85586" y2="84028"/>
                        <a14:foregroundMark x1="85586" y1="84028" x2="87930" y2="78264"/>
                        <a14:foregroundMark x1="87930" y1="78264" x2="89844" y2="61875"/>
                        <a14:foregroundMark x1="89844" y1="61875" x2="84922" y2="56319"/>
                        <a14:foregroundMark x1="84922" y1="56319" x2="77695" y2="55694"/>
                        <a14:foregroundMark x1="90078" y1="55625" x2="91445" y2="61597"/>
                        <a14:foregroundMark x1="91445" y1="61597" x2="86250" y2="83403"/>
                        <a14:foregroundMark x1="86250" y1="83403" x2="70977" y2="86875"/>
                        <a14:foregroundMark x1="70977" y1="86875" x2="19336" y2="85347"/>
                        <a14:foregroundMark x1="19336" y1="85347" x2="14414" y2="80903"/>
                        <a14:foregroundMark x1="8633" y1="52431" x2="8906" y2="87014"/>
                        <a14:foregroundMark x1="8906" y1="87014" x2="10313" y2="94028"/>
                        <a14:foregroundMark x1="10313" y1="94028" x2="19141" y2="97222"/>
                        <a14:foregroundMark x1="19141" y1="97222" x2="36484" y2="97222"/>
                        <a14:foregroundMark x1="36484" y1="97222" x2="58828" y2="97500"/>
                        <a14:foregroundMark x1="58828" y1="97500" x2="88477" y2="92361"/>
                        <a14:foregroundMark x1="88477" y1="92361" x2="90742" y2="84931"/>
                        <a14:foregroundMark x1="90742" y1="84931" x2="91367" y2="67778"/>
                        <a14:foregroundMark x1="91367" y1="67778" x2="90781" y2="60208"/>
                        <a14:foregroundMark x1="90781" y1="60208" x2="90313" y2="58542"/>
                        <a14:backgroundMark x1="47969" y1="45139" x2="52344" y2="37778"/>
                        <a14:backgroundMark x1="52344" y1="37778" x2="57773" y2="42153"/>
                        <a14:backgroundMark x1="57773" y1="42153" x2="64219" y2="43681"/>
                        <a14:backgroundMark x1="64219" y1="43681" x2="68867" y2="41042"/>
                        <a14:backgroundMark x1="68867" y1="41042" x2="82031" y2="47014"/>
                        <a14:backgroundMark x1="82031" y1="47014" x2="88477" y2="44236"/>
                        <a14:backgroundMark x1="88477" y1="44236" x2="91563" y2="39722"/>
                        <a14:backgroundMark x1="91563" y1="39722" x2="88789" y2="43125"/>
                        <a14:backgroundMark x1="88789" y1="43125" x2="85078" y2="40833"/>
                        <a14:backgroundMark x1="85078" y1="40833" x2="77813" y2="43819"/>
                        <a14:backgroundMark x1="77813" y1="43819" x2="73281" y2="40833"/>
                        <a14:backgroundMark x1="73281" y1="40833" x2="73906" y2="393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3739"/>
          <a:stretch/>
        </p:blipFill>
        <p:spPr>
          <a:xfrm>
            <a:off x="-2786743" y="1407873"/>
            <a:ext cx="17765486" cy="5622204"/>
          </a:xfrm>
          <a:prstGeom prst="rect">
            <a:avLst/>
          </a:prstGeom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000FA52-2501-C0B0-3F50-FDEA96F5C9E9}"/>
              </a:ext>
            </a:extLst>
          </p:cNvPr>
          <p:cNvSpPr/>
          <p:nvPr/>
        </p:nvSpPr>
        <p:spPr>
          <a:xfrm>
            <a:off x="4502767" y="2763225"/>
            <a:ext cx="3096768" cy="3532986"/>
          </a:xfrm>
          <a:prstGeom prst="roundRect">
            <a:avLst>
              <a:gd name="adj" fmla="val 11500"/>
            </a:avLst>
          </a:prstGeom>
          <a:solidFill>
            <a:srgbClr val="8493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D3C70EA-AA33-416A-7516-BB7A2A720426}"/>
              </a:ext>
            </a:extLst>
          </p:cNvPr>
          <p:cNvGrpSpPr/>
          <p:nvPr/>
        </p:nvGrpSpPr>
        <p:grpSpPr>
          <a:xfrm>
            <a:off x="914400" y="2965802"/>
            <a:ext cx="3096768" cy="2597119"/>
            <a:chOff x="510540" y="2965802"/>
            <a:chExt cx="3096768" cy="259711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0C6788D-457F-B878-7F1D-21D05EBB7336}"/>
                </a:ext>
              </a:extLst>
            </p:cNvPr>
            <p:cNvSpPr txBox="1"/>
            <p:nvPr/>
          </p:nvSpPr>
          <p:spPr>
            <a:xfrm>
              <a:off x="510540" y="3777817"/>
              <a:ext cx="3096768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Montserrat" pitchFamily="2" charset="0"/>
                </a:rPr>
                <a:t>Data Collection</a:t>
              </a:r>
            </a:p>
            <a:p>
              <a:pPr>
                <a:spcBef>
                  <a:spcPts val="1200"/>
                </a:spcBef>
              </a:pPr>
              <a:r>
                <a:rPr lang="en-US" sz="20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Scrape movie data from IMDb including rating, genre, description, votes, and other metadata.</a:t>
              </a:r>
              <a:endParaRPr lang="en-IN" sz="2000" dirty="0">
                <a:solidFill>
                  <a:schemeClr val="bg1"/>
                </a:solidFill>
                <a:latin typeface="Candara Light" panose="020E050203030302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CA096E0-440A-F08B-C723-E6056C904F10}"/>
                </a:ext>
              </a:extLst>
            </p:cNvPr>
            <p:cNvSpPr txBox="1"/>
            <p:nvPr/>
          </p:nvSpPr>
          <p:spPr>
            <a:xfrm>
              <a:off x="510540" y="2965802"/>
              <a:ext cx="309676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chemeClr val="bg1"/>
                  </a:solidFill>
                  <a:latin typeface="Montserrat" pitchFamily="2" charset="0"/>
                </a:rPr>
                <a:t>01</a:t>
              </a:r>
              <a:endParaRPr lang="en-IN" sz="4000" dirty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E8B55B1-6FAD-EE61-51FB-0D997B62B648}"/>
              </a:ext>
            </a:extLst>
          </p:cNvPr>
          <p:cNvGrpSpPr/>
          <p:nvPr/>
        </p:nvGrpSpPr>
        <p:grpSpPr>
          <a:xfrm>
            <a:off x="8229600" y="2965802"/>
            <a:ext cx="3096768" cy="2904896"/>
            <a:chOff x="510540" y="2965802"/>
            <a:chExt cx="3096768" cy="2904896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D5C513F-B080-7170-E424-91AD4E4C06B0}"/>
                </a:ext>
              </a:extLst>
            </p:cNvPr>
            <p:cNvSpPr txBox="1"/>
            <p:nvPr/>
          </p:nvSpPr>
          <p:spPr>
            <a:xfrm>
              <a:off x="510540" y="3777817"/>
              <a:ext cx="3096768" cy="20928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  <a:latin typeface="Montserrat" pitchFamily="2" charset="0"/>
                </a:rPr>
                <a:t>Exploratory Data Analysis (EDA)</a:t>
              </a:r>
            </a:p>
            <a:p>
              <a:pPr>
                <a:spcBef>
                  <a:spcPts val="1200"/>
                </a:spcBef>
              </a:pPr>
              <a:r>
                <a:rPr lang="en-US" sz="2000" dirty="0">
                  <a:solidFill>
                    <a:srgbClr val="000000"/>
                  </a:solidFill>
                  <a:latin typeface="Candara Light" panose="020E0502030303020204" pitchFamily="34" charset="0"/>
                </a:rPr>
                <a:t>Analyze patterns, relationships and distribution of variables to uncover key trends.</a:t>
              </a:r>
              <a:endParaRPr lang="en-IN" sz="2000" dirty="0">
                <a:solidFill>
                  <a:srgbClr val="000000"/>
                </a:solidFill>
                <a:latin typeface="Candara Light" panose="020E050203030302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44492ED-C8D5-ABA2-6A5B-A09A5A5524F4}"/>
                </a:ext>
              </a:extLst>
            </p:cNvPr>
            <p:cNvSpPr txBox="1"/>
            <p:nvPr/>
          </p:nvSpPr>
          <p:spPr>
            <a:xfrm>
              <a:off x="510540" y="2965802"/>
              <a:ext cx="309676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000000"/>
                  </a:solidFill>
                  <a:latin typeface="Montserrat" pitchFamily="2" charset="0"/>
                </a:rPr>
                <a:t>03</a:t>
              </a:r>
              <a:endParaRPr lang="en-IN" sz="4000" dirty="0">
                <a:solidFill>
                  <a:srgbClr val="000000"/>
                </a:solidFill>
                <a:latin typeface="Montserrat" pitchFamily="2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52D9AF5-ACBC-0B06-5B44-8A4916CD5FF2}"/>
              </a:ext>
            </a:extLst>
          </p:cNvPr>
          <p:cNvGrpSpPr/>
          <p:nvPr/>
        </p:nvGrpSpPr>
        <p:grpSpPr>
          <a:xfrm>
            <a:off x="4572000" y="2962656"/>
            <a:ext cx="3096768" cy="3212672"/>
            <a:chOff x="510540" y="2965802"/>
            <a:chExt cx="3096768" cy="321267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9A8687C-FA1B-2888-7101-A3881BB070FE}"/>
                </a:ext>
              </a:extLst>
            </p:cNvPr>
            <p:cNvSpPr txBox="1"/>
            <p:nvPr/>
          </p:nvSpPr>
          <p:spPr>
            <a:xfrm>
              <a:off x="510540" y="3777817"/>
              <a:ext cx="3096768" cy="24006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  <a:latin typeface="Montserrat" pitchFamily="2" charset="0"/>
                </a:rPr>
                <a:t>Data Cleaning &amp; Preprocessing</a:t>
              </a:r>
            </a:p>
            <a:p>
              <a:pPr>
                <a:spcBef>
                  <a:spcPts val="1200"/>
                </a:spcBef>
              </a:pPr>
              <a:r>
                <a:rPr lang="en-US" sz="2000" dirty="0">
                  <a:solidFill>
                    <a:srgbClr val="000000"/>
                  </a:solidFill>
                  <a:latin typeface="Candara Light" panose="020E0502030303020204" pitchFamily="34" charset="0"/>
                </a:rPr>
                <a:t>Clean and transform raw data by handling missing values, converting formats, and preparing features for analysis.</a:t>
              </a:r>
              <a:endParaRPr lang="en-IN" sz="2000" dirty="0">
                <a:solidFill>
                  <a:srgbClr val="000000"/>
                </a:solidFill>
                <a:latin typeface="Candara Light" panose="020E0502030303020204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57BCD19-40C8-CABA-0EAF-124C4D80C24B}"/>
                </a:ext>
              </a:extLst>
            </p:cNvPr>
            <p:cNvSpPr txBox="1"/>
            <p:nvPr/>
          </p:nvSpPr>
          <p:spPr>
            <a:xfrm>
              <a:off x="510540" y="2965802"/>
              <a:ext cx="309676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000000"/>
                  </a:solidFill>
                  <a:latin typeface="Montserrat" pitchFamily="2" charset="0"/>
                </a:rPr>
                <a:t>02</a:t>
              </a:r>
              <a:endParaRPr lang="en-IN" sz="4000" dirty="0">
                <a:solidFill>
                  <a:srgbClr val="000000"/>
                </a:solidFill>
                <a:latin typeface="Montserrat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454366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BE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285D46B-5267-07CA-0A87-692EEE1B79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86743" y="-2922774"/>
            <a:ext cx="17765486" cy="99930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A08B55-E93E-E4EC-27A1-F760BB004017}"/>
              </a:ext>
            </a:extLst>
          </p:cNvPr>
          <p:cNvSpPr txBox="1"/>
          <p:nvPr/>
        </p:nvSpPr>
        <p:spPr>
          <a:xfrm>
            <a:off x="2305050" y="705920"/>
            <a:ext cx="7581900" cy="132343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latin typeface="Montserrat Black" pitchFamily="50" charset="0"/>
                <a:cs typeface="Mongolian Baiti" panose="03000500000000000000" pitchFamily="66" charset="0"/>
              </a:rPr>
              <a:t>AGENDA</a:t>
            </a:r>
            <a:endParaRPr lang="en-IN" sz="8000" dirty="0">
              <a:solidFill>
                <a:schemeClr val="bg1"/>
              </a:solidFill>
              <a:latin typeface="Montserrat Black" pitchFamily="50" charset="0"/>
              <a:cs typeface="Mongolian Baiti" panose="03000500000000000000" pitchFamily="66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B9EE9E-9F45-39BF-09AB-A0C9CBC7D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2361" l="10000" r="91406">
                        <a14:foregroundMark x1="13242" y1="60278" x2="23047" y2="57986"/>
                        <a14:foregroundMark x1="23047" y1="57986" x2="43047" y2="70556"/>
                        <a14:foregroundMark x1="43047" y1="70556" x2="66836" y2="64792"/>
                        <a14:foregroundMark x1="66836" y1="64792" x2="55664" y2="74931"/>
                        <a14:foregroundMark x1="55664" y1="74931" x2="75195" y2="63889"/>
                        <a14:foregroundMark x1="75195" y1="63889" x2="84219" y2="65972"/>
                        <a14:foregroundMark x1="84219" y1="65972" x2="87344" y2="69306"/>
                        <a14:foregroundMark x1="87344" y1="69306" x2="89766" y2="67431"/>
                        <a14:foregroundMark x1="86797" y1="72500" x2="58125" y2="82222"/>
                        <a14:foregroundMark x1="58125" y1="82222" x2="52773" y2="80208"/>
                        <a14:foregroundMark x1="52773" y1="80208" x2="31484" y2="82431"/>
                        <a14:foregroundMark x1="31484" y1="82431" x2="17930" y2="74167"/>
                        <a14:foregroundMark x1="17930" y1="74167" x2="12461" y2="65903"/>
                        <a14:foregroundMark x1="11328" y1="56250" x2="11563" y2="79653"/>
                        <a14:foregroundMark x1="11563" y1="79653" x2="45078" y2="87361"/>
                        <a14:foregroundMark x1="45078" y1="87361" x2="85586" y2="84028"/>
                        <a14:foregroundMark x1="85586" y1="84028" x2="87930" y2="78264"/>
                        <a14:foregroundMark x1="87930" y1="78264" x2="89844" y2="61875"/>
                        <a14:foregroundMark x1="89844" y1="61875" x2="84922" y2="56319"/>
                        <a14:foregroundMark x1="84922" y1="56319" x2="77695" y2="55694"/>
                        <a14:foregroundMark x1="90078" y1="55625" x2="91445" y2="61597"/>
                        <a14:foregroundMark x1="91445" y1="61597" x2="86250" y2="83403"/>
                        <a14:foregroundMark x1="86250" y1="83403" x2="70977" y2="86875"/>
                        <a14:foregroundMark x1="70977" y1="86875" x2="19336" y2="85347"/>
                        <a14:foregroundMark x1="19336" y1="85347" x2="14414" y2="80903"/>
                        <a14:foregroundMark x1="8633" y1="52431" x2="8906" y2="87014"/>
                        <a14:foregroundMark x1="8906" y1="87014" x2="10313" y2="94028"/>
                        <a14:foregroundMark x1="10313" y1="94028" x2="19141" y2="97222"/>
                        <a14:foregroundMark x1="19141" y1="97222" x2="36484" y2="97222"/>
                        <a14:foregroundMark x1="36484" y1="97222" x2="58828" y2="97500"/>
                        <a14:foregroundMark x1="58828" y1="97500" x2="88477" y2="92361"/>
                        <a14:foregroundMark x1="88477" y1="92361" x2="90742" y2="84931"/>
                        <a14:foregroundMark x1="90742" y1="84931" x2="91367" y2="67778"/>
                        <a14:foregroundMark x1="91367" y1="67778" x2="90781" y2="60208"/>
                        <a14:foregroundMark x1="90781" y1="60208" x2="90313" y2="58542"/>
                        <a14:backgroundMark x1="47969" y1="45139" x2="52344" y2="37778"/>
                        <a14:backgroundMark x1="52344" y1="37778" x2="57773" y2="42153"/>
                        <a14:backgroundMark x1="57773" y1="42153" x2="64219" y2="43681"/>
                        <a14:backgroundMark x1="64219" y1="43681" x2="68867" y2="41042"/>
                        <a14:backgroundMark x1="68867" y1="41042" x2="82031" y2="47014"/>
                        <a14:backgroundMark x1="82031" y1="47014" x2="88477" y2="44236"/>
                        <a14:backgroundMark x1="88477" y1="44236" x2="91563" y2="39722"/>
                        <a14:backgroundMark x1="91563" y1="39722" x2="88789" y2="43125"/>
                        <a14:backgroundMark x1="88789" y1="43125" x2="85078" y2="40833"/>
                        <a14:backgroundMark x1="85078" y1="40833" x2="77813" y2="43819"/>
                        <a14:backgroundMark x1="77813" y1="43819" x2="73281" y2="40833"/>
                        <a14:backgroundMark x1="73281" y1="40833" x2="73906" y2="393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3739"/>
          <a:stretch/>
        </p:blipFill>
        <p:spPr>
          <a:xfrm>
            <a:off x="-2786743" y="1407873"/>
            <a:ext cx="17765486" cy="5622204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852D9AF5-ACBC-0B06-5B44-8A4916CD5FF2}"/>
              </a:ext>
            </a:extLst>
          </p:cNvPr>
          <p:cNvGrpSpPr/>
          <p:nvPr/>
        </p:nvGrpSpPr>
        <p:grpSpPr>
          <a:xfrm>
            <a:off x="4572000" y="2962656"/>
            <a:ext cx="3096768" cy="3212672"/>
            <a:chOff x="510540" y="2965802"/>
            <a:chExt cx="3096768" cy="321267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9A8687C-FA1B-2888-7101-A3881BB070FE}"/>
                </a:ext>
              </a:extLst>
            </p:cNvPr>
            <p:cNvSpPr txBox="1"/>
            <p:nvPr/>
          </p:nvSpPr>
          <p:spPr>
            <a:xfrm>
              <a:off x="510540" y="3777817"/>
              <a:ext cx="3096768" cy="24006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Montserrat" pitchFamily="2" charset="0"/>
                </a:rPr>
                <a:t>Data Cleaning &amp; Preprocessing</a:t>
              </a:r>
            </a:p>
            <a:p>
              <a:pPr>
                <a:spcBef>
                  <a:spcPts val="1200"/>
                </a:spcBef>
              </a:pPr>
              <a:r>
                <a:rPr lang="en-US" sz="20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Clean and transform raw data by handling missing values, converting formats, and preparing features for analysis.</a:t>
              </a:r>
              <a:endParaRPr lang="en-IN" sz="2000" dirty="0">
                <a:solidFill>
                  <a:schemeClr val="bg1"/>
                </a:solidFill>
                <a:latin typeface="Candara Light" panose="020E0502030303020204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57BCD19-40C8-CABA-0EAF-124C4D80C24B}"/>
                </a:ext>
              </a:extLst>
            </p:cNvPr>
            <p:cNvSpPr txBox="1"/>
            <p:nvPr/>
          </p:nvSpPr>
          <p:spPr>
            <a:xfrm>
              <a:off x="510540" y="2965802"/>
              <a:ext cx="309676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chemeClr val="bg1"/>
                  </a:solidFill>
                  <a:latin typeface="Montserrat" pitchFamily="2" charset="0"/>
                </a:rPr>
                <a:t>02</a:t>
              </a:r>
              <a:endParaRPr lang="en-IN" sz="4000" dirty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</p:grp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000FA52-2501-C0B0-3F50-FDEA96F5C9E9}"/>
              </a:ext>
            </a:extLst>
          </p:cNvPr>
          <p:cNvSpPr/>
          <p:nvPr/>
        </p:nvSpPr>
        <p:spPr>
          <a:xfrm>
            <a:off x="8107027" y="2763225"/>
            <a:ext cx="3096768" cy="3532986"/>
          </a:xfrm>
          <a:prstGeom prst="roundRect">
            <a:avLst>
              <a:gd name="adj" fmla="val 11500"/>
            </a:avLst>
          </a:prstGeom>
          <a:solidFill>
            <a:srgbClr val="D4AF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D3C70EA-AA33-416A-7516-BB7A2A720426}"/>
              </a:ext>
            </a:extLst>
          </p:cNvPr>
          <p:cNvGrpSpPr/>
          <p:nvPr/>
        </p:nvGrpSpPr>
        <p:grpSpPr>
          <a:xfrm>
            <a:off x="914400" y="2965802"/>
            <a:ext cx="3096768" cy="2597119"/>
            <a:chOff x="510540" y="2965802"/>
            <a:chExt cx="3096768" cy="259711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0C6788D-457F-B878-7F1D-21D05EBB7336}"/>
                </a:ext>
              </a:extLst>
            </p:cNvPr>
            <p:cNvSpPr txBox="1"/>
            <p:nvPr/>
          </p:nvSpPr>
          <p:spPr>
            <a:xfrm>
              <a:off x="510540" y="3777817"/>
              <a:ext cx="3096768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Montserrat" pitchFamily="2" charset="0"/>
                </a:rPr>
                <a:t>Data Collection</a:t>
              </a:r>
            </a:p>
            <a:p>
              <a:pPr>
                <a:spcBef>
                  <a:spcPts val="1200"/>
                </a:spcBef>
              </a:pPr>
              <a:r>
                <a:rPr lang="en-US" sz="20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Scrape movie data from IMDb including rating, genre, description, votes, and other metadata.</a:t>
              </a:r>
              <a:endParaRPr lang="en-IN" sz="2000" dirty="0">
                <a:solidFill>
                  <a:schemeClr val="bg1"/>
                </a:solidFill>
                <a:latin typeface="Candara Light" panose="020E050203030302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CA096E0-440A-F08B-C723-E6056C904F10}"/>
                </a:ext>
              </a:extLst>
            </p:cNvPr>
            <p:cNvSpPr txBox="1"/>
            <p:nvPr/>
          </p:nvSpPr>
          <p:spPr>
            <a:xfrm>
              <a:off x="510540" y="2965802"/>
              <a:ext cx="309676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chemeClr val="bg1"/>
                  </a:solidFill>
                  <a:latin typeface="Montserrat" pitchFamily="2" charset="0"/>
                </a:rPr>
                <a:t>01</a:t>
              </a:r>
              <a:endParaRPr lang="en-IN" sz="4000" dirty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E8B55B1-6FAD-EE61-51FB-0D997B62B648}"/>
              </a:ext>
            </a:extLst>
          </p:cNvPr>
          <p:cNvGrpSpPr/>
          <p:nvPr/>
        </p:nvGrpSpPr>
        <p:grpSpPr>
          <a:xfrm>
            <a:off x="8229600" y="2965802"/>
            <a:ext cx="3096768" cy="2904896"/>
            <a:chOff x="510540" y="2965802"/>
            <a:chExt cx="3096768" cy="2904896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D5C513F-B080-7170-E424-91AD4E4C06B0}"/>
                </a:ext>
              </a:extLst>
            </p:cNvPr>
            <p:cNvSpPr txBox="1"/>
            <p:nvPr/>
          </p:nvSpPr>
          <p:spPr>
            <a:xfrm>
              <a:off x="510540" y="3777817"/>
              <a:ext cx="3096768" cy="20928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  <a:latin typeface="Montserrat" pitchFamily="2" charset="0"/>
                </a:rPr>
                <a:t>Exploratory Data Analysis (EDA)</a:t>
              </a:r>
            </a:p>
            <a:p>
              <a:pPr>
                <a:spcBef>
                  <a:spcPts val="1200"/>
                </a:spcBef>
              </a:pPr>
              <a:r>
                <a:rPr lang="en-US" sz="2000" dirty="0">
                  <a:solidFill>
                    <a:srgbClr val="000000"/>
                  </a:solidFill>
                  <a:latin typeface="Candara Light" panose="020E0502030303020204" pitchFamily="34" charset="0"/>
                </a:rPr>
                <a:t>Analyze patterns, relationships and distribution of variables to uncover key trends.</a:t>
              </a:r>
              <a:endParaRPr lang="en-IN" sz="2000" dirty="0">
                <a:solidFill>
                  <a:srgbClr val="000000"/>
                </a:solidFill>
                <a:latin typeface="Candara Light" panose="020E050203030302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44492ED-C8D5-ABA2-6A5B-A09A5A5524F4}"/>
                </a:ext>
              </a:extLst>
            </p:cNvPr>
            <p:cNvSpPr txBox="1"/>
            <p:nvPr/>
          </p:nvSpPr>
          <p:spPr>
            <a:xfrm>
              <a:off x="510540" y="2965802"/>
              <a:ext cx="309676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000000"/>
                  </a:solidFill>
                  <a:latin typeface="Montserrat" pitchFamily="2" charset="0"/>
                </a:rPr>
                <a:t>03</a:t>
              </a:r>
              <a:endParaRPr lang="en-IN" sz="4000" dirty="0">
                <a:solidFill>
                  <a:srgbClr val="000000"/>
                </a:solidFill>
                <a:latin typeface="Montserrat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78853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BE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285D46B-5267-07CA-0A87-692EEE1B79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91743" y="-2922774"/>
            <a:ext cx="17765486" cy="99930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A08B55-E93E-E4EC-27A1-F760BB004017}"/>
              </a:ext>
            </a:extLst>
          </p:cNvPr>
          <p:cNvSpPr txBox="1"/>
          <p:nvPr/>
        </p:nvSpPr>
        <p:spPr>
          <a:xfrm>
            <a:off x="2305050" y="705920"/>
            <a:ext cx="7581900" cy="132343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latin typeface="Montserrat Black" pitchFamily="50" charset="0"/>
                <a:cs typeface="Mongolian Baiti" panose="03000500000000000000" pitchFamily="66" charset="0"/>
              </a:rPr>
              <a:t>AGENDA</a:t>
            </a:r>
            <a:endParaRPr lang="en-IN" sz="8000" dirty="0">
              <a:solidFill>
                <a:schemeClr val="bg1"/>
              </a:solidFill>
              <a:latin typeface="Montserrat Black" pitchFamily="50" charset="0"/>
              <a:cs typeface="Mongolian Baiti" panose="03000500000000000000" pitchFamily="66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B9EE9E-9F45-39BF-09AB-A0C9CBC7D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2361" l="10000" r="91406">
                        <a14:foregroundMark x1="13242" y1="60278" x2="23047" y2="57986"/>
                        <a14:foregroundMark x1="23047" y1="57986" x2="43047" y2="70556"/>
                        <a14:foregroundMark x1="43047" y1="70556" x2="66836" y2="64792"/>
                        <a14:foregroundMark x1="66836" y1="64792" x2="55664" y2="74931"/>
                        <a14:foregroundMark x1="55664" y1="74931" x2="75195" y2="63889"/>
                        <a14:foregroundMark x1="75195" y1="63889" x2="84219" y2="65972"/>
                        <a14:foregroundMark x1="84219" y1="65972" x2="87344" y2="69306"/>
                        <a14:foregroundMark x1="87344" y1="69306" x2="89766" y2="67431"/>
                        <a14:foregroundMark x1="86797" y1="72500" x2="58125" y2="82222"/>
                        <a14:foregroundMark x1="58125" y1="82222" x2="52773" y2="80208"/>
                        <a14:foregroundMark x1="52773" y1="80208" x2="31484" y2="82431"/>
                        <a14:foregroundMark x1="31484" y1="82431" x2="17930" y2="74167"/>
                        <a14:foregroundMark x1="17930" y1="74167" x2="12461" y2="65903"/>
                        <a14:foregroundMark x1="11328" y1="56250" x2="11563" y2="79653"/>
                        <a14:foregroundMark x1="11563" y1="79653" x2="45078" y2="87361"/>
                        <a14:foregroundMark x1="45078" y1="87361" x2="85586" y2="84028"/>
                        <a14:foregroundMark x1="85586" y1="84028" x2="87930" y2="78264"/>
                        <a14:foregroundMark x1="87930" y1="78264" x2="89844" y2="61875"/>
                        <a14:foregroundMark x1="89844" y1="61875" x2="84922" y2="56319"/>
                        <a14:foregroundMark x1="84922" y1="56319" x2="77695" y2="55694"/>
                        <a14:foregroundMark x1="90078" y1="55625" x2="91445" y2="61597"/>
                        <a14:foregroundMark x1="91445" y1="61597" x2="86250" y2="83403"/>
                        <a14:foregroundMark x1="86250" y1="83403" x2="70977" y2="86875"/>
                        <a14:foregroundMark x1="70977" y1="86875" x2="19336" y2="85347"/>
                        <a14:foregroundMark x1="19336" y1="85347" x2="14414" y2="80903"/>
                        <a14:foregroundMark x1="8633" y1="52431" x2="8906" y2="87014"/>
                        <a14:foregroundMark x1="8906" y1="87014" x2="10313" y2="94028"/>
                        <a14:foregroundMark x1="10313" y1="94028" x2="19141" y2="97222"/>
                        <a14:foregroundMark x1="19141" y1="97222" x2="36484" y2="97222"/>
                        <a14:foregroundMark x1="36484" y1="97222" x2="58828" y2="97500"/>
                        <a14:foregroundMark x1="58828" y1="97500" x2="88477" y2="92361"/>
                        <a14:foregroundMark x1="88477" y1="92361" x2="90742" y2="84931"/>
                        <a14:foregroundMark x1="90742" y1="84931" x2="91367" y2="67778"/>
                        <a14:foregroundMark x1="91367" y1="67778" x2="90781" y2="60208"/>
                        <a14:foregroundMark x1="90781" y1="60208" x2="90313" y2="58542"/>
                        <a14:backgroundMark x1="47969" y1="45139" x2="52344" y2="37778"/>
                        <a14:backgroundMark x1="52344" y1="37778" x2="57773" y2="42153"/>
                        <a14:backgroundMark x1="57773" y1="42153" x2="64219" y2="43681"/>
                        <a14:backgroundMark x1="64219" y1="43681" x2="68867" y2="41042"/>
                        <a14:backgroundMark x1="68867" y1="41042" x2="82031" y2="47014"/>
                        <a14:backgroundMark x1="82031" y1="47014" x2="88477" y2="44236"/>
                        <a14:backgroundMark x1="88477" y1="44236" x2="91563" y2="39722"/>
                        <a14:backgroundMark x1="91563" y1="39722" x2="88789" y2="43125"/>
                        <a14:backgroundMark x1="88789" y1="43125" x2="85078" y2="40833"/>
                        <a14:backgroundMark x1="85078" y1="40833" x2="77813" y2="43819"/>
                        <a14:backgroundMark x1="77813" y1="43819" x2="73281" y2="40833"/>
                        <a14:backgroundMark x1="73281" y1="40833" x2="73906" y2="393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3739"/>
          <a:stretch/>
        </p:blipFill>
        <p:spPr>
          <a:xfrm>
            <a:off x="-4691743" y="1407873"/>
            <a:ext cx="17765486" cy="5622204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852D9AF5-ACBC-0B06-5B44-8A4916CD5FF2}"/>
              </a:ext>
            </a:extLst>
          </p:cNvPr>
          <p:cNvGrpSpPr/>
          <p:nvPr/>
        </p:nvGrpSpPr>
        <p:grpSpPr>
          <a:xfrm>
            <a:off x="4572000" y="2962656"/>
            <a:ext cx="3096768" cy="2597119"/>
            <a:chOff x="510540" y="2965802"/>
            <a:chExt cx="3096768" cy="2597119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9A8687C-FA1B-2888-7101-A3881BB070FE}"/>
                </a:ext>
              </a:extLst>
            </p:cNvPr>
            <p:cNvSpPr txBox="1"/>
            <p:nvPr/>
          </p:nvSpPr>
          <p:spPr>
            <a:xfrm>
              <a:off x="510540" y="3777817"/>
              <a:ext cx="3096768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  <a:latin typeface="Montserrat" pitchFamily="2" charset="0"/>
                </a:rPr>
                <a:t>Rating Prediction</a:t>
              </a:r>
            </a:p>
            <a:p>
              <a:pPr>
                <a:spcBef>
                  <a:spcPts val="1200"/>
                </a:spcBef>
              </a:pPr>
              <a:r>
                <a:rPr lang="en-US" sz="2000" dirty="0">
                  <a:solidFill>
                    <a:srgbClr val="000000"/>
                  </a:solidFill>
                  <a:latin typeface="Candara Light" panose="020E0502030303020204" pitchFamily="34" charset="0"/>
                </a:rPr>
                <a:t>Build machine learning model to predict IMDb ratings using movie features.</a:t>
              </a:r>
              <a:endParaRPr lang="en-IN" sz="2000" dirty="0">
                <a:solidFill>
                  <a:srgbClr val="000000"/>
                </a:solidFill>
                <a:latin typeface="Candara Light" panose="020E0502030303020204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57BCD19-40C8-CABA-0EAF-124C4D80C24B}"/>
                </a:ext>
              </a:extLst>
            </p:cNvPr>
            <p:cNvSpPr txBox="1"/>
            <p:nvPr/>
          </p:nvSpPr>
          <p:spPr>
            <a:xfrm>
              <a:off x="510540" y="2965802"/>
              <a:ext cx="309676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000000"/>
                  </a:solidFill>
                  <a:latin typeface="Montserrat" pitchFamily="2" charset="0"/>
                </a:rPr>
                <a:t>05</a:t>
              </a:r>
              <a:endParaRPr lang="en-IN" sz="4000" dirty="0">
                <a:solidFill>
                  <a:srgbClr val="000000"/>
                </a:solidFill>
                <a:latin typeface="Montserrat" pitchFamily="2" charset="0"/>
              </a:endParaRPr>
            </a:p>
          </p:txBody>
        </p:sp>
      </p:grp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000FA52-2501-C0B0-3F50-FDEA96F5C9E9}"/>
              </a:ext>
            </a:extLst>
          </p:cNvPr>
          <p:cNvSpPr/>
          <p:nvPr/>
        </p:nvSpPr>
        <p:spPr>
          <a:xfrm>
            <a:off x="829927" y="2763225"/>
            <a:ext cx="3096768" cy="3532986"/>
          </a:xfrm>
          <a:prstGeom prst="roundRect">
            <a:avLst>
              <a:gd name="adj" fmla="val 11500"/>
            </a:avLst>
          </a:prstGeom>
          <a:solidFill>
            <a:srgbClr val="B2D8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D3C70EA-AA33-416A-7516-BB7A2A720426}"/>
              </a:ext>
            </a:extLst>
          </p:cNvPr>
          <p:cNvGrpSpPr/>
          <p:nvPr/>
        </p:nvGrpSpPr>
        <p:grpSpPr>
          <a:xfrm>
            <a:off x="914400" y="2965802"/>
            <a:ext cx="3096768" cy="2597119"/>
            <a:chOff x="510540" y="2965802"/>
            <a:chExt cx="3096768" cy="259711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0C6788D-457F-B878-7F1D-21D05EBB7336}"/>
                </a:ext>
              </a:extLst>
            </p:cNvPr>
            <p:cNvSpPr txBox="1"/>
            <p:nvPr/>
          </p:nvSpPr>
          <p:spPr>
            <a:xfrm>
              <a:off x="510540" y="3777817"/>
              <a:ext cx="3096768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  <a:latin typeface="Montserrat" pitchFamily="2" charset="0"/>
                </a:rPr>
                <a:t>Genre Trend Analysis</a:t>
              </a:r>
            </a:p>
            <a:p>
              <a:pPr>
                <a:spcBef>
                  <a:spcPts val="1200"/>
                </a:spcBef>
              </a:pPr>
              <a:r>
                <a:rPr lang="en-US" sz="2000" dirty="0">
                  <a:solidFill>
                    <a:srgbClr val="000000"/>
                  </a:solidFill>
                  <a:latin typeface="Candara Light" panose="020E0502030303020204" pitchFamily="34" charset="0"/>
                </a:rPr>
                <a:t>Understand how audience preferences for movie genres have evolved over time.</a:t>
              </a:r>
              <a:endParaRPr lang="en-IN" sz="2000" dirty="0">
                <a:solidFill>
                  <a:srgbClr val="000000"/>
                </a:solidFill>
                <a:latin typeface="Candara Light" panose="020E050203030302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CA096E0-440A-F08B-C723-E6056C904F10}"/>
                </a:ext>
              </a:extLst>
            </p:cNvPr>
            <p:cNvSpPr txBox="1"/>
            <p:nvPr/>
          </p:nvSpPr>
          <p:spPr>
            <a:xfrm>
              <a:off x="510540" y="2965802"/>
              <a:ext cx="309676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000000"/>
                  </a:solidFill>
                  <a:latin typeface="Montserrat" pitchFamily="2" charset="0"/>
                </a:rPr>
                <a:t>04</a:t>
              </a:r>
              <a:endParaRPr lang="en-IN" sz="4000" dirty="0">
                <a:solidFill>
                  <a:srgbClr val="000000"/>
                </a:solidFill>
                <a:latin typeface="Montserrat" pitchFamily="2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E8B55B1-6FAD-EE61-51FB-0D997B62B648}"/>
              </a:ext>
            </a:extLst>
          </p:cNvPr>
          <p:cNvGrpSpPr/>
          <p:nvPr/>
        </p:nvGrpSpPr>
        <p:grpSpPr>
          <a:xfrm>
            <a:off x="8229600" y="2965802"/>
            <a:ext cx="3096768" cy="2597119"/>
            <a:chOff x="510540" y="2965802"/>
            <a:chExt cx="3096768" cy="2597119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D5C513F-B080-7170-E424-91AD4E4C06B0}"/>
                </a:ext>
              </a:extLst>
            </p:cNvPr>
            <p:cNvSpPr txBox="1"/>
            <p:nvPr/>
          </p:nvSpPr>
          <p:spPr>
            <a:xfrm>
              <a:off x="510540" y="3777817"/>
              <a:ext cx="3096768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  <a:latin typeface="Montserrat" pitchFamily="2" charset="0"/>
                </a:rPr>
                <a:t>Recommendation System</a:t>
              </a:r>
            </a:p>
            <a:p>
              <a:pPr>
                <a:spcBef>
                  <a:spcPts val="1200"/>
                </a:spcBef>
              </a:pPr>
              <a:r>
                <a:rPr lang="en-US" sz="2000" dirty="0">
                  <a:solidFill>
                    <a:srgbClr val="000000"/>
                  </a:solidFill>
                  <a:latin typeface="Candara Light" panose="020E0502030303020204" pitchFamily="34" charset="0"/>
                </a:rPr>
                <a:t>Develop content-based recommendation system to suggest similar movies.</a:t>
              </a:r>
              <a:endParaRPr lang="en-IN" sz="2000" dirty="0">
                <a:solidFill>
                  <a:srgbClr val="000000"/>
                </a:solidFill>
                <a:latin typeface="Candara Light" panose="020E050203030302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44492ED-C8D5-ABA2-6A5B-A09A5A5524F4}"/>
                </a:ext>
              </a:extLst>
            </p:cNvPr>
            <p:cNvSpPr txBox="1"/>
            <p:nvPr/>
          </p:nvSpPr>
          <p:spPr>
            <a:xfrm>
              <a:off x="510540" y="2965802"/>
              <a:ext cx="309676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000000"/>
                  </a:solidFill>
                  <a:latin typeface="Montserrat" pitchFamily="2" charset="0"/>
                </a:rPr>
                <a:t>03</a:t>
              </a:r>
              <a:endParaRPr lang="en-IN" sz="4000" dirty="0">
                <a:solidFill>
                  <a:srgbClr val="000000"/>
                </a:solidFill>
                <a:latin typeface="Montserrat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1596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BE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285D46B-5267-07CA-0A87-692EEE1B79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90872" y="-2922774"/>
            <a:ext cx="17765486" cy="99930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A08B55-E93E-E4EC-27A1-F760BB004017}"/>
              </a:ext>
            </a:extLst>
          </p:cNvPr>
          <p:cNvSpPr txBox="1"/>
          <p:nvPr/>
        </p:nvSpPr>
        <p:spPr>
          <a:xfrm>
            <a:off x="2305050" y="705920"/>
            <a:ext cx="7581900" cy="132343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latin typeface="Montserrat Black" pitchFamily="50" charset="0"/>
                <a:cs typeface="Mongolian Baiti" panose="03000500000000000000" pitchFamily="66" charset="0"/>
              </a:rPr>
              <a:t>AGENDA</a:t>
            </a:r>
            <a:endParaRPr lang="en-IN" sz="8000" dirty="0">
              <a:solidFill>
                <a:schemeClr val="bg1"/>
              </a:solidFill>
              <a:latin typeface="Montserrat Black" pitchFamily="50" charset="0"/>
              <a:cs typeface="Mongolian Baiti" panose="03000500000000000000" pitchFamily="66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B9EE9E-9F45-39BF-09AB-A0C9CBC7D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2361" l="10000" r="91406">
                        <a14:foregroundMark x1="13242" y1="60278" x2="23047" y2="57986"/>
                        <a14:foregroundMark x1="23047" y1="57986" x2="43047" y2="70556"/>
                        <a14:foregroundMark x1="43047" y1="70556" x2="66836" y2="64792"/>
                        <a14:foregroundMark x1="66836" y1="64792" x2="55664" y2="74931"/>
                        <a14:foregroundMark x1="55664" y1="74931" x2="75195" y2="63889"/>
                        <a14:foregroundMark x1="75195" y1="63889" x2="84219" y2="65972"/>
                        <a14:foregroundMark x1="84219" y1="65972" x2="87344" y2="69306"/>
                        <a14:foregroundMark x1="87344" y1="69306" x2="89766" y2="67431"/>
                        <a14:foregroundMark x1="86797" y1="72500" x2="58125" y2="82222"/>
                        <a14:foregroundMark x1="58125" y1="82222" x2="52773" y2="80208"/>
                        <a14:foregroundMark x1="52773" y1="80208" x2="31484" y2="82431"/>
                        <a14:foregroundMark x1="31484" y1="82431" x2="17930" y2="74167"/>
                        <a14:foregroundMark x1="17930" y1="74167" x2="12461" y2="65903"/>
                        <a14:foregroundMark x1="11328" y1="56250" x2="11563" y2="79653"/>
                        <a14:foregroundMark x1="11563" y1="79653" x2="45078" y2="87361"/>
                        <a14:foregroundMark x1="45078" y1="87361" x2="85586" y2="84028"/>
                        <a14:foregroundMark x1="85586" y1="84028" x2="87930" y2="78264"/>
                        <a14:foregroundMark x1="87930" y1="78264" x2="89844" y2="61875"/>
                        <a14:foregroundMark x1="89844" y1="61875" x2="84922" y2="56319"/>
                        <a14:foregroundMark x1="84922" y1="56319" x2="77695" y2="55694"/>
                        <a14:foregroundMark x1="90078" y1="55625" x2="91445" y2="61597"/>
                        <a14:foregroundMark x1="91445" y1="61597" x2="86250" y2="83403"/>
                        <a14:foregroundMark x1="86250" y1="83403" x2="70977" y2="86875"/>
                        <a14:foregroundMark x1="70977" y1="86875" x2="19336" y2="85347"/>
                        <a14:foregroundMark x1="19336" y1="85347" x2="14414" y2="80903"/>
                        <a14:foregroundMark x1="8633" y1="52431" x2="8906" y2="87014"/>
                        <a14:foregroundMark x1="8906" y1="87014" x2="10313" y2="94028"/>
                        <a14:foregroundMark x1="10313" y1="94028" x2="19141" y2="97222"/>
                        <a14:foregroundMark x1="19141" y1="97222" x2="36484" y2="97222"/>
                        <a14:foregroundMark x1="36484" y1="97222" x2="58828" y2="97500"/>
                        <a14:foregroundMark x1="58828" y1="97500" x2="88477" y2="92361"/>
                        <a14:foregroundMark x1="88477" y1="92361" x2="90742" y2="84931"/>
                        <a14:foregroundMark x1="90742" y1="84931" x2="91367" y2="67778"/>
                        <a14:foregroundMark x1="91367" y1="67778" x2="90781" y2="60208"/>
                        <a14:foregroundMark x1="90781" y1="60208" x2="90313" y2="58542"/>
                        <a14:backgroundMark x1="47969" y1="45139" x2="52344" y2="37778"/>
                        <a14:backgroundMark x1="52344" y1="37778" x2="57773" y2="42153"/>
                        <a14:backgroundMark x1="57773" y1="42153" x2="64219" y2="43681"/>
                        <a14:backgroundMark x1="64219" y1="43681" x2="68867" y2="41042"/>
                        <a14:backgroundMark x1="68867" y1="41042" x2="82031" y2="47014"/>
                        <a14:backgroundMark x1="82031" y1="47014" x2="88477" y2="44236"/>
                        <a14:backgroundMark x1="88477" y1="44236" x2="91563" y2="39722"/>
                        <a14:backgroundMark x1="91563" y1="39722" x2="88789" y2="43125"/>
                        <a14:backgroundMark x1="88789" y1="43125" x2="85078" y2="40833"/>
                        <a14:backgroundMark x1="85078" y1="40833" x2="77813" y2="43819"/>
                        <a14:backgroundMark x1="77813" y1="43819" x2="73281" y2="40833"/>
                        <a14:backgroundMark x1="73281" y1="40833" x2="73906" y2="393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3739"/>
          <a:stretch/>
        </p:blipFill>
        <p:spPr>
          <a:xfrm>
            <a:off x="-4690872" y="1407873"/>
            <a:ext cx="17765486" cy="5622204"/>
          </a:xfrm>
          <a:prstGeom prst="rect">
            <a:avLst/>
          </a:prstGeom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000FA52-2501-C0B0-3F50-FDEA96F5C9E9}"/>
              </a:ext>
            </a:extLst>
          </p:cNvPr>
          <p:cNvSpPr/>
          <p:nvPr/>
        </p:nvSpPr>
        <p:spPr>
          <a:xfrm>
            <a:off x="4319887" y="2763225"/>
            <a:ext cx="3096768" cy="3532986"/>
          </a:xfrm>
          <a:prstGeom prst="roundRect">
            <a:avLst>
              <a:gd name="adj" fmla="val 11500"/>
            </a:avLst>
          </a:prstGeom>
          <a:solidFill>
            <a:srgbClr val="AD8A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D3C70EA-AA33-416A-7516-BB7A2A720426}"/>
              </a:ext>
            </a:extLst>
          </p:cNvPr>
          <p:cNvGrpSpPr/>
          <p:nvPr/>
        </p:nvGrpSpPr>
        <p:grpSpPr>
          <a:xfrm>
            <a:off x="914400" y="2965802"/>
            <a:ext cx="3096768" cy="2597119"/>
            <a:chOff x="510540" y="2965802"/>
            <a:chExt cx="3096768" cy="259711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0C6788D-457F-B878-7F1D-21D05EBB7336}"/>
                </a:ext>
              </a:extLst>
            </p:cNvPr>
            <p:cNvSpPr txBox="1"/>
            <p:nvPr/>
          </p:nvSpPr>
          <p:spPr>
            <a:xfrm>
              <a:off x="510540" y="3777817"/>
              <a:ext cx="3096768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Montserrat" pitchFamily="2" charset="0"/>
                </a:rPr>
                <a:t>Genre Trend Analysis</a:t>
              </a:r>
            </a:p>
            <a:p>
              <a:pPr>
                <a:spcBef>
                  <a:spcPts val="1200"/>
                </a:spcBef>
              </a:pPr>
              <a:r>
                <a:rPr lang="en-US" sz="20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Understand how audience preferences for movie genres have evolved over time.</a:t>
              </a:r>
              <a:endParaRPr lang="en-IN" sz="2000" dirty="0">
                <a:solidFill>
                  <a:schemeClr val="bg1"/>
                </a:solidFill>
                <a:latin typeface="Candara Light" panose="020E050203030302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CA096E0-440A-F08B-C723-E6056C904F10}"/>
                </a:ext>
              </a:extLst>
            </p:cNvPr>
            <p:cNvSpPr txBox="1"/>
            <p:nvPr/>
          </p:nvSpPr>
          <p:spPr>
            <a:xfrm>
              <a:off x="510540" y="2965802"/>
              <a:ext cx="309676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chemeClr val="bg1"/>
                  </a:solidFill>
                  <a:latin typeface="Montserrat" pitchFamily="2" charset="0"/>
                </a:rPr>
                <a:t>04</a:t>
              </a:r>
              <a:endParaRPr lang="en-IN" sz="4000" dirty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E8B55B1-6FAD-EE61-51FB-0D997B62B648}"/>
              </a:ext>
            </a:extLst>
          </p:cNvPr>
          <p:cNvGrpSpPr/>
          <p:nvPr/>
        </p:nvGrpSpPr>
        <p:grpSpPr>
          <a:xfrm>
            <a:off x="8229600" y="2965802"/>
            <a:ext cx="3096768" cy="2597119"/>
            <a:chOff x="510540" y="2965802"/>
            <a:chExt cx="3096768" cy="2597119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D5C513F-B080-7170-E424-91AD4E4C06B0}"/>
                </a:ext>
              </a:extLst>
            </p:cNvPr>
            <p:cNvSpPr txBox="1"/>
            <p:nvPr/>
          </p:nvSpPr>
          <p:spPr>
            <a:xfrm>
              <a:off x="510540" y="3777817"/>
              <a:ext cx="3096768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  <a:latin typeface="Montserrat" pitchFamily="2" charset="0"/>
                </a:rPr>
                <a:t>Recommendation System</a:t>
              </a:r>
            </a:p>
            <a:p>
              <a:pPr>
                <a:spcBef>
                  <a:spcPts val="1200"/>
                </a:spcBef>
              </a:pPr>
              <a:r>
                <a:rPr lang="en-US" sz="2000" dirty="0">
                  <a:solidFill>
                    <a:srgbClr val="000000"/>
                  </a:solidFill>
                  <a:latin typeface="Candara Light" panose="020E0502030303020204" pitchFamily="34" charset="0"/>
                </a:rPr>
                <a:t>Develop content-based recommendation system to suggest similar movies.</a:t>
              </a:r>
              <a:endParaRPr lang="en-IN" sz="2000" dirty="0">
                <a:solidFill>
                  <a:srgbClr val="000000"/>
                </a:solidFill>
                <a:latin typeface="Candara Light" panose="020E050203030302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44492ED-C8D5-ABA2-6A5B-A09A5A5524F4}"/>
                </a:ext>
              </a:extLst>
            </p:cNvPr>
            <p:cNvSpPr txBox="1"/>
            <p:nvPr/>
          </p:nvSpPr>
          <p:spPr>
            <a:xfrm>
              <a:off x="510540" y="2965802"/>
              <a:ext cx="309676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000000"/>
                  </a:solidFill>
                  <a:latin typeface="Montserrat" pitchFamily="2" charset="0"/>
                </a:rPr>
                <a:t>03</a:t>
              </a:r>
              <a:endParaRPr lang="en-IN" sz="4000" dirty="0">
                <a:solidFill>
                  <a:srgbClr val="000000"/>
                </a:solidFill>
                <a:latin typeface="Montserrat" pitchFamily="2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52D9AF5-ACBC-0B06-5B44-8A4916CD5FF2}"/>
              </a:ext>
            </a:extLst>
          </p:cNvPr>
          <p:cNvGrpSpPr/>
          <p:nvPr/>
        </p:nvGrpSpPr>
        <p:grpSpPr>
          <a:xfrm>
            <a:off x="4572000" y="2962656"/>
            <a:ext cx="3096768" cy="2597119"/>
            <a:chOff x="510540" y="2965802"/>
            <a:chExt cx="3096768" cy="2597119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9A8687C-FA1B-2888-7101-A3881BB070FE}"/>
                </a:ext>
              </a:extLst>
            </p:cNvPr>
            <p:cNvSpPr txBox="1"/>
            <p:nvPr/>
          </p:nvSpPr>
          <p:spPr>
            <a:xfrm>
              <a:off x="510540" y="3777817"/>
              <a:ext cx="3096768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  <a:latin typeface="Montserrat" pitchFamily="2" charset="0"/>
                </a:rPr>
                <a:t>Rating Prediction</a:t>
              </a:r>
            </a:p>
            <a:p>
              <a:pPr>
                <a:spcBef>
                  <a:spcPts val="1200"/>
                </a:spcBef>
              </a:pPr>
              <a:r>
                <a:rPr lang="en-US" sz="2000" dirty="0">
                  <a:solidFill>
                    <a:srgbClr val="000000"/>
                  </a:solidFill>
                  <a:latin typeface="Candara Light" panose="020E0502030303020204" pitchFamily="34" charset="0"/>
                </a:rPr>
                <a:t>Build machine learning model to predict IMDb ratings using movie features.</a:t>
              </a:r>
              <a:endParaRPr lang="en-IN" sz="2000" dirty="0">
                <a:solidFill>
                  <a:srgbClr val="000000"/>
                </a:solidFill>
                <a:latin typeface="Candara Light" panose="020E0502030303020204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57BCD19-40C8-CABA-0EAF-124C4D80C24B}"/>
                </a:ext>
              </a:extLst>
            </p:cNvPr>
            <p:cNvSpPr txBox="1"/>
            <p:nvPr/>
          </p:nvSpPr>
          <p:spPr>
            <a:xfrm>
              <a:off x="510540" y="2965802"/>
              <a:ext cx="309676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000000"/>
                  </a:solidFill>
                  <a:latin typeface="Montserrat" pitchFamily="2" charset="0"/>
                </a:rPr>
                <a:t>05</a:t>
              </a:r>
              <a:endParaRPr lang="en-IN" sz="4000" dirty="0">
                <a:solidFill>
                  <a:srgbClr val="000000"/>
                </a:solidFill>
                <a:latin typeface="Montserrat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517535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BE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285D46B-5267-07CA-0A87-692EEE1B79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90872" y="-2922774"/>
            <a:ext cx="17765486" cy="99930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A08B55-E93E-E4EC-27A1-F760BB004017}"/>
              </a:ext>
            </a:extLst>
          </p:cNvPr>
          <p:cNvSpPr txBox="1"/>
          <p:nvPr/>
        </p:nvSpPr>
        <p:spPr>
          <a:xfrm>
            <a:off x="2305050" y="705920"/>
            <a:ext cx="7581900" cy="132343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latin typeface="Montserrat Black" pitchFamily="50" charset="0"/>
                <a:cs typeface="Mongolian Baiti" panose="03000500000000000000" pitchFamily="66" charset="0"/>
              </a:rPr>
              <a:t>AGENDA</a:t>
            </a:r>
            <a:endParaRPr lang="en-IN" sz="8000" dirty="0">
              <a:solidFill>
                <a:schemeClr val="bg1"/>
              </a:solidFill>
              <a:latin typeface="Montserrat Black" pitchFamily="50" charset="0"/>
              <a:cs typeface="Mongolian Baiti" panose="03000500000000000000" pitchFamily="66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B9EE9E-9F45-39BF-09AB-A0C9CBC7D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2361" l="10000" r="91406">
                        <a14:foregroundMark x1="13242" y1="60278" x2="23047" y2="57986"/>
                        <a14:foregroundMark x1="23047" y1="57986" x2="43047" y2="70556"/>
                        <a14:foregroundMark x1="43047" y1="70556" x2="66836" y2="64792"/>
                        <a14:foregroundMark x1="66836" y1="64792" x2="55664" y2="74931"/>
                        <a14:foregroundMark x1="55664" y1="74931" x2="75195" y2="63889"/>
                        <a14:foregroundMark x1="75195" y1="63889" x2="84219" y2="65972"/>
                        <a14:foregroundMark x1="84219" y1="65972" x2="87344" y2="69306"/>
                        <a14:foregroundMark x1="87344" y1="69306" x2="89766" y2="67431"/>
                        <a14:foregroundMark x1="86797" y1="72500" x2="58125" y2="82222"/>
                        <a14:foregroundMark x1="58125" y1="82222" x2="52773" y2="80208"/>
                        <a14:foregroundMark x1="52773" y1="80208" x2="31484" y2="82431"/>
                        <a14:foregroundMark x1="31484" y1="82431" x2="17930" y2="74167"/>
                        <a14:foregroundMark x1="17930" y1="74167" x2="12461" y2="65903"/>
                        <a14:foregroundMark x1="11328" y1="56250" x2="11563" y2="79653"/>
                        <a14:foregroundMark x1="11563" y1="79653" x2="45078" y2="87361"/>
                        <a14:foregroundMark x1="45078" y1="87361" x2="85586" y2="84028"/>
                        <a14:foregroundMark x1="85586" y1="84028" x2="87930" y2="78264"/>
                        <a14:foregroundMark x1="87930" y1="78264" x2="89844" y2="61875"/>
                        <a14:foregroundMark x1="89844" y1="61875" x2="84922" y2="56319"/>
                        <a14:foregroundMark x1="84922" y1="56319" x2="77695" y2="55694"/>
                        <a14:foregroundMark x1="90078" y1="55625" x2="91445" y2="61597"/>
                        <a14:foregroundMark x1="91445" y1="61597" x2="86250" y2="83403"/>
                        <a14:foregroundMark x1="86250" y1="83403" x2="70977" y2="86875"/>
                        <a14:foregroundMark x1="70977" y1="86875" x2="19336" y2="85347"/>
                        <a14:foregroundMark x1="19336" y1="85347" x2="14414" y2="80903"/>
                        <a14:foregroundMark x1="8633" y1="52431" x2="8906" y2="87014"/>
                        <a14:foregroundMark x1="8906" y1="87014" x2="10313" y2="94028"/>
                        <a14:foregroundMark x1="10313" y1="94028" x2="19141" y2="97222"/>
                        <a14:foregroundMark x1="19141" y1="97222" x2="36484" y2="97222"/>
                        <a14:foregroundMark x1="36484" y1="97222" x2="58828" y2="97500"/>
                        <a14:foregroundMark x1="58828" y1="97500" x2="88477" y2="92361"/>
                        <a14:foregroundMark x1="88477" y1="92361" x2="90742" y2="84931"/>
                        <a14:foregroundMark x1="90742" y1="84931" x2="91367" y2="67778"/>
                        <a14:foregroundMark x1="91367" y1="67778" x2="90781" y2="60208"/>
                        <a14:foregroundMark x1="90781" y1="60208" x2="90313" y2="58542"/>
                        <a14:backgroundMark x1="47969" y1="45139" x2="52344" y2="37778"/>
                        <a14:backgroundMark x1="52344" y1="37778" x2="57773" y2="42153"/>
                        <a14:backgroundMark x1="57773" y1="42153" x2="64219" y2="43681"/>
                        <a14:backgroundMark x1="64219" y1="43681" x2="68867" y2="41042"/>
                        <a14:backgroundMark x1="68867" y1="41042" x2="82031" y2="47014"/>
                        <a14:backgroundMark x1="82031" y1="47014" x2="88477" y2="44236"/>
                        <a14:backgroundMark x1="88477" y1="44236" x2="91563" y2="39722"/>
                        <a14:backgroundMark x1="91563" y1="39722" x2="88789" y2="43125"/>
                        <a14:backgroundMark x1="88789" y1="43125" x2="85078" y2="40833"/>
                        <a14:backgroundMark x1="85078" y1="40833" x2="77813" y2="43819"/>
                        <a14:backgroundMark x1="77813" y1="43819" x2="73281" y2="40833"/>
                        <a14:backgroundMark x1="73281" y1="40833" x2="73906" y2="393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3739"/>
          <a:stretch/>
        </p:blipFill>
        <p:spPr>
          <a:xfrm>
            <a:off x="-4690872" y="1407873"/>
            <a:ext cx="17765486" cy="5622204"/>
          </a:xfrm>
          <a:prstGeom prst="rect">
            <a:avLst/>
          </a:prstGeom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000FA52-2501-C0B0-3F50-FDEA96F5C9E9}"/>
              </a:ext>
            </a:extLst>
          </p:cNvPr>
          <p:cNvSpPr/>
          <p:nvPr/>
        </p:nvSpPr>
        <p:spPr>
          <a:xfrm>
            <a:off x="8076547" y="2763225"/>
            <a:ext cx="3096768" cy="3532986"/>
          </a:xfrm>
          <a:prstGeom prst="roundRect">
            <a:avLst>
              <a:gd name="adj" fmla="val 11500"/>
            </a:avLst>
          </a:prstGeom>
          <a:solidFill>
            <a:srgbClr val="E3DA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D3C70EA-AA33-416A-7516-BB7A2A720426}"/>
              </a:ext>
            </a:extLst>
          </p:cNvPr>
          <p:cNvGrpSpPr/>
          <p:nvPr/>
        </p:nvGrpSpPr>
        <p:grpSpPr>
          <a:xfrm>
            <a:off x="914400" y="2965802"/>
            <a:ext cx="3096768" cy="2597119"/>
            <a:chOff x="510540" y="2965802"/>
            <a:chExt cx="3096768" cy="259711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0C6788D-457F-B878-7F1D-21D05EBB7336}"/>
                </a:ext>
              </a:extLst>
            </p:cNvPr>
            <p:cNvSpPr txBox="1"/>
            <p:nvPr/>
          </p:nvSpPr>
          <p:spPr>
            <a:xfrm>
              <a:off x="510540" y="3777817"/>
              <a:ext cx="3096768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Montserrat" pitchFamily="2" charset="0"/>
                </a:rPr>
                <a:t>Genre Trend Analysis</a:t>
              </a:r>
            </a:p>
            <a:p>
              <a:pPr>
                <a:spcBef>
                  <a:spcPts val="1200"/>
                </a:spcBef>
              </a:pPr>
              <a:r>
                <a:rPr lang="en-US" sz="20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Understand how audience preferences for movie genres have evolved over time.</a:t>
              </a:r>
              <a:endParaRPr lang="en-IN" sz="2000" dirty="0">
                <a:solidFill>
                  <a:schemeClr val="bg1"/>
                </a:solidFill>
                <a:latin typeface="Candara Light" panose="020E050203030302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CA096E0-440A-F08B-C723-E6056C904F10}"/>
                </a:ext>
              </a:extLst>
            </p:cNvPr>
            <p:cNvSpPr txBox="1"/>
            <p:nvPr/>
          </p:nvSpPr>
          <p:spPr>
            <a:xfrm>
              <a:off x="510540" y="2965802"/>
              <a:ext cx="309676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chemeClr val="bg1"/>
                  </a:solidFill>
                  <a:latin typeface="Montserrat" pitchFamily="2" charset="0"/>
                </a:rPr>
                <a:t>04</a:t>
              </a:r>
              <a:endParaRPr lang="en-IN" sz="4000" dirty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E8B55B1-6FAD-EE61-51FB-0D997B62B648}"/>
              </a:ext>
            </a:extLst>
          </p:cNvPr>
          <p:cNvGrpSpPr/>
          <p:nvPr/>
        </p:nvGrpSpPr>
        <p:grpSpPr>
          <a:xfrm>
            <a:off x="8229600" y="2965802"/>
            <a:ext cx="3096768" cy="2597119"/>
            <a:chOff x="510540" y="2965802"/>
            <a:chExt cx="3096768" cy="2597119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D5C513F-B080-7170-E424-91AD4E4C06B0}"/>
                </a:ext>
              </a:extLst>
            </p:cNvPr>
            <p:cNvSpPr txBox="1"/>
            <p:nvPr/>
          </p:nvSpPr>
          <p:spPr>
            <a:xfrm>
              <a:off x="510540" y="3777817"/>
              <a:ext cx="3096768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  <a:latin typeface="Montserrat" pitchFamily="2" charset="0"/>
                </a:rPr>
                <a:t>Recommendation System</a:t>
              </a:r>
            </a:p>
            <a:p>
              <a:pPr>
                <a:spcBef>
                  <a:spcPts val="1200"/>
                </a:spcBef>
              </a:pPr>
              <a:r>
                <a:rPr lang="en-US" sz="2000" dirty="0">
                  <a:solidFill>
                    <a:srgbClr val="000000"/>
                  </a:solidFill>
                  <a:latin typeface="Candara Light" panose="020E0502030303020204" pitchFamily="34" charset="0"/>
                </a:rPr>
                <a:t>Develop content-based recommendation system to suggest similar movies.</a:t>
              </a:r>
              <a:endParaRPr lang="en-IN" sz="2000" dirty="0">
                <a:solidFill>
                  <a:srgbClr val="000000"/>
                </a:solidFill>
                <a:latin typeface="Candara Light" panose="020E050203030302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44492ED-C8D5-ABA2-6A5B-A09A5A5524F4}"/>
                </a:ext>
              </a:extLst>
            </p:cNvPr>
            <p:cNvSpPr txBox="1"/>
            <p:nvPr/>
          </p:nvSpPr>
          <p:spPr>
            <a:xfrm>
              <a:off x="510540" y="2965802"/>
              <a:ext cx="309676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000000"/>
                  </a:solidFill>
                  <a:latin typeface="Montserrat" pitchFamily="2" charset="0"/>
                </a:rPr>
                <a:t>06</a:t>
              </a:r>
              <a:endParaRPr lang="en-IN" sz="4000" dirty="0">
                <a:solidFill>
                  <a:srgbClr val="000000"/>
                </a:solidFill>
                <a:latin typeface="Montserrat" pitchFamily="2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52D9AF5-ACBC-0B06-5B44-8A4916CD5FF2}"/>
              </a:ext>
            </a:extLst>
          </p:cNvPr>
          <p:cNvGrpSpPr/>
          <p:nvPr/>
        </p:nvGrpSpPr>
        <p:grpSpPr>
          <a:xfrm>
            <a:off x="4572000" y="2962656"/>
            <a:ext cx="3096768" cy="2597119"/>
            <a:chOff x="510540" y="2965802"/>
            <a:chExt cx="3096768" cy="2597119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9A8687C-FA1B-2888-7101-A3881BB070FE}"/>
                </a:ext>
              </a:extLst>
            </p:cNvPr>
            <p:cNvSpPr txBox="1"/>
            <p:nvPr/>
          </p:nvSpPr>
          <p:spPr>
            <a:xfrm>
              <a:off x="510540" y="3777817"/>
              <a:ext cx="3096768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Montserrat" pitchFamily="2" charset="0"/>
                </a:rPr>
                <a:t>Rating Prediction</a:t>
              </a:r>
            </a:p>
            <a:p>
              <a:pPr>
                <a:spcBef>
                  <a:spcPts val="1200"/>
                </a:spcBef>
              </a:pPr>
              <a:r>
                <a:rPr lang="en-US" sz="20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Build machine learning model to predict IMDb ratings using movie features.</a:t>
              </a:r>
              <a:endParaRPr lang="en-IN" sz="2000" dirty="0">
                <a:solidFill>
                  <a:schemeClr val="bg1"/>
                </a:solidFill>
                <a:latin typeface="Candara Light" panose="020E0502030303020204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57BCD19-40C8-CABA-0EAF-124C4D80C24B}"/>
                </a:ext>
              </a:extLst>
            </p:cNvPr>
            <p:cNvSpPr txBox="1"/>
            <p:nvPr/>
          </p:nvSpPr>
          <p:spPr>
            <a:xfrm>
              <a:off x="510540" y="2965802"/>
              <a:ext cx="309676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chemeClr val="bg1"/>
                  </a:solidFill>
                  <a:latin typeface="Montserrat" pitchFamily="2" charset="0"/>
                </a:rPr>
                <a:t>05</a:t>
              </a:r>
              <a:endParaRPr lang="en-IN" sz="4000" dirty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41479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0105D2CD-E974-FD14-8257-F5A0BF6CE4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8952" y="0"/>
            <a:ext cx="13720064" cy="7717536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853B333B-0CAE-FBD4-D0EF-780FA8E191B9}"/>
              </a:ext>
            </a:extLst>
          </p:cNvPr>
          <p:cNvGrpSpPr/>
          <p:nvPr/>
        </p:nvGrpSpPr>
        <p:grpSpPr>
          <a:xfrm>
            <a:off x="-1184826" y="0"/>
            <a:ext cx="3278753" cy="6858000"/>
            <a:chOff x="9189720" y="0"/>
            <a:chExt cx="3278753" cy="685800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8465745-6225-43CA-5004-F1DD86CF5BFD}"/>
                </a:ext>
              </a:extLst>
            </p:cNvPr>
            <p:cNvGrpSpPr/>
            <p:nvPr/>
          </p:nvGrpSpPr>
          <p:grpSpPr>
            <a:xfrm>
              <a:off x="9189720" y="0"/>
              <a:ext cx="3063240" cy="6858000"/>
              <a:chOff x="9189720" y="0"/>
              <a:chExt cx="3063240" cy="6858000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2D5C989-BF75-5CFC-C15A-CAE9A92A257A}"/>
                  </a:ext>
                </a:extLst>
              </p:cNvPr>
              <p:cNvSpPr/>
              <p:nvPr/>
            </p:nvSpPr>
            <p:spPr>
              <a:xfrm>
                <a:off x="9189720" y="0"/>
                <a:ext cx="3063240" cy="6858000"/>
              </a:xfrm>
              <a:prstGeom prst="rect">
                <a:avLst/>
              </a:prstGeom>
              <a:solidFill>
                <a:srgbClr val="F6F1E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5337B4D-D2F8-DDE9-80DB-5718D45EE376}"/>
                  </a:ext>
                </a:extLst>
              </p:cNvPr>
              <p:cNvSpPr txBox="1"/>
              <p:nvPr/>
            </p:nvSpPr>
            <p:spPr>
              <a:xfrm>
                <a:off x="9939462" y="371061"/>
                <a:ext cx="1563757" cy="2400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0" dirty="0">
                    <a:solidFill>
                      <a:srgbClr val="463D34"/>
                    </a:solidFill>
                    <a:latin typeface="Montserrat" pitchFamily="2" charset="0"/>
                  </a:rPr>
                  <a:t>D</a:t>
                </a:r>
                <a:endParaRPr lang="en-IN" sz="15000" dirty="0">
                  <a:solidFill>
                    <a:srgbClr val="463D34"/>
                  </a:solidFill>
                  <a:latin typeface="Montserrat" pitchFamily="2" charset="0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8FB2E44-D2F1-FA3D-4264-92E2D6E9A2A7}"/>
                  </a:ext>
                </a:extLst>
              </p:cNvPr>
              <p:cNvSpPr txBox="1"/>
              <p:nvPr/>
            </p:nvSpPr>
            <p:spPr>
              <a:xfrm>
                <a:off x="9580493" y="2844224"/>
                <a:ext cx="2281694" cy="29674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400" dirty="0">
                    <a:solidFill>
                      <a:srgbClr val="291F16"/>
                    </a:solidFill>
                    <a:latin typeface="Montserrat" pitchFamily="2" charset="0"/>
                  </a:rPr>
                  <a:t>SCRAPING STRATEGY</a:t>
                </a:r>
              </a:p>
              <a:p>
                <a:pPr algn="just"/>
                <a:endParaRPr lang="en-US" sz="1400" dirty="0">
                  <a:latin typeface="Montserrat" pitchFamily="2" charset="0"/>
                </a:endParaRPr>
              </a:p>
              <a:p>
                <a:r>
                  <a:rPr lang="en-US" sz="1400" dirty="0">
                    <a:solidFill>
                      <a:srgbClr val="463D34"/>
                    </a:solidFill>
                    <a:latin typeface="Candara" panose="020E0502030303020204" pitchFamily="34" charset="0"/>
                  </a:rPr>
                  <a:t>The scraping process is divided into two main stages:</a:t>
                </a:r>
              </a:p>
              <a:p>
                <a:endParaRPr lang="en-US" sz="1400" dirty="0">
                  <a:solidFill>
                    <a:srgbClr val="463D34"/>
                  </a:solidFill>
                  <a:latin typeface="Candara" panose="020E0502030303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1400" b="1" dirty="0">
                    <a:solidFill>
                      <a:srgbClr val="463D34"/>
                    </a:solidFill>
                    <a:latin typeface="Candara" panose="020E0502030303020204" pitchFamily="34" charset="0"/>
                  </a:rPr>
                  <a:t>Collecting Movie Links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1400" b="1" dirty="0">
                    <a:solidFill>
                      <a:srgbClr val="463D34"/>
                    </a:solidFill>
                    <a:latin typeface="Candara" panose="020E0502030303020204" pitchFamily="34" charset="0"/>
                  </a:rPr>
                  <a:t>Scraping Movie Details from the links.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1400" b="1" dirty="0">
                    <a:solidFill>
                      <a:srgbClr val="463D34"/>
                    </a:solidFill>
                    <a:latin typeface="Candara" panose="020E0502030303020204" pitchFamily="34" charset="0"/>
                  </a:rPr>
                  <a:t>( Avoid blocking from IMDb servers )</a:t>
                </a:r>
              </a:p>
            </p:txBody>
          </p:sp>
        </p:grpSp>
        <p:sp>
          <p:nvSpPr>
            <p:cNvPr id="39" name="Isosceles Triangle 38">
              <a:extLst>
                <a:ext uri="{FF2B5EF4-FFF2-40B4-BE49-F238E27FC236}">
                  <a16:creationId xmlns:a16="http://schemas.microsoft.com/office/drawing/2014/main" id="{A22BF06F-87C5-576D-0494-41E57E38570C}"/>
                </a:ext>
              </a:extLst>
            </p:cNvPr>
            <p:cNvSpPr/>
            <p:nvPr/>
          </p:nvSpPr>
          <p:spPr>
            <a:xfrm rot="5400000">
              <a:off x="12163673" y="1266588"/>
              <a:ext cx="390940" cy="218661"/>
            </a:xfrm>
            <a:prstGeom prst="triangle">
              <a:avLst/>
            </a:prstGeom>
            <a:solidFill>
              <a:srgbClr val="F6F1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E8DE487-40EC-1D05-5066-E4B065762CEF}"/>
              </a:ext>
            </a:extLst>
          </p:cNvPr>
          <p:cNvGrpSpPr/>
          <p:nvPr/>
        </p:nvGrpSpPr>
        <p:grpSpPr>
          <a:xfrm>
            <a:off x="-1643186" y="0"/>
            <a:ext cx="3281901" cy="6858000"/>
            <a:chOff x="6126480" y="0"/>
            <a:chExt cx="3281901" cy="6858000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C1959B24-59E9-4BFA-70FC-C04B33A863D1}"/>
                </a:ext>
              </a:extLst>
            </p:cNvPr>
            <p:cNvGrpSpPr/>
            <p:nvPr/>
          </p:nvGrpSpPr>
          <p:grpSpPr>
            <a:xfrm>
              <a:off x="6126480" y="0"/>
              <a:ext cx="3063240" cy="6858000"/>
              <a:chOff x="6126480" y="0"/>
              <a:chExt cx="3063240" cy="6858000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4171518-D53D-E7FF-C96F-59036FB10CB1}"/>
                  </a:ext>
                </a:extLst>
              </p:cNvPr>
              <p:cNvSpPr/>
              <p:nvPr/>
            </p:nvSpPr>
            <p:spPr>
              <a:xfrm>
                <a:off x="6126480" y="0"/>
                <a:ext cx="3063240" cy="6858000"/>
              </a:xfrm>
              <a:prstGeom prst="rect">
                <a:avLst/>
              </a:prstGeom>
              <a:solidFill>
                <a:srgbClr val="E8DBC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3DD4545-4B3F-0B65-BF4E-25975C5DC3D6}"/>
                  </a:ext>
                </a:extLst>
              </p:cNvPr>
              <p:cNvSpPr txBox="1"/>
              <p:nvPr/>
            </p:nvSpPr>
            <p:spPr>
              <a:xfrm>
                <a:off x="6876222" y="371061"/>
                <a:ext cx="1563757" cy="2400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0" dirty="0">
                    <a:solidFill>
                      <a:srgbClr val="463D34"/>
                    </a:solidFill>
                    <a:latin typeface="Montserrat" pitchFamily="2" charset="0"/>
                  </a:rPr>
                  <a:t>C</a:t>
                </a:r>
                <a:endParaRPr lang="en-IN" sz="15000" dirty="0">
                  <a:solidFill>
                    <a:srgbClr val="463D34"/>
                  </a:solidFill>
                  <a:latin typeface="Montserrat" pitchFamily="2" charset="0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014C8C9-5983-5D4E-12C5-FE06DAFFBC49}"/>
                  </a:ext>
                </a:extLst>
              </p:cNvPr>
              <p:cNvSpPr txBox="1"/>
              <p:nvPr/>
            </p:nvSpPr>
            <p:spPr>
              <a:xfrm>
                <a:off x="6505956" y="2844224"/>
                <a:ext cx="2304288" cy="2859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400" dirty="0">
                    <a:solidFill>
                      <a:srgbClr val="291F16"/>
                    </a:solidFill>
                    <a:latin typeface="Montserrat" pitchFamily="2" charset="0"/>
                  </a:rPr>
                  <a:t>TOOLS SELECTION</a:t>
                </a:r>
              </a:p>
              <a:p>
                <a:pPr algn="just"/>
                <a:endParaRPr lang="en-US" sz="1400" dirty="0">
                  <a:latin typeface="Montserrat" pitchFamily="2" charset="0"/>
                </a:endParaRPr>
              </a:p>
              <a:p>
                <a:r>
                  <a:rPr lang="en-US" sz="1400" dirty="0">
                    <a:solidFill>
                      <a:srgbClr val="463D34"/>
                    </a:solidFill>
                    <a:latin typeface="Candara" panose="020E0502030303020204" pitchFamily="34" charset="0"/>
                  </a:rPr>
                  <a:t>As the dataset is large enough, tool preference is a important factor based on the website you’re scraping.</a:t>
                </a:r>
              </a:p>
              <a:p>
                <a:endParaRPr lang="en-US" sz="1400" dirty="0">
                  <a:solidFill>
                    <a:srgbClr val="463D34"/>
                  </a:solidFill>
                  <a:latin typeface="Candara" panose="020E0502030303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1400" b="1" dirty="0">
                    <a:solidFill>
                      <a:srgbClr val="463D34"/>
                    </a:solidFill>
                    <a:latin typeface="Candara" panose="020E0502030303020204" pitchFamily="34" charset="0"/>
                  </a:rPr>
                  <a:t>Beautiful Soup or Selenium?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1400" b="1" dirty="0">
                    <a:solidFill>
                      <a:srgbClr val="463D34"/>
                    </a:solidFill>
                    <a:latin typeface="Candara" panose="020E0502030303020204" pitchFamily="34" charset="0"/>
                  </a:rPr>
                  <a:t>Or Hybrid (Selenium + Beautiful Soup) ?</a:t>
                </a:r>
              </a:p>
            </p:txBody>
          </p:sp>
        </p:grp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F41345B0-4DF6-ACF5-8A4A-340C36422FBB}"/>
                </a:ext>
              </a:extLst>
            </p:cNvPr>
            <p:cNvSpPr/>
            <p:nvPr/>
          </p:nvSpPr>
          <p:spPr>
            <a:xfrm rot="5400000">
              <a:off x="9103581" y="1270906"/>
              <a:ext cx="390940" cy="218661"/>
            </a:xfrm>
            <a:prstGeom prst="triangle">
              <a:avLst/>
            </a:prstGeom>
            <a:solidFill>
              <a:srgbClr val="E8DBC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36A5908-4EA4-9094-7CA7-8CA08F06B46B}"/>
              </a:ext>
            </a:extLst>
          </p:cNvPr>
          <p:cNvGrpSpPr/>
          <p:nvPr/>
        </p:nvGrpSpPr>
        <p:grpSpPr>
          <a:xfrm>
            <a:off x="-2124033" y="0"/>
            <a:ext cx="3281901" cy="6858000"/>
            <a:chOff x="3063240" y="0"/>
            <a:chExt cx="3281901" cy="6858000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566F352-B26C-56E4-FD3D-6EAC3FB1882A}"/>
                </a:ext>
              </a:extLst>
            </p:cNvPr>
            <p:cNvGrpSpPr/>
            <p:nvPr/>
          </p:nvGrpSpPr>
          <p:grpSpPr>
            <a:xfrm>
              <a:off x="3063240" y="0"/>
              <a:ext cx="3063240" cy="6858000"/>
              <a:chOff x="3063240" y="0"/>
              <a:chExt cx="3063240" cy="6858000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8AC50EF-7C39-9FFE-F1A9-1B52A06F53D0}"/>
                  </a:ext>
                </a:extLst>
              </p:cNvPr>
              <p:cNvSpPr/>
              <p:nvPr/>
            </p:nvSpPr>
            <p:spPr>
              <a:xfrm>
                <a:off x="3063240" y="0"/>
                <a:ext cx="3063240" cy="6858000"/>
              </a:xfrm>
              <a:prstGeom prst="rect">
                <a:avLst/>
              </a:prstGeom>
              <a:solidFill>
                <a:srgbClr val="D7C3A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2B4DE18-8732-DB5C-5B86-470F3DAA89E0}"/>
                  </a:ext>
                </a:extLst>
              </p:cNvPr>
              <p:cNvSpPr txBox="1"/>
              <p:nvPr/>
            </p:nvSpPr>
            <p:spPr>
              <a:xfrm>
                <a:off x="3812982" y="371061"/>
                <a:ext cx="1563757" cy="2400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0" dirty="0">
                    <a:solidFill>
                      <a:srgbClr val="463D34"/>
                    </a:solidFill>
                    <a:latin typeface="Montserrat" pitchFamily="2" charset="0"/>
                  </a:rPr>
                  <a:t>B</a:t>
                </a:r>
                <a:endParaRPr lang="en-IN" sz="15000" dirty="0">
                  <a:solidFill>
                    <a:srgbClr val="463D34"/>
                  </a:solidFill>
                  <a:latin typeface="Montserrat" pitchFamily="2" charset="0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15CB2A8-9599-4F96-3A74-C301C951EE9A}"/>
                  </a:ext>
                </a:extLst>
              </p:cNvPr>
              <p:cNvSpPr txBox="1"/>
              <p:nvPr/>
            </p:nvSpPr>
            <p:spPr>
              <a:xfrm>
                <a:off x="3454013" y="2844224"/>
                <a:ext cx="2281694" cy="31828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rgbClr val="291F16"/>
                    </a:solidFill>
                    <a:latin typeface="Montserrat" pitchFamily="2" charset="0"/>
                  </a:rPr>
                  <a:t>DATA SOURCE</a:t>
                </a:r>
              </a:p>
              <a:p>
                <a:pPr algn="just"/>
                <a:endParaRPr lang="en-US" sz="1400" dirty="0">
                  <a:latin typeface="Montserrat" pitchFamily="2" charset="0"/>
                </a:endParaRPr>
              </a:p>
              <a:p>
                <a:r>
                  <a:rPr lang="en-US" sz="1400" dirty="0">
                    <a:solidFill>
                      <a:srgbClr val="463D34"/>
                    </a:solidFill>
                    <a:latin typeface="Candara" panose="020E0502030303020204" pitchFamily="34" charset="0"/>
                  </a:rPr>
                  <a:t>Data is collected from different IMDb listing pages to prevent biasness while training the model.</a:t>
                </a:r>
              </a:p>
              <a:p>
                <a:endParaRPr lang="en-US" sz="1400" dirty="0">
                  <a:solidFill>
                    <a:srgbClr val="463D34"/>
                  </a:solidFill>
                  <a:latin typeface="Candara" panose="020E0502030303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1400" b="1" dirty="0">
                    <a:solidFill>
                      <a:srgbClr val="463D34"/>
                    </a:solidFill>
                    <a:latin typeface="Candara" panose="020E0502030303020204" pitchFamily="34" charset="0"/>
                  </a:rPr>
                  <a:t>Top Rated (8-10)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1400" b="1" dirty="0">
                    <a:solidFill>
                      <a:srgbClr val="463D34"/>
                    </a:solidFill>
                    <a:latin typeface="Candara" panose="020E0502030303020204" pitchFamily="34" charset="0"/>
                  </a:rPr>
                  <a:t>Most Popular (votes)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1400" b="1" dirty="0">
                    <a:solidFill>
                      <a:srgbClr val="463D34"/>
                    </a:solidFill>
                    <a:latin typeface="Candara" panose="020E0502030303020204" pitchFamily="34" charset="0"/>
                  </a:rPr>
                  <a:t>Mid Rated (5-8)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1400" b="1" dirty="0">
                    <a:solidFill>
                      <a:srgbClr val="463D34"/>
                    </a:solidFill>
                    <a:latin typeface="Candara" panose="020E0502030303020204" pitchFamily="34" charset="0"/>
                  </a:rPr>
                  <a:t>Low Rated (1-5)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1400" b="1" dirty="0">
                    <a:solidFill>
                      <a:srgbClr val="463D34"/>
                    </a:solidFill>
                    <a:latin typeface="Candara" panose="020E0502030303020204" pitchFamily="34" charset="0"/>
                  </a:rPr>
                  <a:t>Old Movies (1980-2000)</a:t>
                </a:r>
              </a:p>
            </p:txBody>
          </p:sp>
        </p:grp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DC93A1A2-3DDF-F1D2-C38A-671FCAE43D6B}"/>
                </a:ext>
              </a:extLst>
            </p:cNvPr>
            <p:cNvSpPr/>
            <p:nvPr/>
          </p:nvSpPr>
          <p:spPr>
            <a:xfrm rot="5400000">
              <a:off x="6040341" y="1266588"/>
              <a:ext cx="390940" cy="218661"/>
            </a:xfrm>
            <a:prstGeom prst="triangle">
              <a:avLst/>
            </a:prstGeom>
            <a:solidFill>
              <a:srgbClr val="D7C3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3CC0D11-19F5-1CCC-379D-FFE4C445CD4F}"/>
              </a:ext>
            </a:extLst>
          </p:cNvPr>
          <p:cNvGrpSpPr/>
          <p:nvPr/>
        </p:nvGrpSpPr>
        <p:grpSpPr>
          <a:xfrm>
            <a:off x="-2593119" y="0"/>
            <a:ext cx="3281900" cy="6858000"/>
            <a:chOff x="0" y="0"/>
            <a:chExt cx="3281900" cy="6858000"/>
          </a:xfrm>
        </p:grpSpPr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ACDD176B-511F-473F-6E07-C3EFA904466A}"/>
                </a:ext>
              </a:extLst>
            </p:cNvPr>
            <p:cNvSpPr/>
            <p:nvPr/>
          </p:nvSpPr>
          <p:spPr>
            <a:xfrm rot="5400000">
              <a:off x="2977100" y="1266589"/>
              <a:ext cx="390940" cy="218661"/>
            </a:xfrm>
            <a:prstGeom prst="triangle">
              <a:avLst/>
            </a:prstGeom>
            <a:solidFill>
              <a:srgbClr val="C8AC8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05829EC-B0E7-C5B8-6F98-B551BA6EB274}"/>
                </a:ext>
              </a:extLst>
            </p:cNvPr>
            <p:cNvGrpSpPr/>
            <p:nvPr/>
          </p:nvGrpSpPr>
          <p:grpSpPr>
            <a:xfrm>
              <a:off x="0" y="0"/>
              <a:ext cx="3063240" cy="6858000"/>
              <a:chOff x="0" y="0"/>
              <a:chExt cx="3063240" cy="6858000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B612684-7C2E-8422-F46B-7982044D18D0}"/>
                  </a:ext>
                </a:extLst>
              </p:cNvPr>
              <p:cNvSpPr/>
              <p:nvPr/>
            </p:nvSpPr>
            <p:spPr>
              <a:xfrm>
                <a:off x="0" y="0"/>
                <a:ext cx="3063240" cy="6858000"/>
              </a:xfrm>
              <a:prstGeom prst="rect">
                <a:avLst/>
              </a:prstGeom>
              <a:solidFill>
                <a:srgbClr val="C8AC8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07739FD-007B-C215-A7A1-C49AC46BABBF}"/>
                  </a:ext>
                </a:extLst>
              </p:cNvPr>
              <p:cNvSpPr txBox="1"/>
              <p:nvPr/>
            </p:nvSpPr>
            <p:spPr>
              <a:xfrm>
                <a:off x="749742" y="371061"/>
                <a:ext cx="1563757" cy="2400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0" dirty="0">
                    <a:solidFill>
                      <a:srgbClr val="463D34"/>
                    </a:solidFill>
                    <a:latin typeface="Montserrat" pitchFamily="2" charset="0"/>
                  </a:rPr>
                  <a:t>A</a:t>
                </a:r>
                <a:endParaRPr lang="en-IN" sz="15000" dirty="0">
                  <a:solidFill>
                    <a:srgbClr val="463D34"/>
                  </a:solidFill>
                  <a:latin typeface="Montserrat" pitchFamily="2" charset="0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505D7FD-C74A-0EBB-E915-0BAAD22A9ACE}"/>
                  </a:ext>
                </a:extLst>
              </p:cNvPr>
              <p:cNvSpPr txBox="1"/>
              <p:nvPr/>
            </p:nvSpPr>
            <p:spPr>
              <a:xfrm>
                <a:off x="390773" y="2844224"/>
                <a:ext cx="2281694" cy="3075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400" dirty="0">
                    <a:solidFill>
                      <a:srgbClr val="291F16"/>
                    </a:solidFill>
                    <a:latin typeface="Montserrat" pitchFamily="2" charset="0"/>
                  </a:rPr>
                  <a:t>FEATURE SELECTION</a:t>
                </a:r>
              </a:p>
              <a:p>
                <a:pPr algn="just"/>
                <a:endParaRPr lang="en-US" sz="1400" dirty="0">
                  <a:latin typeface="Montserrat" pitchFamily="2" charset="0"/>
                </a:endParaRPr>
              </a:p>
              <a:p>
                <a:r>
                  <a:rPr lang="en-US" sz="1400" dirty="0">
                    <a:solidFill>
                      <a:srgbClr val="463D34"/>
                    </a:solidFill>
                    <a:latin typeface="Candara" panose="020E0502030303020204" pitchFamily="34" charset="0"/>
                  </a:rPr>
                  <a:t>Before Scraping we defined key features required for analysis, and these features  were selected based on their analytical importance.</a:t>
                </a:r>
              </a:p>
              <a:p>
                <a:endParaRPr lang="en-US" sz="1400" dirty="0">
                  <a:solidFill>
                    <a:srgbClr val="463D34"/>
                  </a:solidFill>
                  <a:latin typeface="Candara" panose="020E0502030303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1400" b="1" dirty="0">
                    <a:solidFill>
                      <a:srgbClr val="463D34"/>
                    </a:solidFill>
                    <a:latin typeface="Candara" panose="020E0502030303020204" pitchFamily="34" charset="0"/>
                  </a:rPr>
                  <a:t>Movie Information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1400" b="1" dirty="0">
                    <a:solidFill>
                      <a:srgbClr val="463D34"/>
                    </a:solidFill>
                    <a:latin typeface="Candara" panose="020E0502030303020204" pitchFamily="34" charset="0"/>
                  </a:rPr>
                  <a:t>Rating &amp; Popularity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1400" b="1" dirty="0">
                    <a:solidFill>
                      <a:srgbClr val="463D34"/>
                    </a:solidFill>
                    <a:latin typeface="Candara" panose="020E0502030303020204" pitchFamily="34" charset="0"/>
                  </a:rPr>
                  <a:t>Content Attributes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1400" b="1" dirty="0">
                    <a:solidFill>
                      <a:srgbClr val="463D34"/>
                    </a:solidFill>
                    <a:latin typeface="Candara" panose="020E0502030303020204" pitchFamily="34" charset="0"/>
                  </a:rPr>
                  <a:t>Financial Features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39515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100">
        <p:push/>
      </p:transition>
    </mc:Choice>
    <mc:Fallback xmlns="">
      <p:transition spd="slow" advClick="0" advTm="100">
        <p:push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0105D2CD-E974-FD14-8257-F5A0BF6CE4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0" y="0"/>
            <a:ext cx="13716000" cy="7715250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853B333B-0CAE-FBD4-D0EF-780FA8E191B9}"/>
              </a:ext>
            </a:extLst>
          </p:cNvPr>
          <p:cNvGrpSpPr/>
          <p:nvPr/>
        </p:nvGrpSpPr>
        <p:grpSpPr>
          <a:xfrm>
            <a:off x="-1184826" y="0"/>
            <a:ext cx="3278753" cy="6858000"/>
            <a:chOff x="9189720" y="0"/>
            <a:chExt cx="3278753" cy="685800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8465745-6225-43CA-5004-F1DD86CF5BFD}"/>
                </a:ext>
              </a:extLst>
            </p:cNvPr>
            <p:cNvGrpSpPr/>
            <p:nvPr/>
          </p:nvGrpSpPr>
          <p:grpSpPr>
            <a:xfrm>
              <a:off x="9189720" y="0"/>
              <a:ext cx="3063240" cy="6858000"/>
              <a:chOff x="9189720" y="0"/>
              <a:chExt cx="3063240" cy="6858000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2D5C989-BF75-5CFC-C15A-CAE9A92A257A}"/>
                  </a:ext>
                </a:extLst>
              </p:cNvPr>
              <p:cNvSpPr/>
              <p:nvPr/>
            </p:nvSpPr>
            <p:spPr>
              <a:xfrm>
                <a:off x="9189720" y="0"/>
                <a:ext cx="3063240" cy="6858000"/>
              </a:xfrm>
              <a:prstGeom prst="rect">
                <a:avLst/>
              </a:prstGeom>
              <a:solidFill>
                <a:srgbClr val="F6F1E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5337B4D-D2F8-DDE9-80DB-5718D45EE376}"/>
                  </a:ext>
                </a:extLst>
              </p:cNvPr>
              <p:cNvSpPr txBox="1"/>
              <p:nvPr/>
            </p:nvSpPr>
            <p:spPr>
              <a:xfrm>
                <a:off x="9939462" y="371061"/>
                <a:ext cx="1563757" cy="2400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0" dirty="0">
                    <a:solidFill>
                      <a:srgbClr val="463D34"/>
                    </a:solidFill>
                    <a:latin typeface="Montserrat" pitchFamily="2" charset="0"/>
                  </a:rPr>
                  <a:t>D</a:t>
                </a:r>
                <a:endParaRPr lang="en-IN" sz="15000" dirty="0">
                  <a:solidFill>
                    <a:srgbClr val="463D34"/>
                  </a:solidFill>
                  <a:latin typeface="Montserrat" pitchFamily="2" charset="0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8FB2E44-D2F1-FA3D-4264-92E2D6E9A2A7}"/>
                  </a:ext>
                </a:extLst>
              </p:cNvPr>
              <p:cNvSpPr txBox="1"/>
              <p:nvPr/>
            </p:nvSpPr>
            <p:spPr>
              <a:xfrm>
                <a:off x="9580493" y="2844224"/>
                <a:ext cx="2281694" cy="29674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400" dirty="0">
                    <a:solidFill>
                      <a:srgbClr val="291F16"/>
                    </a:solidFill>
                    <a:latin typeface="Montserrat" pitchFamily="2" charset="0"/>
                  </a:rPr>
                  <a:t>SCRAPING STRATEGY</a:t>
                </a:r>
              </a:p>
              <a:p>
                <a:pPr algn="just"/>
                <a:endParaRPr lang="en-US" sz="1400" dirty="0">
                  <a:latin typeface="Montserrat" pitchFamily="2" charset="0"/>
                </a:endParaRPr>
              </a:p>
              <a:p>
                <a:r>
                  <a:rPr lang="en-US" sz="1400" dirty="0">
                    <a:solidFill>
                      <a:srgbClr val="463D34"/>
                    </a:solidFill>
                    <a:latin typeface="Candara" panose="020E0502030303020204" pitchFamily="34" charset="0"/>
                  </a:rPr>
                  <a:t>The scraping process is divided into two main stages:</a:t>
                </a:r>
              </a:p>
              <a:p>
                <a:endParaRPr lang="en-US" sz="1400" dirty="0">
                  <a:solidFill>
                    <a:srgbClr val="463D34"/>
                  </a:solidFill>
                  <a:latin typeface="Candara" panose="020E0502030303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1400" b="1" dirty="0">
                    <a:solidFill>
                      <a:srgbClr val="463D34"/>
                    </a:solidFill>
                    <a:latin typeface="Candara" panose="020E0502030303020204" pitchFamily="34" charset="0"/>
                  </a:rPr>
                  <a:t>Collecting Movie Links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1400" b="1" dirty="0">
                    <a:solidFill>
                      <a:srgbClr val="463D34"/>
                    </a:solidFill>
                    <a:latin typeface="Candara" panose="020E0502030303020204" pitchFamily="34" charset="0"/>
                  </a:rPr>
                  <a:t>Scraping Movie Details from the links.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1400" b="1" dirty="0">
                    <a:solidFill>
                      <a:srgbClr val="463D34"/>
                    </a:solidFill>
                    <a:latin typeface="Candara" panose="020E0502030303020204" pitchFamily="34" charset="0"/>
                  </a:rPr>
                  <a:t>( Avoid blocking from IMDb servers )</a:t>
                </a:r>
              </a:p>
            </p:txBody>
          </p:sp>
        </p:grpSp>
        <p:sp>
          <p:nvSpPr>
            <p:cNvPr id="39" name="Isosceles Triangle 38">
              <a:extLst>
                <a:ext uri="{FF2B5EF4-FFF2-40B4-BE49-F238E27FC236}">
                  <a16:creationId xmlns:a16="http://schemas.microsoft.com/office/drawing/2014/main" id="{A22BF06F-87C5-576D-0494-41E57E38570C}"/>
                </a:ext>
              </a:extLst>
            </p:cNvPr>
            <p:cNvSpPr/>
            <p:nvPr/>
          </p:nvSpPr>
          <p:spPr>
            <a:xfrm rot="5400000">
              <a:off x="12163673" y="1266588"/>
              <a:ext cx="390940" cy="218661"/>
            </a:xfrm>
            <a:prstGeom prst="triangle">
              <a:avLst/>
            </a:prstGeom>
            <a:solidFill>
              <a:srgbClr val="F6F1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E8DE487-40EC-1D05-5066-E4B065762CEF}"/>
              </a:ext>
            </a:extLst>
          </p:cNvPr>
          <p:cNvGrpSpPr/>
          <p:nvPr/>
        </p:nvGrpSpPr>
        <p:grpSpPr>
          <a:xfrm>
            <a:off x="-1643186" y="0"/>
            <a:ext cx="3281901" cy="6858000"/>
            <a:chOff x="6126480" y="0"/>
            <a:chExt cx="3281901" cy="6858000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C1959B24-59E9-4BFA-70FC-C04B33A863D1}"/>
                </a:ext>
              </a:extLst>
            </p:cNvPr>
            <p:cNvGrpSpPr/>
            <p:nvPr/>
          </p:nvGrpSpPr>
          <p:grpSpPr>
            <a:xfrm>
              <a:off x="6126480" y="0"/>
              <a:ext cx="3063240" cy="6858000"/>
              <a:chOff x="6126480" y="0"/>
              <a:chExt cx="3063240" cy="6858000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4171518-D53D-E7FF-C96F-59036FB10CB1}"/>
                  </a:ext>
                </a:extLst>
              </p:cNvPr>
              <p:cNvSpPr/>
              <p:nvPr/>
            </p:nvSpPr>
            <p:spPr>
              <a:xfrm>
                <a:off x="6126480" y="0"/>
                <a:ext cx="3063240" cy="6858000"/>
              </a:xfrm>
              <a:prstGeom prst="rect">
                <a:avLst/>
              </a:prstGeom>
              <a:solidFill>
                <a:srgbClr val="E8DBC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3DD4545-4B3F-0B65-BF4E-25975C5DC3D6}"/>
                  </a:ext>
                </a:extLst>
              </p:cNvPr>
              <p:cNvSpPr txBox="1"/>
              <p:nvPr/>
            </p:nvSpPr>
            <p:spPr>
              <a:xfrm>
                <a:off x="6876222" y="371061"/>
                <a:ext cx="1563757" cy="2400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0" dirty="0">
                    <a:solidFill>
                      <a:srgbClr val="463D34"/>
                    </a:solidFill>
                    <a:latin typeface="Montserrat" pitchFamily="2" charset="0"/>
                  </a:rPr>
                  <a:t>C</a:t>
                </a:r>
                <a:endParaRPr lang="en-IN" sz="15000" dirty="0">
                  <a:solidFill>
                    <a:srgbClr val="463D34"/>
                  </a:solidFill>
                  <a:latin typeface="Montserrat" pitchFamily="2" charset="0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014C8C9-5983-5D4E-12C5-FE06DAFFBC49}"/>
                  </a:ext>
                </a:extLst>
              </p:cNvPr>
              <p:cNvSpPr txBox="1"/>
              <p:nvPr/>
            </p:nvSpPr>
            <p:spPr>
              <a:xfrm>
                <a:off x="6505956" y="2844224"/>
                <a:ext cx="2304288" cy="2859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400" dirty="0">
                    <a:solidFill>
                      <a:srgbClr val="291F16"/>
                    </a:solidFill>
                    <a:latin typeface="Montserrat" pitchFamily="2" charset="0"/>
                  </a:rPr>
                  <a:t>TOOLS SELECTION</a:t>
                </a:r>
              </a:p>
              <a:p>
                <a:pPr algn="just"/>
                <a:endParaRPr lang="en-US" sz="1400" dirty="0">
                  <a:latin typeface="Montserrat" pitchFamily="2" charset="0"/>
                </a:endParaRPr>
              </a:p>
              <a:p>
                <a:r>
                  <a:rPr lang="en-US" sz="1400" dirty="0">
                    <a:solidFill>
                      <a:srgbClr val="463D34"/>
                    </a:solidFill>
                    <a:latin typeface="Candara" panose="020E0502030303020204" pitchFamily="34" charset="0"/>
                  </a:rPr>
                  <a:t>As the dataset is large enough, tool preference is a important factor based on the website you’re scraping.</a:t>
                </a:r>
              </a:p>
              <a:p>
                <a:endParaRPr lang="en-US" sz="1400" dirty="0">
                  <a:solidFill>
                    <a:srgbClr val="463D34"/>
                  </a:solidFill>
                  <a:latin typeface="Candara" panose="020E0502030303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1400" b="1" dirty="0">
                    <a:solidFill>
                      <a:srgbClr val="463D34"/>
                    </a:solidFill>
                    <a:latin typeface="Candara" panose="020E0502030303020204" pitchFamily="34" charset="0"/>
                  </a:rPr>
                  <a:t>Beautiful Soup or Selenium?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1400" b="1" dirty="0">
                    <a:solidFill>
                      <a:srgbClr val="463D34"/>
                    </a:solidFill>
                    <a:latin typeface="Candara" panose="020E0502030303020204" pitchFamily="34" charset="0"/>
                  </a:rPr>
                  <a:t>Or Hybrid (Selenium + Beautiful Soup) ?</a:t>
                </a:r>
              </a:p>
            </p:txBody>
          </p:sp>
        </p:grp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F41345B0-4DF6-ACF5-8A4A-340C36422FBB}"/>
                </a:ext>
              </a:extLst>
            </p:cNvPr>
            <p:cNvSpPr/>
            <p:nvPr/>
          </p:nvSpPr>
          <p:spPr>
            <a:xfrm rot="5400000">
              <a:off x="9103581" y="1270906"/>
              <a:ext cx="390940" cy="218661"/>
            </a:xfrm>
            <a:prstGeom prst="triangle">
              <a:avLst/>
            </a:prstGeom>
            <a:solidFill>
              <a:srgbClr val="E8DBC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36A5908-4EA4-9094-7CA7-8CA08F06B46B}"/>
              </a:ext>
            </a:extLst>
          </p:cNvPr>
          <p:cNvGrpSpPr/>
          <p:nvPr/>
        </p:nvGrpSpPr>
        <p:grpSpPr>
          <a:xfrm>
            <a:off x="-2124033" y="0"/>
            <a:ext cx="3281901" cy="6858000"/>
            <a:chOff x="3063240" y="0"/>
            <a:chExt cx="3281901" cy="6858000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566F352-B26C-56E4-FD3D-6EAC3FB1882A}"/>
                </a:ext>
              </a:extLst>
            </p:cNvPr>
            <p:cNvGrpSpPr/>
            <p:nvPr/>
          </p:nvGrpSpPr>
          <p:grpSpPr>
            <a:xfrm>
              <a:off x="3063240" y="0"/>
              <a:ext cx="3063240" cy="6858000"/>
              <a:chOff x="3063240" y="0"/>
              <a:chExt cx="3063240" cy="6858000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8AC50EF-7C39-9FFE-F1A9-1B52A06F53D0}"/>
                  </a:ext>
                </a:extLst>
              </p:cNvPr>
              <p:cNvSpPr/>
              <p:nvPr/>
            </p:nvSpPr>
            <p:spPr>
              <a:xfrm>
                <a:off x="3063240" y="0"/>
                <a:ext cx="3063240" cy="6858000"/>
              </a:xfrm>
              <a:prstGeom prst="rect">
                <a:avLst/>
              </a:prstGeom>
              <a:solidFill>
                <a:srgbClr val="D7C3A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2B4DE18-8732-DB5C-5B86-470F3DAA89E0}"/>
                  </a:ext>
                </a:extLst>
              </p:cNvPr>
              <p:cNvSpPr txBox="1"/>
              <p:nvPr/>
            </p:nvSpPr>
            <p:spPr>
              <a:xfrm>
                <a:off x="3812982" y="371061"/>
                <a:ext cx="1563757" cy="2400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0" dirty="0">
                    <a:solidFill>
                      <a:srgbClr val="463D34"/>
                    </a:solidFill>
                    <a:latin typeface="Montserrat" pitchFamily="2" charset="0"/>
                  </a:rPr>
                  <a:t>B</a:t>
                </a:r>
                <a:endParaRPr lang="en-IN" sz="15000" dirty="0">
                  <a:solidFill>
                    <a:srgbClr val="463D34"/>
                  </a:solidFill>
                  <a:latin typeface="Montserrat" pitchFamily="2" charset="0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15CB2A8-9599-4F96-3A74-C301C951EE9A}"/>
                  </a:ext>
                </a:extLst>
              </p:cNvPr>
              <p:cNvSpPr txBox="1"/>
              <p:nvPr/>
            </p:nvSpPr>
            <p:spPr>
              <a:xfrm>
                <a:off x="3454013" y="2844224"/>
                <a:ext cx="2281694" cy="31828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rgbClr val="291F16"/>
                    </a:solidFill>
                    <a:latin typeface="Montserrat" pitchFamily="2" charset="0"/>
                  </a:rPr>
                  <a:t>DATA SOURCE</a:t>
                </a:r>
              </a:p>
              <a:p>
                <a:pPr algn="just"/>
                <a:endParaRPr lang="en-US" sz="1400" dirty="0">
                  <a:latin typeface="Montserrat" pitchFamily="2" charset="0"/>
                </a:endParaRPr>
              </a:p>
              <a:p>
                <a:r>
                  <a:rPr lang="en-US" sz="1400" dirty="0">
                    <a:solidFill>
                      <a:srgbClr val="463D34"/>
                    </a:solidFill>
                    <a:latin typeface="Candara" panose="020E0502030303020204" pitchFamily="34" charset="0"/>
                  </a:rPr>
                  <a:t>Data is collected from different IMDb listing pages to prevent biasness while training the model.</a:t>
                </a:r>
              </a:p>
              <a:p>
                <a:endParaRPr lang="en-US" sz="1400" dirty="0">
                  <a:solidFill>
                    <a:srgbClr val="463D34"/>
                  </a:solidFill>
                  <a:latin typeface="Candara" panose="020E0502030303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1400" b="1" dirty="0">
                    <a:solidFill>
                      <a:srgbClr val="463D34"/>
                    </a:solidFill>
                    <a:latin typeface="Candara" panose="020E0502030303020204" pitchFamily="34" charset="0"/>
                  </a:rPr>
                  <a:t>Top Rated (8-10)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1400" b="1" dirty="0">
                    <a:solidFill>
                      <a:srgbClr val="463D34"/>
                    </a:solidFill>
                    <a:latin typeface="Candara" panose="020E0502030303020204" pitchFamily="34" charset="0"/>
                  </a:rPr>
                  <a:t>Most Popular (votes)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1400" b="1" dirty="0">
                    <a:solidFill>
                      <a:srgbClr val="463D34"/>
                    </a:solidFill>
                    <a:latin typeface="Candara" panose="020E0502030303020204" pitchFamily="34" charset="0"/>
                  </a:rPr>
                  <a:t>Mid Rated (5-8)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1400" b="1" dirty="0">
                    <a:solidFill>
                      <a:srgbClr val="463D34"/>
                    </a:solidFill>
                    <a:latin typeface="Candara" panose="020E0502030303020204" pitchFamily="34" charset="0"/>
                  </a:rPr>
                  <a:t>Low Rated (1-5)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1400" b="1" dirty="0">
                    <a:solidFill>
                      <a:srgbClr val="463D34"/>
                    </a:solidFill>
                    <a:latin typeface="Candara" panose="020E0502030303020204" pitchFamily="34" charset="0"/>
                  </a:rPr>
                  <a:t>Old Movies (1980-2000)</a:t>
                </a:r>
              </a:p>
            </p:txBody>
          </p:sp>
        </p:grp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DC93A1A2-3DDF-F1D2-C38A-671FCAE43D6B}"/>
                </a:ext>
              </a:extLst>
            </p:cNvPr>
            <p:cNvSpPr/>
            <p:nvPr/>
          </p:nvSpPr>
          <p:spPr>
            <a:xfrm rot="5400000">
              <a:off x="6040341" y="1266588"/>
              <a:ext cx="390940" cy="218661"/>
            </a:xfrm>
            <a:prstGeom prst="triangle">
              <a:avLst/>
            </a:prstGeom>
            <a:solidFill>
              <a:srgbClr val="D7C3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3CC0D11-19F5-1CCC-379D-FFE4C445CD4F}"/>
              </a:ext>
            </a:extLst>
          </p:cNvPr>
          <p:cNvGrpSpPr/>
          <p:nvPr/>
        </p:nvGrpSpPr>
        <p:grpSpPr>
          <a:xfrm>
            <a:off x="-2593119" y="0"/>
            <a:ext cx="3281900" cy="6858000"/>
            <a:chOff x="0" y="0"/>
            <a:chExt cx="3281900" cy="6858000"/>
          </a:xfrm>
        </p:grpSpPr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ACDD176B-511F-473F-6E07-C3EFA904466A}"/>
                </a:ext>
              </a:extLst>
            </p:cNvPr>
            <p:cNvSpPr/>
            <p:nvPr/>
          </p:nvSpPr>
          <p:spPr>
            <a:xfrm rot="5400000">
              <a:off x="2977100" y="1266589"/>
              <a:ext cx="390940" cy="218661"/>
            </a:xfrm>
            <a:prstGeom prst="triangle">
              <a:avLst/>
            </a:prstGeom>
            <a:solidFill>
              <a:srgbClr val="C8AC8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05829EC-B0E7-C5B8-6F98-B551BA6EB274}"/>
                </a:ext>
              </a:extLst>
            </p:cNvPr>
            <p:cNvGrpSpPr/>
            <p:nvPr/>
          </p:nvGrpSpPr>
          <p:grpSpPr>
            <a:xfrm>
              <a:off x="0" y="0"/>
              <a:ext cx="3063240" cy="6858000"/>
              <a:chOff x="0" y="0"/>
              <a:chExt cx="3063240" cy="6858000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B612684-7C2E-8422-F46B-7982044D18D0}"/>
                  </a:ext>
                </a:extLst>
              </p:cNvPr>
              <p:cNvSpPr/>
              <p:nvPr/>
            </p:nvSpPr>
            <p:spPr>
              <a:xfrm>
                <a:off x="0" y="0"/>
                <a:ext cx="3063240" cy="6858000"/>
              </a:xfrm>
              <a:prstGeom prst="rect">
                <a:avLst/>
              </a:prstGeom>
              <a:solidFill>
                <a:srgbClr val="C8AC8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07739FD-007B-C215-A7A1-C49AC46BABBF}"/>
                  </a:ext>
                </a:extLst>
              </p:cNvPr>
              <p:cNvSpPr txBox="1"/>
              <p:nvPr/>
            </p:nvSpPr>
            <p:spPr>
              <a:xfrm>
                <a:off x="749742" y="371061"/>
                <a:ext cx="1563757" cy="2400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0" dirty="0">
                    <a:solidFill>
                      <a:srgbClr val="463D34"/>
                    </a:solidFill>
                    <a:latin typeface="Montserrat" pitchFamily="2" charset="0"/>
                  </a:rPr>
                  <a:t>A</a:t>
                </a:r>
                <a:endParaRPr lang="en-IN" sz="15000" dirty="0">
                  <a:solidFill>
                    <a:srgbClr val="463D34"/>
                  </a:solidFill>
                  <a:latin typeface="Montserrat" pitchFamily="2" charset="0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505D7FD-C74A-0EBB-E915-0BAAD22A9ACE}"/>
                  </a:ext>
                </a:extLst>
              </p:cNvPr>
              <p:cNvSpPr txBox="1"/>
              <p:nvPr/>
            </p:nvSpPr>
            <p:spPr>
              <a:xfrm>
                <a:off x="390773" y="2844224"/>
                <a:ext cx="2281694" cy="3075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400" dirty="0">
                    <a:solidFill>
                      <a:srgbClr val="291F16"/>
                    </a:solidFill>
                    <a:latin typeface="Montserrat" pitchFamily="2" charset="0"/>
                  </a:rPr>
                  <a:t>FEATURE SELECTION</a:t>
                </a:r>
              </a:p>
              <a:p>
                <a:pPr algn="just"/>
                <a:endParaRPr lang="en-US" sz="1400" dirty="0">
                  <a:latin typeface="Montserrat" pitchFamily="2" charset="0"/>
                </a:endParaRPr>
              </a:p>
              <a:p>
                <a:r>
                  <a:rPr lang="en-US" sz="1400" dirty="0">
                    <a:solidFill>
                      <a:srgbClr val="463D34"/>
                    </a:solidFill>
                    <a:latin typeface="Candara" panose="020E0502030303020204" pitchFamily="34" charset="0"/>
                  </a:rPr>
                  <a:t>Before Scraping we defined key features required for analysis, and these features  were selected based on their analytical importance.</a:t>
                </a:r>
              </a:p>
              <a:p>
                <a:endParaRPr lang="en-US" sz="1400" dirty="0">
                  <a:solidFill>
                    <a:srgbClr val="463D34"/>
                  </a:solidFill>
                  <a:latin typeface="Candara" panose="020E0502030303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1400" b="1" dirty="0">
                    <a:solidFill>
                      <a:srgbClr val="463D34"/>
                    </a:solidFill>
                    <a:latin typeface="Candara" panose="020E0502030303020204" pitchFamily="34" charset="0"/>
                  </a:rPr>
                  <a:t>Movie Information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1400" b="1" dirty="0">
                    <a:solidFill>
                      <a:srgbClr val="463D34"/>
                    </a:solidFill>
                    <a:latin typeface="Candara" panose="020E0502030303020204" pitchFamily="34" charset="0"/>
                  </a:rPr>
                  <a:t>Rating &amp; Popularity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1400" b="1" dirty="0">
                    <a:solidFill>
                      <a:srgbClr val="463D34"/>
                    </a:solidFill>
                    <a:latin typeface="Candara" panose="020E0502030303020204" pitchFamily="34" charset="0"/>
                  </a:rPr>
                  <a:t>Content Attributes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1400" b="1" dirty="0">
                    <a:solidFill>
                      <a:srgbClr val="463D34"/>
                    </a:solidFill>
                    <a:latin typeface="Candara" panose="020E0502030303020204" pitchFamily="34" charset="0"/>
                  </a:rPr>
                  <a:t>Financial Features</a:t>
                </a: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6327B5F-F3B0-C0C5-CEBE-065288B7BA81}"/>
              </a:ext>
            </a:extLst>
          </p:cNvPr>
          <p:cNvSpPr txBox="1"/>
          <p:nvPr/>
        </p:nvSpPr>
        <p:spPr>
          <a:xfrm>
            <a:off x="2887981" y="555726"/>
            <a:ext cx="78181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0" dirty="0">
                <a:solidFill>
                  <a:srgbClr val="F6F1E3"/>
                </a:solidFill>
                <a:latin typeface="Montserrat" pitchFamily="2" charset="0"/>
              </a:rPr>
              <a:t>MOVIES SCRAPING</a:t>
            </a:r>
            <a:endParaRPr lang="en-IN" sz="6000" dirty="0">
              <a:solidFill>
                <a:srgbClr val="F6F1E3"/>
              </a:solidFill>
              <a:latin typeface="Montserrat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3EF331-5F82-3D60-08BF-6D8DCCEA4E69}"/>
              </a:ext>
            </a:extLst>
          </p:cNvPr>
          <p:cNvSpPr txBox="1"/>
          <p:nvPr/>
        </p:nvSpPr>
        <p:spPr>
          <a:xfrm>
            <a:off x="2379553" y="2127115"/>
            <a:ext cx="89672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Candara Light" panose="020E0502030303020204" pitchFamily="34" charset="0"/>
              </a:rPr>
              <a:t>The scraping task is designed to systematically extract movies from IMDb across multiple categories while ensuring scalability, efficiency, and data quality.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16CF16-C0A8-3260-A423-257BCDB5F376}"/>
              </a:ext>
            </a:extLst>
          </p:cNvPr>
          <p:cNvSpPr txBox="1"/>
          <p:nvPr/>
        </p:nvSpPr>
        <p:spPr>
          <a:xfrm>
            <a:off x="8534399" y="3228945"/>
            <a:ext cx="2678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solidFill>
                  <a:schemeClr val="bg1"/>
                </a:solidFill>
                <a:latin typeface="Candara Light" panose="020E0502030303020204" pitchFamily="34" charset="0"/>
              </a:rPr>
              <a:t>~5500 movies scraped</a:t>
            </a:r>
            <a:endParaRPr lang="en-IN" sz="2000" dirty="0">
              <a:solidFill>
                <a:schemeClr val="bg1"/>
              </a:solidFill>
              <a:latin typeface="Candara Light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59166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0105D2CD-E974-FD14-8257-F5A0BF6CE4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8952" y="0"/>
            <a:ext cx="13716000" cy="7715250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853B333B-0CAE-FBD4-D0EF-780FA8E191B9}"/>
              </a:ext>
            </a:extLst>
          </p:cNvPr>
          <p:cNvGrpSpPr/>
          <p:nvPr/>
        </p:nvGrpSpPr>
        <p:grpSpPr>
          <a:xfrm>
            <a:off x="9129205" y="0"/>
            <a:ext cx="3278753" cy="6858000"/>
            <a:chOff x="9189720" y="0"/>
            <a:chExt cx="3278753" cy="685800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8465745-6225-43CA-5004-F1DD86CF5BFD}"/>
                </a:ext>
              </a:extLst>
            </p:cNvPr>
            <p:cNvGrpSpPr/>
            <p:nvPr/>
          </p:nvGrpSpPr>
          <p:grpSpPr>
            <a:xfrm>
              <a:off x="9189720" y="0"/>
              <a:ext cx="3063240" cy="6858000"/>
              <a:chOff x="9189720" y="0"/>
              <a:chExt cx="3063240" cy="6858000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2D5C989-BF75-5CFC-C15A-CAE9A92A257A}"/>
                  </a:ext>
                </a:extLst>
              </p:cNvPr>
              <p:cNvSpPr/>
              <p:nvPr/>
            </p:nvSpPr>
            <p:spPr>
              <a:xfrm>
                <a:off x="9189720" y="0"/>
                <a:ext cx="3063240" cy="6858000"/>
              </a:xfrm>
              <a:prstGeom prst="rect">
                <a:avLst/>
              </a:prstGeom>
              <a:solidFill>
                <a:srgbClr val="F6F1E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5337B4D-D2F8-DDE9-80DB-5718D45EE376}"/>
                  </a:ext>
                </a:extLst>
              </p:cNvPr>
              <p:cNvSpPr txBox="1"/>
              <p:nvPr/>
            </p:nvSpPr>
            <p:spPr>
              <a:xfrm>
                <a:off x="9939462" y="371061"/>
                <a:ext cx="1563757" cy="2400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0" dirty="0">
                    <a:solidFill>
                      <a:srgbClr val="463D34"/>
                    </a:solidFill>
                    <a:latin typeface="Montserrat" pitchFamily="2" charset="0"/>
                  </a:rPr>
                  <a:t>D</a:t>
                </a:r>
                <a:endParaRPr lang="en-IN" sz="15000" dirty="0">
                  <a:solidFill>
                    <a:srgbClr val="463D34"/>
                  </a:solidFill>
                  <a:latin typeface="Montserrat" pitchFamily="2" charset="0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8FB2E44-D2F1-FA3D-4264-92E2D6E9A2A7}"/>
                  </a:ext>
                </a:extLst>
              </p:cNvPr>
              <p:cNvSpPr txBox="1"/>
              <p:nvPr/>
            </p:nvSpPr>
            <p:spPr>
              <a:xfrm>
                <a:off x="9580493" y="2844224"/>
                <a:ext cx="2281694" cy="29674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400" dirty="0">
                    <a:solidFill>
                      <a:srgbClr val="291F16"/>
                    </a:solidFill>
                    <a:latin typeface="Montserrat" pitchFamily="2" charset="0"/>
                  </a:rPr>
                  <a:t>SCRAPING STRATEGY</a:t>
                </a:r>
              </a:p>
              <a:p>
                <a:pPr algn="just"/>
                <a:endParaRPr lang="en-US" sz="1400" dirty="0">
                  <a:latin typeface="Montserrat" pitchFamily="2" charset="0"/>
                </a:endParaRPr>
              </a:p>
              <a:p>
                <a:r>
                  <a:rPr lang="en-US" sz="1400" dirty="0">
                    <a:solidFill>
                      <a:srgbClr val="463D34"/>
                    </a:solidFill>
                    <a:latin typeface="Candara" panose="020E0502030303020204" pitchFamily="34" charset="0"/>
                  </a:rPr>
                  <a:t>The scraping process is divided into two main stages:</a:t>
                </a:r>
              </a:p>
              <a:p>
                <a:endParaRPr lang="en-US" sz="1400" dirty="0">
                  <a:solidFill>
                    <a:srgbClr val="463D34"/>
                  </a:solidFill>
                  <a:latin typeface="Candara" panose="020E0502030303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1400" b="1" dirty="0">
                    <a:solidFill>
                      <a:srgbClr val="463D34"/>
                    </a:solidFill>
                    <a:latin typeface="Candara" panose="020E0502030303020204" pitchFamily="34" charset="0"/>
                  </a:rPr>
                  <a:t>Collecting Movie Links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1400" b="1" dirty="0">
                    <a:solidFill>
                      <a:srgbClr val="463D34"/>
                    </a:solidFill>
                    <a:latin typeface="Candara" panose="020E0502030303020204" pitchFamily="34" charset="0"/>
                  </a:rPr>
                  <a:t>Scraping Movie Details from the links.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1400" b="1" dirty="0">
                    <a:solidFill>
                      <a:srgbClr val="463D34"/>
                    </a:solidFill>
                    <a:latin typeface="Candara" panose="020E0502030303020204" pitchFamily="34" charset="0"/>
                  </a:rPr>
                  <a:t>( Avoid blocking from IMDb servers )</a:t>
                </a:r>
              </a:p>
            </p:txBody>
          </p:sp>
        </p:grpSp>
        <p:sp>
          <p:nvSpPr>
            <p:cNvPr id="39" name="Isosceles Triangle 38">
              <a:extLst>
                <a:ext uri="{FF2B5EF4-FFF2-40B4-BE49-F238E27FC236}">
                  <a16:creationId xmlns:a16="http://schemas.microsoft.com/office/drawing/2014/main" id="{A22BF06F-87C5-576D-0494-41E57E38570C}"/>
                </a:ext>
              </a:extLst>
            </p:cNvPr>
            <p:cNvSpPr/>
            <p:nvPr/>
          </p:nvSpPr>
          <p:spPr>
            <a:xfrm rot="5400000">
              <a:off x="12163673" y="1266588"/>
              <a:ext cx="390940" cy="218661"/>
            </a:xfrm>
            <a:prstGeom prst="triangle">
              <a:avLst/>
            </a:prstGeom>
            <a:solidFill>
              <a:srgbClr val="F6F1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E8DE487-40EC-1D05-5066-E4B065762CEF}"/>
              </a:ext>
            </a:extLst>
          </p:cNvPr>
          <p:cNvGrpSpPr/>
          <p:nvPr/>
        </p:nvGrpSpPr>
        <p:grpSpPr>
          <a:xfrm>
            <a:off x="6069330" y="0"/>
            <a:ext cx="3281901" cy="6858000"/>
            <a:chOff x="6126480" y="0"/>
            <a:chExt cx="3281901" cy="6858000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C1959B24-59E9-4BFA-70FC-C04B33A863D1}"/>
                </a:ext>
              </a:extLst>
            </p:cNvPr>
            <p:cNvGrpSpPr/>
            <p:nvPr/>
          </p:nvGrpSpPr>
          <p:grpSpPr>
            <a:xfrm>
              <a:off x="6126480" y="0"/>
              <a:ext cx="3063240" cy="6858000"/>
              <a:chOff x="6126480" y="0"/>
              <a:chExt cx="3063240" cy="6858000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4171518-D53D-E7FF-C96F-59036FB10CB1}"/>
                  </a:ext>
                </a:extLst>
              </p:cNvPr>
              <p:cNvSpPr/>
              <p:nvPr/>
            </p:nvSpPr>
            <p:spPr>
              <a:xfrm>
                <a:off x="6126480" y="0"/>
                <a:ext cx="3063240" cy="6858000"/>
              </a:xfrm>
              <a:prstGeom prst="rect">
                <a:avLst/>
              </a:prstGeom>
              <a:solidFill>
                <a:srgbClr val="E8DBC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3DD4545-4B3F-0B65-BF4E-25975C5DC3D6}"/>
                  </a:ext>
                </a:extLst>
              </p:cNvPr>
              <p:cNvSpPr txBox="1"/>
              <p:nvPr/>
            </p:nvSpPr>
            <p:spPr>
              <a:xfrm>
                <a:off x="6876222" y="371061"/>
                <a:ext cx="1563757" cy="2400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0" dirty="0">
                    <a:solidFill>
                      <a:srgbClr val="463D34"/>
                    </a:solidFill>
                    <a:latin typeface="Montserrat" pitchFamily="2" charset="0"/>
                  </a:rPr>
                  <a:t>C</a:t>
                </a:r>
                <a:endParaRPr lang="en-IN" sz="15000" dirty="0">
                  <a:solidFill>
                    <a:srgbClr val="463D34"/>
                  </a:solidFill>
                  <a:latin typeface="Montserrat" pitchFamily="2" charset="0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014C8C9-5983-5D4E-12C5-FE06DAFFBC49}"/>
                  </a:ext>
                </a:extLst>
              </p:cNvPr>
              <p:cNvSpPr txBox="1"/>
              <p:nvPr/>
            </p:nvSpPr>
            <p:spPr>
              <a:xfrm>
                <a:off x="6505956" y="2844224"/>
                <a:ext cx="2304288" cy="2859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400" dirty="0">
                    <a:solidFill>
                      <a:srgbClr val="291F16"/>
                    </a:solidFill>
                    <a:latin typeface="Montserrat" pitchFamily="2" charset="0"/>
                  </a:rPr>
                  <a:t>TOOLS SELECTION</a:t>
                </a:r>
              </a:p>
              <a:p>
                <a:pPr algn="just"/>
                <a:endParaRPr lang="en-US" sz="1400" dirty="0">
                  <a:latin typeface="Montserrat" pitchFamily="2" charset="0"/>
                </a:endParaRPr>
              </a:p>
              <a:p>
                <a:r>
                  <a:rPr lang="en-US" sz="1400" dirty="0">
                    <a:solidFill>
                      <a:srgbClr val="463D34"/>
                    </a:solidFill>
                    <a:latin typeface="Candara" panose="020E0502030303020204" pitchFamily="34" charset="0"/>
                  </a:rPr>
                  <a:t>As the dataset is large enough, tool preference is a important factor based on the website you’re scraping.</a:t>
                </a:r>
              </a:p>
              <a:p>
                <a:endParaRPr lang="en-US" sz="1400" dirty="0">
                  <a:solidFill>
                    <a:srgbClr val="463D34"/>
                  </a:solidFill>
                  <a:latin typeface="Candara" panose="020E0502030303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1400" b="1" dirty="0">
                    <a:solidFill>
                      <a:srgbClr val="463D34"/>
                    </a:solidFill>
                    <a:latin typeface="Candara" panose="020E0502030303020204" pitchFamily="34" charset="0"/>
                  </a:rPr>
                  <a:t>Beautiful Soup or Selenium?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1400" b="1" dirty="0">
                    <a:solidFill>
                      <a:srgbClr val="463D34"/>
                    </a:solidFill>
                    <a:latin typeface="Candara" panose="020E0502030303020204" pitchFamily="34" charset="0"/>
                  </a:rPr>
                  <a:t>Or Hybrid (Selenium + Beautiful Soup) ?</a:t>
                </a:r>
              </a:p>
            </p:txBody>
          </p:sp>
        </p:grp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F41345B0-4DF6-ACF5-8A4A-340C36422FBB}"/>
                </a:ext>
              </a:extLst>
            </p:cNvPr>
            <p:cNvSpPr/>
            <p:nvPr/>
          </p:nvSpPr>
          <p:spPr>
            <a:xfrm rot="5400000">
              <a:off x="9103581" y="1270906"/>
              <a:ext cx="390940" cy="218661"/>
            </a:xfrm>
            <a:prstGeom prst="triangle">
              <a:avLst/>
            </a:prstGeom>
            <a:solidFill>
              <a:srgbClr val="E8DBC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36A5908-4EA4-9094-7CA7-8CA08F06B46B}"/>
              </a:ext>
            </a:extLst>
          </p:cNvPr>
          <p:cNvGrpSpPr/>
          <p:nvPr/>
        </p:nvGrpSpPr>
        <p:grpSpPr>
          <a:xfrm>
            <a:off x="3013544" y="0"/>
            <a:ext cx="3281901" cy="6858000"/>
            <a:chOff x="3063240" y="0"/>
            <a:chExt cx="3281901" cy="6858000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566F352-B26C-56E4-FD3D-6EAC3FB1882A}"/>
                </a:ext>
              </a:extLst>
            </p:cNvPr>
            <p:cNvGrpSpPr/>
            <p:nvPr/>
          </p:nvGrpSpPr>
          <p:grpSpPr>
            <a:xfrm>
              <a:off x="3063240" y="0"/>
              <a:ext cx="3063240" cy="6858000"/>
              <a:chOff x="3063240" y="0"/>
              <a:chExt cx="3063240" cy="6858000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8AC50EF-7C39-9FFE-F1A9-1B52A06F53D0}"/>
                  </a:ext>
                </a:extLst>
              </p:cNvPr>
              <p:cNvSpPr/>
              <p:nvPr/>
            </p:nvSpPr>
            <p:spPr>
              <a:xfrm>
                <a:off x="3063240" y="0"/>
                <a:ext cx="3063240" cy="6858000"/>
              </a:xfrm>
              <a:prstGeom prst="rect">
                <a:avLst/>
              </a:prstGeom>
              <a:solidFill>
                <a:srgbClr val="D7C3A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2B4DE18-8732-DB5C-5B86-470F3DAA89E0}"/>
                  </a:ext>
                </a:extLst>
              </p:cNvPr>
              <p:cNvSpPr txBox="1"/>
              <p:nvPr/>
            </p:nvSpPr>
            <p:spPr>
              <a:xfrm>
                <a:off x="3812982" y="371061"/>
                <a:ext cx="1563757" cy="2400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0" dirty="0">
                    <a:solidFill>
                      <a:srgbClr val="463D34"/>
                    </a:solidFill>
                    <a:latin typeface="Montserrat" pitchFamily="2" charset="0"/>
                  </a:rPr>
                  <a:t>B</a:t>
                </a:r>
                <a:endParaRPr lang="en-IN" sz="15000" dirty="0">
                  <a:solidFill>
                    <a:srgbClr val="463D34"/>
                  </a:solidFill>
                  <a:latin typeface="Montserrat" pitchFamily="2" charset="0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15CB2A8-9599-4F96-3A74-C301C951EE9A}"/>
                  </a:ext>
                </a:extLst>
              </p:cNvPr>
              <p:cNvSpPr txBox="1"/>
              <p:nvPr/>
            </p:nvSpPr>
            <p:spPr>
              <a:xfrm>
                <a:off x="3454013" y="2844224"/>
                <a:ext cx="2281694" cy="31828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rgbClr val="291F16"/>
                    </a:solidFill>
                    <a:latin typeface="Montserrat" pitchFamily="2" charset="0"/>
                  </a:rPr>
                  <a:t>DATA SOURCE</a:t>
                </a:r>
              </a:p>
              <a:p>
                <a:pPr algn="just"/>
                <a:endParaRPr lang="en-US" sz="1400" dirty="0">
                  <a:latin typeface="Montserrat" pitchFamily="2" charset="0"/>
                </a:endParaRPr>
              </a:p>
              <a:p>
                <a:r>
                  <a:rPr lang="en-US" sz="1400" dirty="0">
                    <a:solidFill>
                      <a:srgbClr val="463D34"/>
                    </a:solidFill>
                    <a:latin typeface="Candara" panose="020E0502030303020204" pitchFamily="34" charset="0"/>
                  </a:rPr>
                  <a:t>Data is collected from different IMDb listing pages to prevent biasness while training the model.</a:t>
                </a:r>
              </a:p>
              <a:p>
                <a:endParaRPr lang="en-US" sz="1400" dirty="0">
                  <a:solidFill>
                    <a:srgbClr val="463D34"/>
                  </a:solidFill>
                  <a:latin typeface="Candara" panose="020E0502030303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1400" b="1" dirty="0">
                    <a:solidFill>
                      <a:srgbClr val="463D34"/>
                    </a:solidFill>
                    <a:latin typeface="Candara" panose="020E0502030303020204" pitchFamily="34" charset="0"/>
                  </a:rPr>
                  <a:t>Top Rated (8-10)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1400" b="1" dirty="0">
                    <a:solidFill>
                      <a:srgbClr val="463D34"/>
                    </a:solidFill>
                    <a:latin typeface="Candara" panose="020E0502030303020204" pitchFamily="34" charset="0"/>
                  </a:rPr>
                  <a:t>Most Popular (votes)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1400" b="1" dirty="0">
                    <a:solidFill>
                      <a:srgbClr val="463D34"/>
                    </a:solidFill>
                    <a:latin typeface="Candara" panose="020E0502030303020204" pitchFamily="34" charset="0"/>
                  </a:rPr>
                  <a:t>Mid Rated (5-8)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1400" b="1" dirty="0">
                    <a:solidFill>
                      <a:srgbClr val="463D34"/>
                    </a:solidFill>
                    <a:latin typeface="Candara" panose="020E0502030303020204" pitchFamily="34" charset="0"/>
                  </a:rPr>
                  <a:t>Low Rated (1-5)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1400" b="1" dirty="0">
                    <a:solidFill>
                      <a:srgbClr val="463D34"/>
                    </a:solidFill>
                    <a:latin typeface="Candara" panose="020E0502030303020204" pitchFamily="34" charset="0"/>
                  </a:rPr>
                  <a:t>Old Movies (1980-2000)</a:t>
                </a:r>
              </a:p>
            </p:txBody>
          </p:sp>
        </p:grp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DC93A1A2-3DDF-F1D2-C38A-671FCAE43D6B}"/>
                </a:ext>
              </a:extLst>
            </p:cNvPr>
            <p:cNvSpPr/>
            <p:nvPr/>
          </p:nvSpPr>
          <p:spPr>
            <a:xfrm rot="5400000">
              <a:off x="6040341" y="1266588"/>
              <a:ext cx="390940" cy="218661"/>
            </a:xfrm>
            <a:prstGeom prst="triangle">
              <a:avLst/>
            </a:prstGeom>
            <a:solidFill>
              <a:srgbClr val="D7C3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3CC0D11-19F5-1CCC-379D-FFE4C445CD4F}"/>
              </a:ext>
            </a:extLst>
          </p:cNvPr>
          <p:cNvGrpSpPr/>
          <p:nvPr/>
        </p:nvGrpSpPr>
        <p:grpSpPr>
          <a:xfrm>
            <a:off x="-17756" y="0"/>
            <a:ext cx="3281900" cy="6858000"/>
            <a:chOff x="0" y="0"/>
            <a:chExt cx="3281900" cy="6858000"/>
          </a:xfrm>
        </p:grpSpPr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ACDD176B-511F-473F-6E07-C3EFA904466A}"/>
                </a:ext>
              </a:extLst>
            </p:cNvPr>
            <p:cNvSpPr/>
            <p:nvPr/>
          </p:nvSpPr>
          <p:spPr>
            <a:xfrm rot="5400000">
              <a:off x="2977100" y="1266589"/>
              <a:ext cx="390940" cy="218661"/>
            </a:xfrm>
            <a:prstGeom prst="triangle">
              <a:avLst/>
            </a:prstGeom>
            <a:solidFill>
              <a:srgbClr val="C8AC8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05829EC-B0E7-C5B8-6F98-B551BA6EB274}"/>
                </a:ext>
              </a:extLst>
            </p:cNvPr>
            <p:cNvGrpSpPr/>
            <p:nvPr/>
          </p:nvGrpSpPr>
          <p:grpSpPr>
            <a:xfrm>
              <a:off x="0" y="0"/>
              <a:ext cx="3063240" cy="6858000"/>
              <a:chOff x="0" y="0"/>
              <a:chExt cx="3063240" cy="6858000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B612684-7C2E-8422-F46B-7982044D18D0}"/>
                  </a:ext>
                </a:extLst>
              </p:cNvPr>
              <p:cNvSpPr/>
              <p:nvPr/>
            </p:nvSpPr>
            <p:spPr>
              <a:xfrm>
                <a:off x="0" y="0"/>
                <a:ext cx="3063240" cy="6858000"/>
              </a:xfrm>
              <a:prstGeom prst="rect">
                <a:avLst/>
              </a:prstGeom>
              <a:solidFill>
                <a:srgbClr val="C8AC8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07739FD-007B-C215-A7A1-C49AC46BABBF}"/>
                  </a:ext>
                </a:extLst>
              </p:cNvPr>
              <p:cNvSpPr txBox="1"/>
              <p:nvPr/>
            </p:nvSpPr>
            <p:spPr>
              <a:xfrm>
                <a:off x="749742" y="371061"/>
                <a:ext cx="1563757" cy="2400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0" dirty="0">
                    <a:solidFill>
                      <a:srgbClr val="463D34"/>
                    </a:solidFill>
                    <a:latin typeface="Montserrat" pitchFamily="2" charset="0"/>
                  </a:rPr>
                  <a:t>A</a:t>
                </a:r>
                <a:endParaRPr lang="en-IN" sz="15000" dirty="0">
                  <a:solidFill>
                    <a:srgbClr val="463D34"/>
                  </a:solidFill>
                  <a:latin typeface="Montserrat" pitchFamily="2" charset="0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505D7FD-C74A-0EBB-E915-0BAAD22A9ACE}"/>
                  </a:ext>
                </a:extLst>
              </p:cNvPr>
              <p:cNvSpPr txBox="1"/>
              <p:nvPr/>
            </p:nvSpPr>
            <p:spPr>
              <a:xfrm>
                <a:off x="390773" y="2844224"/>
                <a:ext cx="2281694" cy="3075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400" dirty="0">
                    <a:solidFill>
                      <a:srgbClr val="291F16"/>
                    </a:solidFill>
                    <a:latin typeface="Montserrat" pitchFamily="2" charset="0"/>
                  </a:rPr>
                  <a:t>FEATURE SELECTION</a:t>
                </a:r>
              </a:p>
              <a:p>
                <a:pPr algn="just"/>
                <a:endParaRPr lang="en-US" sz="1400" dirty="0">
                  <a:latin typeface="Montserrat" pitchFamily="2" charset="0"/>
                </a:endParaRPr>
              </a:p>
              <a:p>
                <a:r>
                  <a:rPr lang="en-US" sz="1400" dirty="0">
                    <a:solidFill>
                      <a:srgbClr val="463D34"/>
                    </a:solidFill>
                    <a:latin typeface="Candara" panose="020E0502030303020204" pitchFamily="34" charset="0"/>
                  </a:rPr>
                  <a:t>Before Scraping we defined key features required for analysis, and these features  were selected based on their analytical importance.</a:t>
                </a:r>
              </a:p>
              <a:p>
                <a:endParaRPr lang="en-US" sz="1400" dirty="0">
                  <a:solidFill>
                    <a:srgbClr val="463D34"/>
                  </a:solidFill>
                  <a:latin typeface="Candara" panose="020E0502030303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1400" b="1" dirty="0">
                    <a:solidFill>
                      <a:srgbClr val="463D34"/>
                    </a:solidFill>
                    <a:latin typeface="Candara" panose="020E0502030303020204" pitchFamily="34" charset="0"/>
                  </a:rPr>
                  <a:t>Movie Information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1400" b="1" dirty="0">
                    <a:solidFill>
                      <a:srgbClr val="463D34"/>
                    </a:solidFill>
                    <a:latin typeface="Candara" panose="020E0502030303020204" pitchFamily="34" charset="0"/>
                  </a:rPr>
                  <a:t>Rating &amp; Popularity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1400" b="1" dirty="0">
                    <a:solidFill>
                      <a:srgbClr val="463D34"/>
                    </a:solidFill>
                    <a:latin typeface="Candara" panose="020E0502030303020204" pitchFamily="34" charset="0"/>
                  </a:rPr>
                  <a:t>Content Attributes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1400" b="1" dirty="0">
                    <a:solidFill>
                      <a:srgbClr val="463D34"/>
                    </a:solidFill>
                    <a:latin typeface="Candara" panose="020E0502030303020204" pitchFamily="34" charset="0"/>
                  </a:rPr>
                  <a:t>Financial Features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784804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57AAD79-E867-467A-F242-57F0C03AE9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9550" y="4067174"/>
            <a:ext cx="4351867" cy="24479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07513DB-C5F3-4878-79D3-9F96FFF40802}"/>
              </a:ext>
            </a:extLst>
          </p:cNvPr>
          <p:cNvSpPr txBox="1"/>
          <p:nvPr/>
        </p:nvSpPr>
        <p:spPr>
          <a:xfrm>
            <a:off x="4310062" y="5670550"/>
            <a:ext cx="3571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ndara Light" panose="020E0502030303020204" pitchFamily="34" charset="0"/>
              </a:rPr>
              <a:t>Basic Movie Information</a:t>
            </a:r>
            <a:endParaRPr lang="en-IN" sz="24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andara Light" panose="020E0502030303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578B91-6BA4-F9FE-078C-BB67548CF52F}"/>
              </a:ext>
            </a:extLst>
          </p:cNvPr>
          <p:cNvSpPr txBox="1"/>
          <p:nvPr/>
        </p:nvSpPr>
        <p:spPr>
          <a:xfrm>
            <a:off x="3079748" y="341064"/>
            <a:ext cx="60325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AEDCB"/>
                </a:solidFill>
                <a:latin typeface="Montserrat" pitchFamily="2" charset="0"/>
              </a:rPr>
              <a:t>DATASET SCHEMA</a:t>
            </a:r>
            <a:endParaRPr lang="en-IN" sz="4400" dirty="0">
              <a:solidFill>
                <a:srgbClr val="FAEDCB"/>
              </a:solidFill>
              <a:latin typeface="Montserrat" pitchFamily="2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30A23F5-2AF9-EEDB-7040-33DD52DB2545}"/>
              </a:ext>
            </a:extLst>
          </p:cNvPr>
          <p:cNvGrpSpPr/>
          <p:nvPr/>
        </p:nvGrpSpPr>
        <p:grpSpPr>
          <a:xfrm>
            <a:off x="4310062" y="1404937"/>
            <a:ext cx="3571875" cy="4048125"/>
            <a:chOff x="4310062" y="1404937"/>
            <a:chExt cx="3571875" cy="4048125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8EC56A65-8A16-3DB4-DBD6-DEDA3B4AE042}"/>
                </a:ext>
              </a:extLst>
            </p:cNvPr>
            <p:cNvSpPr/>
            <p:nvPr/>
          </p:nvSpPr>
          <p:spPr>
            <a:xfrm>
              <a:off x="4310062" y="1404937"/>
              <a:ext cx="3571875" cy="4048125"/>
            </a:xfrm>
            <a:prstGeom prst="roundRect">
              <a:avLst>
                <a:gd name="adj" fmla="val 8400"/>
              </a:avLst>
            </a:prstGeom>
            <a:solidFill>
              <a:srgbClr val="FAEDCB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tIns="457200" rtlCol="0" anchor="ctr" anchorCtr="0">
              <a:normAutofit/>
            </a:bodyPr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201A817-3838-4AC3-C3E0-43803E06FF94}"/>
                </a:ext>
              </a:extLst>
            </p:cNvPr>
            <p:cNvSpPr txBox="1"/>
            <p:nvPr/>
          </p:nvSpPr>
          <p:spPr>
            <a:xfrm>
              <a:off x="4551702" y="1874727"/>
              <a:ext cx="3086100" cy="3108543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chemeClr val="tx1"/>
                  </a:solidFill>
                  <a:latin typeface="Candara" panose="020E0502030303020204" pitchFamily="34" charset="0"/>
                </a:rPr>
                <a:t>Movie URL</a:t>
              </a:r>
            </a:p>
            <a:p>
              <a:r>
                <a:rPr lang="en-US" sz="1400" dirty="0">
                  <a:solidFill>
                    <a:schemeClr val="tx1"/>
                  </a:solidFill>
                  <a:latin typeface="+mj-lt"/>
                </a:rPr>
                <a:t>        IMDb page link/unique identifier</a:t>
              </a:r>
            </a:p>
            <a:p>
              <a:endParaRPr lang="en-US" sz="2000" dirty="0">
                <a:solidFill>
                  <a:schemeClr val="tx1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chemeClr val="tx1"/>
                  </a:solidFill>
                  <a:latin typeface="Candara" panose="020E0502030303020204" pitchFamily="34" charset="0"/>
                </a:rPr>
                <a:t>Movie Title</a:t>
              </a:r>
            </a:p>
            <a:p>
              <a:r>
                <a:rPr lang="en-US" sz="1400" dirty="0">
                  <a:solidFill>
                    <a:schemeClr val="tx1"/>
                  </a:solidFill>
                  <a:latin typeface="+mj-lt"/>
                </a:rPr>
                <a:t>        Name of the Movie</a:t>
              </a:r>
            </a:p>
            <a:p>
              <a:endParaRPr lang="en-US" sz="2000" dirty="0">
                <a:solidFill>
                  <a:schemeClr val="tx1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chemeClr val="tx1"/>
                  </a:solidFill>
                  <a:latin typeface="Candara" panose="020E0502030303020204" pitchFamily="34" charset="0"/>
                </a:rPr>
                <a:t>Release Date</a:t>
              </a:r>
            </a:p>
            <a:p>
              <a:r>
                <a:rPr lang="en-US" sz="1400" dirty="0">
                  <a:solidFill>
                    <a:schemeClr val="tx1"/>
                  </a:solidFill>
                  <a:latin typeface="+mj-lt"/>
                </a:rPr>
                <a:t>        Official release date of the movie</a:t>
              </a:r>
            </a:p>
            <a:p>
              <a:endParaRPr lang="en-US" sz="2000" dirty="0">
                <a:solidFill>
                  <a:schemeClr val="tx1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chemeClr val="tx1"/>
                  </a:solidFill>
                  <a:latin typeface="Candara" panose="020E0502030303020204" pitchFamily="34" charset="0"/>
                </a:rPr>
                <a:t>Duration</a:t>
              </a:r>
            </a:p>
            <a:p>
              <a:r>
                <a:rPr lang="en-US" sz="1400" dirty="0">
                  <a:solidFill>
                    <a:schemeClr val="tx1"/>
                  </a:solidFill>
                  <a:latin typeface="+mj-lt"/>
                </a:rPr>
                <a:t>        Total runtime of movie in minutes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76370DD-87E4-1951-C656-0776FE2C1497}"/>
              </a:ext>
            </a:extLst>
          </p:cNvPr>
          <p:cNvGrpSpPr/>
          <p:nvPr/>
        </p:nvGrpSpPr>
        <p:grpSpPr>
          <a:xfrm>
            <a:off x="8805672" y="2029968"/>
            <a:ext cx="2450592" cy="2807208"/>
            <a:chOff x="4310062" y="1404937"/>
            <a:chExt cx="3571875" cy="4048125"/>
          </a:xfrm>
        </p:grpSpPr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57AF936B-F58B-97C6-8D1D-20D70CD18471}"/>
                </a:ext>
              </a:extLst>
            </p:cNvPr>
            <p:cNvSpPr/>
            <p:nvPr/>
          </p:nvSpPr>
          <p:spPr>
            <a:xfrm>
              <a:off x="4310062" y="1404937"/>
              <a:ext cx="3571875" cy="4048125"/>
            </a:xfrm>
            <a:prstGeom prst="roundRect">
              <a:avLst>
                <a:gd name="adj" fmla="val 8400"/>
              </a:avLst>
            </a:prstGeom>
            <a:solidFill>
              <a:srgbClr val="C9E4DE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tIns="457200" rtlCol="0" anchor="ctr" anchorCtr="0">
              <a:normAutofit/>
            </a:bodyPr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7CDADB5-87A0-AECF-AC88-488F6E6339BD}"/>
                </a:ext>
              </a:extLst>
            </p:cNvPr>
            <p:cNvSpPr txBox="1"/>
            <p:nvPr/>
          </p:nvSpPr>
          <p:spPr>
            <a:xfrm>
              <a:off x="4551702" y="1767941"/>
              <a:ext cx="3086100" cy="3322115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 fontScale="70000" lnSpcReduction="20000"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C9E4DE"/>
                  </a:solidFill>
                  <a:latin typeface="Candara" panose="020E0502030303020204" pitchFamily="34" charset="0"/>
                </a:rPr>
                <a:t>Countries</a:t>
              </a:r>
            </a:p>
            <a:p>
              <a:r>
                <a:rPr lang="en-US" sz="1400" dirty="0">
                  <a:solidFill>
                    <a:srgbClr val="C9E4DE"/>
                  </a:solidFill>
                  <a:latin typeface="+mj-lt"/>
                </a:rPr>
                <a:t>        Countries where movie produced</a:t>
              </a:r>
            </a:p>
            <a:p>
              <a:endParaRPr lang="en-US" sz="2000" dirty="0">
                <a:solidFill>
                  <a:srgbClr val="C9E4DE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C9E4DE"/>
                  </a:solidFill>
                  <a:latin typeface="Candara" panose="020E0502030303020204" pitchFamily="34" charset="0"/>
                </a:rPr>
                <a:t>Languages</a:t>
              </a:r>
            </a:p>
            <a:p>
              <a:r>
                <a:rPr lang="en-US" sz="1400" dirty="0">
                  <a:solidFill>
                    <a:srgbClr val="C9E4DE"/>
                  </a:solidFill>
                  <a:latin typeface="+mj-lt"/>
                </a:rPr>
                <a:t>        Languages used in the movie</a:t>
              </a:r>
            </a:p>
            <a:p>
              <a:endParaRPr lang="en-US" sz="2000" dirty="0">
                <a:solidFill>
                  <a:srgbClr val="C9E4DE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C9E4DE"/>
                  </a:solidFill>
                  <a:latin typeface="Candara" panose="020E0502030303020204" pitchFamily="34" charset="0"/>
                </a:rPr>
                <a:t>Content Rating</a:t>
              </a:r>
            </a:p>
            <a:p>
              <a:r>
                <a:rPr lang="en-US" sz="1400" dirty="0">
                  <a:solidFill>
                    <a:srgbClr val="C9E4DE"/>
                  </a:solidFill>
                  <a:latin typeface="+mj-lt"/>
                </a:rPr>
                <a:t>        Age certification (e.g. PG-13, R)</a:t>
              </a:r>
            </a:p>
            <a:p>
              <a:endParaRPr lang="en-US" sz="2000" dirty="0">
                <a:solidFill>
                  <a:srgbClr val="C9E4DE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C9E4DE"/>
                  </a:solidFill>
                  <a:latin typeface="Candara" panose="020E0502030303020204" pitchFamily="34" charset="0"/>
                </a:rPr>
                <a:t>Watchlist Count</a:t>
              </a:r>
            </a:p>
            <a:p>
              <a:r>
                <a:rPr lang="en-US" sz="1400" dirty="0">
                  <a:solidFill>
                    <a:srgbClr val="C9E4DE"/>
                  </a:solidFill>
                  <a:latin typeface="+mj-lt"/>
                </a:rPr>
                <a:t>        No. of users who added movie to</a:t>
              </a:r>
              <a:br>
                <a:rPr lang="en-US" sz="1400" dirty="0">
                  <a:solidFill>
                    <a:srgbClr val="C9E4DE"/>
                  </a:solidFill>
                  <a:latin typeface="+mj-lt"/>
                </a:rPr>
              </a:br>
              <a:r>
                <a:rPr lang="en-US" sz="1400" dirty="0">
                  <a:solidFill>
                    <a:srgbClr val="C9E4DE"/>
                  </a:solidFill>
                  <a:latin typeface="+mj-lt"/>
                </a:rPr>
                <a:t>        their watchlist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AFA5843-29F9-C01D-CCD4-65898823BD1B}"/>
              </a:ext>
            </a:extLst>
          </p:cNvPr>
          <p:cNvGrpSpPr/>
          <p:nvPr/>
        </p:nvGrpSpPr>
        <p:grpSpPr>
          <a:xfrm>
            <a:off x="12179999" y="2025394"/>
            <a:ext cx="2450592" cy="2807208"/>
            <a:chOff x="4310062" y="1404937"/>
            <a:chExt cx="3571875" cy="4048125"/>
          </a:xfrm>
        </p:grpSpPr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2B7B8669-E818-E8A9-A5F2-88986F3D5BB7}"/>
                </a:ext>
              </a:extLst>
            </p:cNvPr>
            <p:cNvSpPr/>
            <p:nvPr/>
          </p:nvSpPr>
          <p:spPr>
            <a:xfrm>
              <a:off x="4310062" y="1404937"/>
              <a:ext cx="3571875" cy="4048125"/>
            </a:xfrm>
            <a:prstGeom prst="roundRect">
              <a:avLst>
                <a:gd name="adj" fmla="val 8400"/>
              </a:avLst>
            </a:prstGeom>
            <a:solidFill>
              <a:srgbClr val="C6DEF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tIns="457200" rtlCol="0" anchor="ctr" anchorCtr="0">
              <a:normAutofit/>
            </a:bodyPr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1596DD2-0F66-62ED-B0C1-65B8F8369F87}"/>
                </a:ext>
              </a:extLst>
            </p:cNvPr>
            <p:cNvSpPr txBox="1"/>
            <p:nvPr/>
          </p:nvSpPr>
          <p:spPr>
            <a:xfrm>
              <a:off x="4551702" y="1767941"/>
              <a:ext cx="3086100" cy="3322115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 fontScale="70000" lnSpcReduction="20000"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C6DEF1"/>
                  </a:solidFill>
                  <a:latin typeface="Candara" panose="020E0502030303020204" pitchFamily="34" charset="0"/>
                </a:rPr>
                <a:t>Genres</a:t>
              </a:r>
            </a:p>
            <a:p>
              <a:r>
                <a:rPr lang="en-US" sz="1400" dirty="0">
                  <a:solidFill>
                    <a:srgbClr val="C6DEF1"/>
                  </a:solidFill>
                  <a:latin typeface="+mj-lt"/>
                </a:rPr>
                <a:t>        Categories assigned to the movie</a:t>
              </a:r>
            </a:p>
            <a:p>
              <a:endParaRPr lang="en-US" sz="2000" dirty="0">
                <a:solidFill>
                  <a:srgbClr val="C6DEF1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C6DEF1"/>
                  </a:solidFill>
                  <a:latin typeface="Candara" panose="020E0502030303020204" pitchFamily="34" charset="0"/>
                </a:rPr>
                <a:t>Description</a:t>
              </a:r>
            </a:p>
            <a:p>
              <a:r>
                <a:rPr lang="en-US" sz="1400" dirty="0">
                  <a:solidFill>
                    <a:srgbClr val="C6DEF1"/>
                  </a:solidFill>
                  <a:latin typeface="+mj-lt"/>
                </a:rPr>
                <a:t>        Short summary of the movie plot </a:t>
              </a:r>
            </a:p>
            <a:p>
              <a:endParaRPr lang="en-US" sz="2000" dirty="0">
                <a:solidFill>
                  <a:srgbClr val="C6DEF1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C6DEF1"/>
                  </a:solidFill>
                  <a:latin typeface="Candara" panose="020E0502030303020204" pitchFamily="34" charset="0"/>
                </a:rPr>
                <a:t>Keywords</a:t>
              </a:r>
            </a:p>
            <a:p>
              <a:r>
                <a:rPr lang="en-US" sz="1400" dirty="0">
                  <a:solidFill>
                    <a:srgbClr val="C6DEF1"/>
                  </a:solidFill>
                  <a:latin typeface="+mj-lt"/>
                </a:rPr>
                <a:t>        Important tags/themes related to</a:t>
              </a:r>
              <a:br>
                <a:rPr lang="en-US" sz="1400" dirty="0">
                  <a:solidFill>
                    <a:srgbClr val="C6DEF1"/>
                  </a:solidFill>
                  <a:latin typeface="+mj-lt"/>
                </a:rPr>
              </a:br>
              <a:r>
                <a:rPr lang="en-US" sz="1400" dirty="0">
                  <a:solidFill>
                    <a:srgbClr val="C6DEF1"/>
                  </a:solidFill>
                  <a:latin typeface="+mj-lt"/>
                </a:rPr>
                <a:t>        the movie content</a:t>
              </a:r>
            </a:p>
            <a:p>
              <a:endParaRPr lang="en-US" sz="2000" dirty="0">
                <a:solidFill>
                  <a:srgbClr val="C6DEF1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C6DEF1"/>
                  </a:solidFill>
                  <a:latin typeface="Candara" panose="020E0502030303020204" pitchFamily="34" charset="0"/>
                </a:rPr>
                <a:t>Director &amp; Casts</a:t>
              </a:r>
            </a:p>
            <a:p>
              <a:r>
                <a:rPr lang="en-US" sz="1400" dirty="0">
                  <a:solidFill>
                    <a:srgbClr val="C6DEF1"/>
                  </a:solidFill>
                  <a:latin typeface="+mj-lt"/>
                </a:rPr>
                <a:t>        Name of the director and lead actor/</a:t>
              </a:r>
              <a:br>
                <a:rPr lang="en-US" sz="1400" dirty="0">
                  <a:solidFill>
                    <a:srgbClr val="C6DEF1"/>
                  </a:solidFill>
                  <a:latin typeface="+mj-lt"/>
                </a:rPr>
              </a:br>
              <a:r>
                <a:rPr lang="en-US" sz="1400" dirty="0">
                  <a:solidFill>
                    <a:srgbClr val="C6DEF1"/>
                  </a:solidFill>
                  <a:latin typeface="+mj-lt"/>
                </a:rPr>
                <a:t>        actresses in the movie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E202A16-4900-9DA8-1FE5-29F552D6B91D}"/>
              </a:ext>
            </a:extLst>
          </p:cNvPr>
          <p:cNvGrpSpPr/>
          <p:nvPr/>
        </p:nvGrpSpPr>
        <p:grpSpPr>
          <a:xfrm>
            <a:off x="15554326" y="2025394"/>
            <a:ext cx="2450592" cy="2807208"/>
            <a:chOff x="4310062" y="1404937"/>
            <a:chExt cx="3571875" cy="4048125"/>
          </a:xfrm>
        </p:grpSpPr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37427587-0B97-DC01-AD62-530BF67FAE7A}"/>
                </a:ext>
              </a:extLst>
            </p:cNvPr>
            <p:cNvSpPr/>
            <p:nvPr/>
          </p:nvSpPr>
          <p:spPr>
            <a:xfrm>
              <a:off x="4310062" y="1404937"/>
              <a:ext cx="3571875" cy="4048125"/>
            </a:xfrm>
            <a:prstGeom prst="roundRect">
              <a:avLst>
                <a:gd name="adj" fmla="val 8400"/>
              </a:avLst>
            </a:prstGeom>
            <a:solidFill>
              <a:srgbClr val="DECBF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tIns="457200" rtlCol="0" anchor="ctr" anchorCtr="0">
              <a:normAutofit/>
            </a:bodyPr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05AB4B4-BD5B-615C-BCB8-AE385D54F52F}"/>
                </a:ext>
              </a:extLst>
            </p:cNvPr>
            <p:cNvSpPr txBox="1"/>
            <p:nvPr/>
          </p:nvSpPr>
          <p:spPr>
            <a:xfrm>
              <a:off x="4551702" y="1767941"/>
              <a:ext cx="3086100" cy="3322115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 fontScale="70000" lnSpcReduction="20000"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DBCBF0"/>
                  </a:solidFill>
                  <a:latin typeface="Candara" panose="020E0502030303020204" pitchFamily="34" charset="0"/>
                </a:rPr>
                <a:t>Rating</a:t>
              </a:r>
            </a:p>
            <a:p>
              <a:r>
                <a:rPr lang="en-US" sz="1400" dirty="0">
                  <a:solidFill>
                    <a:srgbClr val="DBCBF0"/>
                  </a:solidFill>
                  <a:latin typeface="+mj-lt"/>
                </a:rPr>
                <a:t>        IMDb user rating</a:t>
              </a:r>
            </a:p>
            <a:p>
              <a:endParaRPr lang="en-US" sz="2000" dirty="0">
                <a:solidFill>
                  <a:srgbClr val="DBCBF0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DBCBF0"/>
                  </a:solidFill>
                  <a:latin typeface="Candara" panose="020E0502030303020204" pitchFamily="34" charset="0"/>
                </a:rPr>
                <a:t>Votes</a:t>
              </a:r>
            </a:p>
            <a:p>
              <a:r>
                <a:rPr lang="en-US" sz="1400" dirty="0">
                  <a:solidFill>
                    <a:srgbClr val="DBCBF0"/>
                  </a:solidFill>
                  <a:latin typeface="+mj-lt"/>
                </a:rPr>
                <a:t>        No. of user votes received on IMDb</a:t>
              </a:r>
            </a:p>
            <a:p>
              <a:endParaRPr lang="en-US" sz="2000" dirty="0">
                <a:solidFill>
                  <a:srgbClr val="DBCBF0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 err="1">
                  <a:solidFill>
                    <a:srgbClr val="DBCBF0"/>
                  </a:solidFill>
                  <a:latin typeface="Candara" panose="020E0502030303020204" pitchFamily="34" charset="0"/>
                </a:rPr>
                <a:t>Metascore</a:t>
              </a:r>
              <a:endParaRPr lang="en-US" sz="2000" b="1" dirty="0">
                <a:solidFill>
                  <a:srgbClr val="DBCBF0"/>
                </a:solidFill>
                <a:latin typeface="Candara" panose="020E0502030303020204" pitchFamily="34" charset="0"/>
              </a:endParaRPr>
            </a:p>
            <a:p>
              <a:r>
                <a:rPr lang="en-US" sz="1400" dirty="0">
                  <a:solidFill>
                    <a:srgbClr val="DBCBF0"/>
                  </a:solidFill>
                  <a:latin typeface="+mj-lt"/>
                </a:rPr>
                <a:t>        Critic rating score from external</a:t>
              </a:r>
              <a:br>
                <a:rPr lang="en-US" sz="1400" dirty="0">
                  <a:solidFill>
                    <a:srgbClr val="DBCBF0"/>
                  </a:solidFill>
                  <a:latin typeface="+mj-lt"/>
                </a:rPr>
              </a:br>
              <a:r>
                <a:rPr lang="en-US" sz="1400" dirty="0">
                  <a:solidFill>
                    <a:srgbClr val="DBCBF0"/>
                  </a:solidFill>
                  <a:latin typeface="+mj-lt"/>
                </a:rPr>
                <a:t>        sources</a:t>
              </a:r>
            </a:p>
            <a:p>
              <a:endParaRPr lang="en-US" sz="2000" dirty="0">
                <a:solidFill>
                  <a:srgbClr val="DBCBF0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DBCBF0"/>
                  </a:solidFill>
                  <a:latin typeface="Candara" panose="020E0502030303020204" pitchFamily="34" charset="0"/>
                </a:rPr>
                <a:t>User &amp; Critic Reviews</a:t>
              </a:r>
            </a:p>
            <a:p>
              <a:r>
                <a:rPr lang="en-US" sz="1400" dirty="0">
                  <a:solidFill>
                    <a:srgbClr val="DBCBF0"/>
                  </a:solidFill>
                  <a:latin typeface="+mj-lt"/>
                </a:rPr>
                <a:t>        Total no. of user-written and critic</a:t>
              </a:r>
              <a:br>
                <a:rPr lang="en-US" sz="1400" dirty="0">
                  <a:solidFill>
                    <a:srgbClr val="DBCBF0"/>
                  </a:solidFill>
                  <a:latin typeface="+mj-lt"/>
                </a:rPr>
              </a:br>
              <a:r>
                <a:rPr lang="en-US" sz="1400" dirty="0">
                  <a:solidFill>
                    <a:srgbClr val="DBCBF0"/>
                  </a:solidFill>
                  <a:latin typeface="+mj-lt"/>
                </a:rPr>
                <a:t>        reviews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15D1A43-E1BF-4F2E-8A02-8249B94571A4}"/>
              </a:ext>
            </a:extLst>
          </p:cNvPr>
          <p:cNvGrpSpPr/>
          <p:nvPr/>
        </p:nvGrpSpPr>
        <p:grpSpPr>
          <a:xfrm>
            <a:off x="18928653" y="2025393"/>
            <a:ext cx="2450592" cy="2807208"/>
            <a:chOff x="4310062" y="1404937"/>
            <a:chExt cx="3571875" cy="4048125"/>
          </a:xfrm>
        </p:grpSpPr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AF6A3DB1-82B4-03E2-1AE7-09345634C078}"/>
                </a:ext>
              </a:extLst>
            </p:cNvPr>
            <p:cNvSpPr/>
            <p:nvPr/>
          </p:nvSpPr>
          <p:spPr>
            <a:xfrm>
              <a:off x="4310062" y="1404937"/>
              <a:ext cx="3571875" cy="4048125"/>
            </a:xfrm>
            <a:prstGeom prst="roundRect">
              <a:avLst>
                <a:gd name="adj" fmla="val 8400"/>
              </a:avLst>
            </a:prstGeom>
            <a:solidFill>
              <a:srgbClr val="F2C6DE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tIns="457200" rtlCol="0" anchor="ctr" anchorCtr="0">
              <a:normAutofit/>
            </a:bodyPr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2B1A72BF-2DCF-7A4C-976C-7F9D0E86C183}"/>
                </a:ext>
              </a:extLst>
            </p:cNvPr>
            <p:cNvSpPr txBox="1"/>
            <p:nvPr/>
          </p:nvSpPr>
          <p:spPr>
            <a:xfrm>
              <a:off x="4551702" y="1767941"/>
              <a:ext cx="3086100" cy="3322115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 fontScale="70000" lnSpcReduction="20000"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F2C6DE"/>
                  </a:solidFill>
                  <a:latin typeface="Candara" panose="020E0502030303020204" pitchFamily="34" charset="0"/>
                </a:rPr>
                <a:t>Gross</a:t>
              </a:r>
            </a:p>
            <a:p>
              <a:r>
                <a:rPr lang="en-US" sz="1400" dirty="0">
                  <a:solidFill>
                    <a:srgbClr val="F2C6DE"/>
                  </a:solidFill>
                  <a:latin typeface="+mj-lt"/>
                </a:rPr>
                <a:t>        Total Box Office Collection</a:t>
              </a:r>
            </a:p>
            <a:p>
              <a:endParaRPr lang="en-US" sz="2000" dirty="0">
                <a:solidFill>
                  <a:srgbClr val="F2C6DE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F2C6DE"/>
                  </a:solidFill>
                  <a:latin typeface="Candara" panose="020E0502030303020204" pitchFamily="34" charset="0"/>
                </a:rPr>
                <a:t>Budget</a:t>
              </a:r>
            </a:p>
            <a:p>
              <a:r>
                <a:rPr lang="en-US" sz="1400" dirty="0">
                  <a:solidFill>
                    <a:srgbClr val="F2C6DE"/>
                  </a:solidFill>
                  <a:latin typeface="+mj-lt"/>
                </a:rPr>
                <a:t>        Estimated production cost of movie</a:t>
              </a:r>
            </a:p>
            <a:p>
              <a:endParaRPr lang="en-US" sz="2000" dirty="0">
                <a:solidFill>
                  <a:srgbClr val="F2C6DE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F2C6DE"/>
                  </a:solidFill>
                  <a:latin typeface="Candara" panose="020E0502030303020204" pitchFamily="34" charset="0"/>
                </a:rPr>
                <a:t>Opening Weekend</a:t>
              </a:r>
            </a:p>
            <a:p>
              <a:r>
                <a:rPr lang="en-US" sz="1400" dirty="0">
                  <a:solidFill>
                    <a:srgbClr val="F2C6DE"/>
                  </a:solidFill>
                  <a:latin typeface="+mj-lt"/>
                </a:rPr>
                <a:t>        Revenue generated during the </a:t>
              </a:r>
              <a:br>
                <a:rPr lang="en-US" sz="1400" dirty="0">
                  <a:solidFill>
                    <a:srgbClr val="F2C6DE"/>
                  </a:solidFill>
                  <a:latin typeface="+mj-lt"/>
                </a:rPr>
              </a:br>
              <a:r>
                <a:rPr lang="en-US" sz="1400" dirty="0">
                  <a:solidFill>
                    <a:srgbClr val="F2C6DE"/>
                  </a:solidFill>
                  <a:latin typeface="+mj-lt"/>
                </a:rPr>
                <a:t>        opening weekend</a:t>
              </a:r>
            </a:p>
            <a:p>
              <a:endParaRPr lang="en-US" sz="2000" dirty="0">
                <a:solidFill>
                  <a:srgbClr val="F2C6DE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F2C6DE"/>
                  </a:solidFill>
                  <a:latin typeface="Candara" panose="020E0502030303020204" pitchFamily="34" charset="0"/>
                </a:rPr>
                <a:t>ROI</a:t>
              </a:r>
            </a:p>
            <a:p>
              <a:r>
                <a:rPr lang="en-US" sz="1400" dirty="0">
                  <a:solidFill>
                    <a:srgbClr val="F2C6DE"/>
                  </a:solidFill>
                  <a:latin typeface="+mj-lt"/>
                </a:rPr>
                <a:t>        Return on investment of a movie</a:t>
              </a: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4E721D0F-FA89-33DB-EE55-C29B87F333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3433" y="0"/>
            <a:ext cx="4555067" cy="2562225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BEF52B0E-E3D6-F6B5-A499-3AEEBCF43F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0227" y="4067174"/>
            <a:ext cx="4352544" cy="2448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816190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57AAD79-E867-467A-F242-57F0C03AE9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9550" y="4067174"/>
            <a:ext cx="4351867" cy="24479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07513DB-C5F3-4878-79D3-9F96FFF40802}"/>
              </a:ext>
            </a:extLst>
          </p:cNvPr>
          <p:cNvSpPr txBox="1"/>
          <p:nvPr/>
        </p:nvSpPr>
        <p:spPr>
          <a:xfrm>
            <a:off x="4310062" y="5670550"/>
            <a:ext cx="3571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ndara Light" panose="020E0502030303020204" pitchFamily="34" charset="0"/>
              </a:rPr>
              <a:t>Extra Movie Information</a:t>
            </a:r>
            <a:endParaRPr lang="en-IN" sz="24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andara Light" panose="020E0502030303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578B91-6BA4-F9FE-078C-BB67548CF52F}"/>
              </a:ext>
            </a:extLst>
          </p:cNvPr>
          <p:cNvSpPr txBox="1"/>
          <p:nvPr/>
        </p:nvSpPr>
        <p:spPr>
          <a:xfrm>
            <a:off x="3079748" y="341064"/>
            <a:ext cx="60325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C9E4DE"/>
                </a:solidFill>
                <a:latin typeface="Montserrat" pitchFamily="2" charset="0"/>
              </a:rPr>
              <a:t>DATASET SCHEMA</a:t>
            </a:r>
            <a:endParaRPr lang="en-IN" sz="4400" dirty="0">
              <a:solidFill>
                <a:srgbClr val="C9E4DE"/>
              </a:solidFill>
              <a:latin typeface="Montserrat" pitchFamily="2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30A23F5-2AF9-EEDB-7040-33DD52DB2545}"/>
              </a:ext>
            </a:extLst>
          </p:cNvPr>
          <p:cNvGrpSpPr/>
          <p:nvPr/>
        </p:nvGrpSpPr>
        <p:grpSpPr>
          <a:xfrm>
            <a:off x="930668" y="2031992"/>
            <a:ext cx="2450592" cy="2807208"/>
            <a:chOff x="4310062" y="1404937"/>
            <a:chExt cx="3571875" cy="4048125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8EC56A65-8A16-3DB4-DBD6-DEDA3B4AE042}"/>
                </a:ext>
              </a:extLst>
            </p:cNvPr>
            <p:cNvSpPr/>
            <p:nvPr/>
          </p:nvSpPr>
          <p:spPr>
            <a:xfrm>
              <a:off x="4310062" y="1404937"/>
              <a:ext cx="3571875" cy="4048125"/>
            </a:xfrm>
            <a:prstGeom prst="roundRect">
              <a:avLst>
                <a:gd name="adj" fmla="val 8400"/>
              </a:avLst>
            </a:prstGeom>
            <a:solidFill>
              <a:srgbClr val="FAEDCB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tIns="457200" rtlCol="0" anchor="ctr" anchorCtr="0">
              <a:normAutofit/>
            </a:bodyPr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201A817-3838-4AC3-C3E0-43803E06FF94}"/>
                </a:ext>
              </a:extLst>
            </p:cNvPr>
            <p:cNvSpPr txBox="1"/>
            <p:nvPr/>
          </p:nvSpPr>
          <p:spPr>
            <a:xfrm>
              <a:off x="4551702" y="1874727"/>
              <a:ext cx="3086100" cy="3108543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 fontScale="70000" lnSpcReduction="20000"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FAEDCB"/>
                  </a:solidFill>
                  <a:latin typeface="Candara" panose="020E0502030303020204" pitchFamily="34" charset="0"/>
                </a:rPr>
                <a:t>Movie URL</a:t>
              </a:r>
            </a:p>
            <a:p>
              <a:r>
                <a:rPr lang="en-US" sz="1400" dirty="0">
                  <a:solidFill>
                    <a:srgbClr val="FAEDCB"/>
                  </a:solidFill>
                  <a:latin typeface="+mj-lt"/>
                </a:rPr>
                <a:t>        IMDb page link/unique identifier</a:t>
              </a:r>
            </a:p>
            <a:p>
              <a:endParaRPr lang="en-US" sz="2000" dirty="0">
                <a:solidFill>
                  <a:srgbClr val="FAEDCB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FAEDCB"/>
                  </a:solidFill>
                  <a:latin typeface="Candara" panose="020E0502030303020204" pitchFamily="34" charset="0"/>
                </a:rPr>
                <a:t>Movie Title</a:t>
              </a:r>
            </a:p>
            <a:p>
              <a:r>
                <a:rPr lang="en-US" sz="1400" dirty="0">
                  <a:solidFill>
                    <a:srgbClr val="FAEDCB"/>
                  </a:solidFill>
                  <a:latin typeface="+mj-lt"/>
                </a:rPr>
                <a:t>        Name of the Movie</a:t>
              </a:r>
            </a:p>
            <a:p>
              <a:endParaRPr lang="en-US" sz="2000" dirty="0">
                <a:solidFill>
                  <a:srgbClr val="FAEDCB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FAEDCB"/>
                  </a:solidFill>
                  <a:latin typeface="Candara" panose="020E0502030303020204" pitchFamily="34" charset="0"/>
                </a:rPr>
                <a:t>Release Date</a:t>
              </a:r>
            </a:p>
            <a:p>
              <a:r>
                <a:rPr lang="en-US" sz="1400" dirty="0">
                  <a:solidFill>
                    <a:srgbClr val="FAEDCB"/>
                  </a:solidFill>
                  <a:latin typeface="+mj-lt"/>
                </a:rPr>
                <a:t>        Official release date of the movie</a:t>
              </a:r>
            </a:p>
            <a:p>
              <a:endParaRPr lang="en-US" sz="2000" dirty="0">
                <a:solidFill>
                  <a:srgbClr val="FAEDCB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FAEDCB"/>
                  </a:solidFill>
                  <a:latin typeface="Candara" panose="020E0502030303020204" pitchFamily="34" charset="0"/>
                </a:rPr>
                <a:t>Duration</a:t>
              </a:r>
            </a:p>
            <a:p>
              <a:r>
                <a:rPr lang="en-US" sz="1400" dirty="0">
                  <a:solidFill>
                    <a:srgbClr val="FAEDCB"/>
                  </a:solidFill>
                  <a:latin typeface="+mj-lt"/>
                </a:rPr>
                <a:t>        Total runtime of movie in minutes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76370DD-87E4-1951-C656-0776FE2C1497}"/>
              </a:ext>
            </a:extLst>
          </p:cNvPr>
          <p:cNvGrpSpPr/>
          <p:nvPr/>
        </p:nvGrpSpPr>
        <p:grpSpPr>
          <a:xfrm>
            <a:off x="4306824" y="1408176"/>
            <a:ext cx="3575304" cy="4050792"/>
            <a:chOff x="4310062" y="1404937"/>
            <a:chExt cx="3571875" cy="4048125"/>
          </a:xfrm>
        </p:grpSpPr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57AF936B-F58B-97C6-8D1D-20D70CD18471}"/>
                </a:ext>
              </a:extLst>
            </p:cNvPr>
            <p:cNvSpPr/>
            <p:nvPr/>
          </p:nvSpPr>
          <p:spPr>
            <a:xfrm>
              <a:off x="4310062" y="1404937"/>
              <a:ext cx="3571875" cy="4048125"/>
            </a:xfrm>
            <a:prstGeom prst="roundRect">
              <a:avLst>
                <a:gd name="adj" fmla="val 8400"/>
              </a:avLst>
            </a:prstGeom>
            <a:solidFill>
              <a:srgbClr val="C9E4DE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tIns="457200" rtlCol="0" anchor="ctr" anchorCtr="0">
              <a:normAutofit/>
            </a:bodyPr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7CDADB5-87A0-AECF-AC88-488F6E6339BD}"/>
                </a:ext>
              </a:extLst>
            </p:cNvPr>
            <p:cNvSpPr txBox="1"/>
            <p:nvPr/>
          </p:nvSpPr>
          <p:spPr>
            <a:xfrm>
              <a:off x="4551702" y="1767941"/>
              <a:ext cx="3086100" cy="3322115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latin typeface="Candara" panose="020E0502030303020204" pitchFamily="34" charset="0"/>
                </a:rPr>
                <a:t>Countries</a:t>
              </a:r>
            </a:p>
            <a:p>
              <a:r>
                <a:rPr lang="en-US" sz="1400" dirty="0">
                  <a:latin typeface="+mj-lt"/>
                </a:rPr>
                <a:t>        Countries where movie produced</a:t>
              </a:r>
            </a:p>
            <a:p>
              <a:endParaRPr lang="en-US" sz="2000" dirty="0"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latin typeface="Candara" panose="020E0502030303020204" pitchFamily="34" charset="0"/>
                </a:rPr>
                <a:t>Languages</a:t>
              </a:r>
            </a:p>
            <a:p>
              <a:r>
                <a:rPr lang="en-US" sz="1400" dirty="0">
                  <a:latin typeface="+mj-lt"/>
                </a:rPr>
                <a:t>        Languages used in the movie</a:t>
              </a:r>
            </a:p>
            <a:p>
              <a:endParaRPr lang="en-US" sz="2000" dirty="0"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latin typeface="Candara" panose="020E0502030303020204" pitchFamily="34" charset="0"/>
                </a:rPr>
                <a:t>Content Rating</a:t>
              </a:r>
            </a:p>
            <a:p>
              <a:r>
                <a:rPr lang="en-US" sz="1400" dirty="0">
                  <a:latin typeface="+mj-lt"/>
                </a:rPr>
                <a:t>        Age certification (e.g. PG-13, R)</a:t>
              </a:r>
            </a:p>
            <a:p>
              <a:endParaRPr lang="en-US" sz="2000" dirty="0"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latin typeface="Candara" panose="020E0502030303020204" pitchFamily="34" charset="0"/>
                </a:rPr>
                <a:t>Watchlist Count</a:t>
              </a:r>
            </a:p>
            <a:p>
              <a:r>
                <a:rPr lang="en-US" sz="1400" dirty="0">
                  <a:latin typeface="+mj-lt"/>
                </a:rPr>
                <a:t>        No. of users who added movie to</a:t>
              </a:r>
              <a:br>
                <a:rPr lang="en-US" sz="1400" dirty="0">
                  <a:latin typeface="+mj-lt"/>
                </a:rPr>
              </a:br>
              <a:r>
                <a:rPr lang="en-US" sz="1400" dirty="0">
                  <a:latin typeface="+mj-lt"/>
                </a:rPr>
                <a:t>        their watchlist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AFA5843-29F9-C01D-CCD4-65898823BD1B}"/>
              </a:ext>
            </a:extLst>
          </p:cNvPr>
          <p:cNvGrpSpPr/>
          <p:nvPr/>
        </p:nvGrpSpPr>
        <p:grpSpPr>
          <a:xfrm>
            <a:off x="8805672" y="2025394"/>
            <a:ext cx="2450592" cy="2807208"/>
            <a:chOff x="4310062" y="1404937"/>
            <a:chExt cx="3571875" cy="4048125"/>
          </a:xfrm>
        </p:grpSpPr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2B7B8669-E818-E8A9-A5F2-88986F3D5BB7}"/>
                </a:ext>
              </a:extLst>
            </p:cNvPr>
            <p:cNvSpPr/>
            <p:nvPr/>
          </p:nvSpPr>
          <p:spPr>
            <a:xfrm>
              <a:off x="4310062" y="1404937"/>
              <a:ext cx="3571875" cy="4048125"/>
            </a:xfrm>
            <a:prstGeom prst="roundRect">
              <a:avLst>
                <a:gd name="adj" fmla="val 8400"/>
              </a:avLst>
            </a:prstGeom>
            <a:solidFill>
              <a:srgbClr val="C6DEF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tIns="457200" rtlCol="0" anchor="ctr" anchorCtr="0">
              <a:normAutofit/>
            </a:bodyPr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1596DD2-0F66-62ED-B0C1-65B8F8369F87}"/>
                </a:ext>
              </a:extLst>
            </p:cNvPr>
            <p:cNvSpPr txBox="1"/>
            <p:nvPr/>
          </p:nvSpPr>
          <p:spPr>
            <a:xfrm>
              <a:off x="4551702" y="1767941"/>
              <a:ext cx="3086100" cy="3322115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 fontScale="70000" lnSpcReduction="20000"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C6DEF1"/>
                  </a:solidFill>
                  <a:latin typeface="Candara" panose="020E0502030303020204" pitchFamily="34" charset="0"/>
                </a:rPr>
                <a:t>Genres</a:t>
              </a:r>
            </a:p>
            <a:p>
              <a:r>
                <a:rPr lang="en-US" sz="1400" dirty="0">
                  <a:solidFill>
                    <a:srgbClr val="C6DEF1"/>
                  </a:solidFill>
                  <a:latin typeface="+mj-lt"/>
                </a:rPr>
                <a:t>        Categories assigned to the movie</a:t>
              </a:r>
            </a:p>
            <a:p>
              <a:endParaRPr lang="en-US" sz="2000" dirty="0">
                <a:solidFill>
                  <a:srgbClr val="C6DEF1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C6DEF1"/>
                  </a:solidFill>
                  <a:latin typeface="Candara" panose="020E0502030303020204" pitchFamily="34" charset="0"/>
                </a:rPr>
                <a:t>Description</a:t>
              </a:r>
            </a:p>
            <a:p>
              <a:r>
                <a:rPr lang="en-US" sz="1400" dirty="0">
                  <a:solidFill>
                    <a:srgbClr val="C6DEF1"/>
                  </a:solidFill>
                  <a:latin typeface="+mj-lt"/>
                </a:rPr>
                <a:t>        Short summary of the movie plot </a:t>
              </a:r>
            </a:p>
            <a:p>
              <a:endParaRPr lang="en-US" sz="2000" dirty="0">
                <a:solidFill>
                  <a:srgbClr val="C6DEF1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C6DEF1"/>
                  </a:solidFill>
                  <a:latin typeface="Candara" panose="020E0502030303020204" pitchFamily="34" charset="0"/>
                </a:rPr>
                <a:t>Keywords</a:t>
              </a:r>
            </a:p>
            <a:p>
              <a:r>
                <a:rPr lang="en-US" sz="1400" dirty="0">
                  <a:solidFill>
                    <a:srgbClr val="C6DEF1"/>
                  </a:solidFill>
                  <a:latin typeface="+mj-lt"/>
                </a:rPr>
                <a:t>        Important tags/themes related to</a:t>
              </a:r>
              <a:br>
                <a:rPr lang="en-US" sz="1400" dirty="0">
                  <a:solidFill>
                    <a:srgbClr val="C6DEF1"/>
                  </a:solidFill>
                  <a:latin typeface="+mj-lt"/>
                </a:rPr>
              </a:br>
              <a:r>
                <a:rPr lang="en-US" sz="1400" dirty="0">
                  <a:solidFill>
                    <a:srgbClr val="C6DEF1"/>
                  </a:solidFill>
                  <a:latin typeface="+mj-lt"/>
                </a:rPr>
                <a:t>        the movie content</a:t>
              </a:r>
            </a:p>
            <a:p>
              <a:endParaRPr lang="en-US" sz="2000" dirty="0">
                <a:solidFill>
                  <a:srgbClr val="C6DEF1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C6DEF1"/>
                  </a:solidFill>
                  <a:latin typeface="Candara" panose="020E0502030303020204" pitchFamily="34" charset="0"/>
                </a:rPr>
                <a:t>Director &amp; Casts</a:t>
              </a:r>
            </a:p>
            <a:p>
              <a:r>
                <a:rPr lang="en-US" sz="1400" dirty="0">
                  <a:solidFill>
                    <a:srgbClr val="C6DEF1"/>
                  </a:solidFill>
                  <a:latin typeface="+mj-lt"/>
                </a:rPr>
                <a:t>        Name of the director and lead actor/</a:t>
              </a:r>
              <a:br>
                <a:rPr lang="en-US" sz="1400" dirty="0">
                  <a:solidFill>
                    <a:srgbClr val="C6DEF1"/>
                  </a:solidFill>
                  <a:latin typeface="+mj-lt"/>
                </a:rPr>
              </a:br>
              <a:r>
                <a:rPr lang="en-US" sz="1400" dirty="0">
                  <a:solidFill>
                    <a:srgbClr val="C6DEF1"/>
                  </a:solidFill>
                  <a:latin typeface="+mj-lt"/>
                </a:rPr>
                <a:t>        actresses in the movie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E202A16-4900-9DA8-1FE5-29F552D6B91D}"/>
              </a:ext>
            </a:extLst>
          </p:cNvPr>
          <p:cNvGrpSpPr/>
          <p:nvPr/>
        </p:nvGrpSpPr>
        <p:grpSpPr>
          <a:xfrm>
            <a:off x="12179808" y="2025392"/>
            <a:ext cx="2450592" cy="2807208"/>
            <a:chOff x="4310062" y="1404937"/>
            <a:chExt cx="3571875" cy="4048125"/>
          </a:xfrm>
        </p:grpSpPr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37427587-0B97-DC01-AD62-530BF67FAE7A}"/>
                </a:ext>
              </a:extLst>
            </p:cNvPr>
            <p:cNvSpPr/>
            <p:nvPr/>
          </p:nvSpPr>
          <p:spPr>
            <a:xfrm>
              <a:off x="4310062" y="1404937"/>
              <a:ext cx="3571875" cy="4048125"/>
            </a:xfrm>
            <a:prstGeom prst="roundRect">
              <a:avLst>
                <a:gd name="adj" fmla="val 8400"/>
              </a:avLst>
            </a:prstGeom>
            <a:solidFill>
              <a:srgbClr val="DECBF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tIns="457200" rtlCol="0" anchor="ctr" anchorCtr="0">
              <a:normAutofit/>
            </a:bodyPr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05AB4B4-BD5B-615C-BCB8-AE385D54F52F}"/>
                </a:ext>
              </a:extLst>
            </p:cNvPr>
            <p:cNvSpPr txBox="1"/>
            <p:nvPr/>
          </p:nvSpPr>
          <p:spPr>
            <a:xfrm>
              <a:off x="4551702" y="1767941"/>
              <a:ext cx="3086100" cy="3322115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 fontScale="70000" lnSpcReduction="20000"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DBCBF0"/>
                  </a:solidFill>
                  <a:latin typeface="Candara" panose="020E0502030303020204" pitchFamily="34" charset="0"/>
                </a:rPr>
                <a:t>Rating</a:t>
              </a:r>
            </a:p>
            <a:p>
              <a:r>
                <a:rPr lang="en-US" sz="1400" dirty="0">
                  <a:solidFill>
                    <a:srgbClr val="DBCBF0"/>
                  </a:solidFill>
                  <a:latin typeface="+mj-lt"/>
                </a:rPr>
                <a:t>        IMDb user rating</a:t>
              </a:r>
            </a:p>
            <a:p>
              <a:endParaRPr lang="en-US" sz="2000" dirty="0">
                <a:solidFill>
                  <a:srgbClr val="DBCBF0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DBCBF0"/>
                  </a:solidFill>
                  <a:latin typeface="Candara" panose="020E0502030303020204" pitchFamily="34" charset="0"/>
                </a:rPr>
                <a:t>Votes</a:t>
              </a:r>
            </a:p>
            <a:p>
              <a:r>
                <a:rPr lang="en-US" sz="1400" dirty="0">
                  <a:solidFill>
                    <a:srgbClr val="DBCBF0"/>
                  </a:solidFill>
                  <a:latin typeface="+mj-lt"/>
                </a:rPr>
                <a:t>        No. of user votes received on IMDb</a:t>
              </a:r>
            </a:p>
            <a:p>
              <a:endParaRPr lang="en-US" sz="2000" dirty="0">
                <a:solidFill>
                  <a:srgbClr val="DBCBF0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 err="1">
                  <a:solidFill>
                    <a:srgbClr val="DBCBF0"/>
                  </a:solidFill>
                  <a:latin typeface="Candara" panose="020E0502030303020204" pitchFamily="34" charset="0"/>
                </a:rPr>
                <a:t>Metascore</a:t>
              </a:r>
              <a:endParaRPr lang="en-US" sz="2000" b="1" dirty="0">
                <a:solidFill>
                  <a:srgbClr val="DBCBF0"/>
                </a:solidFill>
                <a:latin typeface="Candara" panose="020E0502030303020204" pitchFamily="34" charset="0"/>
              </a:endParaRPr>
            </a:p>
            <a:p>
              <a:r>
                <a:rPr lang="en-US" sz="1400" dirty="0">
                  <a:solidFill>
                    <a:srgbClr val="DBCBF0"/>
                  </a:solidFill>
                  <a:latin typeface="+mj-lt"/>
                </a:rPr>
                <a:t>        Critic rating score from external</a:t>
              </a:r>
              <a:br>
                <a:rPr lang="en-US" sz="1400" dirty="0">
                  <a:solidFill>
                    <a:srgbClr val="DBCBF0"/>
                  </a:solidFill>
                  <a:latin typeface="+mj-lt"/>
                </a:rPr>
              </a:br>
              <a:r>
                <a:rPr lang="en-US" sz="1400" dirty="0">
                  <a:solidFill>
                    <a:srgbClr val="DBCBF0"/>
                  </a:solidFill>
                  <a:latin typeface="+mj-lt"/>
                </a:rPr>
                <a:t>        sources</a:t>
              </a:r>
            </a:p>
            <a:p>
              <a:endParaRPr lang="en-US" sz="2000" dirty="0">
                <a:solidFill>
                  <a:srgbClr val="DBCBF0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DBCBF0"/>
                  </a:solidFill>
                  <a:latin typeface="Candara" panose="020E0502030303020204" pitchFamily="34" charset="0"/>
                </a:rPr>
                <a:t>User &amp; Critic Reviews</a:t>
              </a:r>
            </a:p>
            <a:p>
              <a:r>
                <a:rPr lang="en-US" sz="1400" dirty="0">
                  <a:solidFill>
                    <a:srgbClr val="DBCBF0"/>
                  </a:solidFill>
                  <a:latin typeface="+mj-lt"/>
                </a:rPr>
                <a:t>        Total no. of user-written and critic</a:t>
              </a:r>
              <a:br>
                <a:rPr lang="en-US" sz="1400" dirty="0">
                  <a:solidFill>
                    <a:srgbClr val="DBCBF0"/>
                  </a:solidFill>
                  <a:latin typeface="+mj-lt"/>
                </a:rPr>
              </a:br>
              <a:r>
                <a:rPr lang="en-US" sz="1400" dirty="0">
                  <a:solidFill>
                    <a:srgbClr val="DBCBF0"/>
                  </a:solidFill>
                  <a:latin typeface="+mj-lt"/>
                </a:rPr>
                <a:t>        reviews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15D1A43-E1BF-4F2E-8A02-8249B94571A4}"/>
              </a:ext>
            </a:extLst>
          </p:cNvPr>
          <p:cNvGrpSpPr/>
          <p:nvPr/>
        </p:nvGrpSpPr>
        <p:grpSpPr>
          <a:xfrm>
            <a:off x="15553944" y="2025392"/>
            <a:ext cx="2450592" cy="2807208"/>
            <a:chOff x="4310062" y="1404937"/>
            <a:chExt cx="3571875" cy="4048125"/>
          </a:xfrm>
        </p:grpSpPr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AF6A3DB1-82B4-03E2-1AE7-09345634C078}"/>
                </a:ext>
              </a:extLst>
            </p:cNvPr>
            <p:cNvSpPr/>
            <p:nvPr/>
          </p:nvSpPr>
          <p:spPr>
            <a:xfrm>
              <a:off x="4310062" y="1404937"/>
              <a:ext cx="3571875" cy="4048125"/>
            </a:xfrm>
            <a:prstGeom prst="roundRect">
              <a:avLst>
                <a:gd name="adj" fmla="val 8400"/>
              </a:avLst>
            </a:prstGeom>
            <a:solidFill>
              <a:srgbClr val="F2C6DE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tIns="457200" rtlCol="0" anchor="ctr" anchorCtr="0">
              <a:normAutofit/>
            </a:bodyPr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2B1A72BF-2DCF-7A4C-976C-7F9D0E86C183}"/>
                </a:ext>
              </a:extLst>
            </p:cNvPr>
            <p:cNvSpPr txBox="1"/>
            <p:nvPr/>
          </p:nvSpPr>
          <p:spPr>
            <a:xfrm>
              <a:off x="4551702" y="1767941"/>
              <a:ext cx="3086100" cy="3322115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 fontScale="70000" lnSpcReduction="20000"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F2C6DE"/>
                  </a:solidFill>
                  <a:latin typeface="Candara" panose="020E0502030303020204" pitchFamily="34" charset="0"/>
                </a:rPr>
                <a:t>Gross</a:t>
              </a:r>
            </a:p>
            <a:p>
              <a:r>
                <a:rPr lang="en-US" sz="1400" dirty="0">
                  <a:solidFill>
                    <a:srgbClr val="F2C6DE"/>
                  </a:solidFill>
                  <a:latin typeface="+mj-lt"/>
                </a:rPr>
                <a:t>        Total Box Office Collection</a:t>
              </a:r>
            </a:p>
            <a:p>
              <a:endParaRPr lang="en-US" sz="2000" dirty="0">
                <a:solidFill>
                  <a:srgbClr val="F2C6DE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F2C6DE"/>
                  </a:solidFill>
                  <a:latin typeface="Candara" panose="020E0502030303020204" pitchFamily="34" charset="0"/>
                </a:rPr>
                <a:t>Budget</a:t>
              </a:r>
            </a:p>
            <a:p>
              <a:r>
                <a:rPr lang="en-US" sz="1400" dirty="0">
                  <a:solidFill>
                    <a:srgbClr val="F2C6DE"/>
                  </a:solidFill>
                  <a:latin typeface="+mj-lt"/>
                </a:rPr>
                <a:t>        Estimated production cost of movie</a:t>
              </a:r>
            </a:p>
            <a:p>
              <a:endParaRPr lang="en-US" sz="2000" dirty="0">
                <a:solidFill>
                  <a:srgbClr val="F2C6DE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F2C6DE"/>
                  </a:solidFill>
                  <a:latin typeface="Candara" panose="020E0502030303020204" pitchFamily="34" charset="0"/>
                </a:rPr>
                <a:t>Opening Weekend</a:t>
              </a:r>
            </a:p>
            <a:p>
              <a:r>
                <a:rPr lang="en-US" sz="1400" dirty="0">
                  <a:solidFill>
                    <a:srgbClr val="F2C6DE"/>
                  </a:solidFill>
                  <a:latin typeface="+mj-lt"/>
                </a:rPr>
                <a:t>        Revenue generated during the </a:t>
              </a:r>
              <a:br>
                <a:rPr lang="en-US" sz="1400" dirty="0">
                  <a:solidFill>
                    <a:srgbClr val="F2C6DE"/>
                  </a:solidFill>
                  <a:latin typeface="+mj-lt"/>
                </a:rPr>
              </a:br>
              <a:r>
                <a:rPr lang="en-US" sz="1400" dirty="0">
                  <a:solidFill>
                    <a:srgbClr val="F2C6DE"/>
                  </a:solidFill>
                  <a:latin typeface="+mj-lt"/>
                </a:rPr>
                <a:t>        opening weekend</a:t>
              </a:r>
            </a:p>
            <a:p>
              <a:endParaRPr lang="en-US" sz="2000" dirty="0">
                <a:solidFill>
                  <a:srgbClr val="F2C6DE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F2C6DE"/>
                  </a:solidFill>
                  <a:latin typeface="Candara" panose="020E0502030303020204" pitchFamily="34" charset="0"/>
                </a:rPr>
                <a:t>ROI</a:t>
              </a:r>
            </a:p>
            <a:p>
              <a:r>
                <a:rPr lang="en-US" sz="1400" dirty="0">
                  <a:solidFill>
                    <a:srgbClr val="F2C6DE"/>
                  </a:solidFill>
                  <a:latin typeface="+mj-lt"/>
                </a:rPr>
                <a:t>        Return on investment of a movie</a:t>
              </a: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4E721D0F-FA89-33DB-EE55-C29B87F333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3433" y="0"/>
            <a:ext cx="4555067" cy="256222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AFC939A-731E-0ADC-5552-056E42EC21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0227" y="4067174"/>
            <a:ext cx="4352544" cy="2448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093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57AAD79-E867-467A-F242-57F0C03AE9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9550" y="4067174"/>
            <a:ext cx="4351867" cy="24479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07513DB-C5F3-4878-79D3-9F96FFF40802}"/>
              </a:ext>
            </a:extLst>
          </p:cNvPr>
          <p:cNvSpPr txBox="1"/>
          <p:nvPr/>
        </p:nvSpPr>
        <p:spPr>
          <a:xfrm>
            <a:off x="4310062" y="5670550"/>
            <a:ext cx="3571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ndara Light" panose="020E0502030303020204" pitchFamily="34" charset="0"/>
              </a:rPr>
              <a:t>Content Attributes</a:t>
            </a:r>
            <a:endParaRPr lang="en-IN" sz="24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andara Light" panose="020E0502030303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578B91-6BA4-F9FE-078C-BB67548CF52F}"/>
              </a:ext>
            </a:extLst>
          </p:cNvPr>
          <p:cNvSpPr txBox="1"/>
          <p:nvPr/>
        </p:nvSpPr>
        <p:spPr>
          <a:xfrm>
            <a:off x="3079748" y="341064"/>
            <a:ext cx="60325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C6DEF1"/>
                </a:solidFill>
                <a:latin typeface="Montserrat" pitchFamily="2" charset="0"/>
              </a:rPr>
              <a:t>DATASET SCHEMA</a:t>
            </a:r>
            <a:endParaRPr lang="en-IN" sz="4400" dirty="0">
              <a:solidFill>
                <a:srgbClr val="C6DEF1"/>
              </a:solidFill>
              <a:latin typeface="Montserrat" pitchFamily="2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30A23F5-2AF9-EEDB-7040-33DD52DB2545}"/>
              </a:ext>
            </a:extLst>
          </p:cNvPr>
          <p:cNvGrpSpPr/>
          <p:nvPr/>
        </p:nvGrpSpPr>
        <p:grpSpPr>
          <a:xfrm>
            <a:off x="-2441448" y="2025392"/>
            <a:ext cx="2450592" cy="2807208"/>
            <a:chOff x="4298954" y="1404938"/>
            <a:chExt cx="3571875" cy="4048125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8EC56A65-8A16-3DB4-DBD6-DEDA3B4AE042}"/>
                </a:ext>
              </a:extLst>
            </p:cNvPr>
            <p:cNvSpPr/>
            <p:nvPr/>
          </p:nvSpPr>
          <p:spPr>
            <a:xfrm>
              <a:off x="4298954" y="1404938"/>
              <a:ext cx="3571875" cy="4048125"/>
            </a:xfrm>
            <a:prstGeom prst="roundRect">
              <a:avLst>
                <a:gd name="adj" fmla="val 8400"/>
              </a:avLst>
            </a:prstGeom>
            <a:solidFill>
              <a:srgbClr val="FAEDCB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tIns="457200" rtlCol="0" anchor="ctr" anchorCtr="0">
              <a:normAutofit/>
            </a:bodyPr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201A817-3838-4AC3-C3E0-43803E06FF94}"/>
                </a:ext>
              </a:extLst>
            </p:cNvPr>
            <p:cNvSpPr txBox="1"/>
            <p:nvPr/>
          </p:nvSpPr>
          <p:spPr>
            <a:xfrm>
              <a:off x="4551702" y="1874727"/>
              <a:ext cx="3086100" cy="3108543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 fontScale="70000" lnSpcReduction="20000"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FAEDCB"/>
                  </a:solidFill>
                  <a:latin typeface="Candara" panose="020E0502030303020204" pitchFamily="34" charset="0"/>
                </a:rPr>
                <a:t>Movie URL</a:t>
              </a:r>
            </a:p>
            <a:p>
              <a:r>
                <a:rPr lang="en-US" sz="1400" dirty="0">
                  <a:solidFill>
                    <a:srgbClr val="FAEDCB"/>
                  </a:solidFill>
                  <a:latin typeface="+mj-lt"/>
                </a:rPr>
                <a:t>        IMDb page link/unique identifier</a:t>
              </a:r>
            </a:p>
            <a:p>
              <a:endParaRPr lang="en-US" sz="2000" dirty="0">
                <a:solidFill>
                  <a:srgbClr val="FAEDCB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FAEDCB"/>
                  </a:solidFill>
                  <a:latin typeface="Candara" panose="020E0502030303020204" pitchFamily="34" charset="0"/>
                </a:rPr>
                <a:t>Movie Title</a:t>
              </a:r>
            </a:p>
            <a:p>
              <a:r>
                <a:rPr lang="en-US" sz="1400" dirty="0">
                  <a:solidFill>
                    <a:srgbClr val="FAEDCB"/>
                  </a:solidFill>
                  <a:latin typeface="+mj-lt"/>
                </a:rPr>
                <a:t>        Name of the Movie</a:t>
              </a:r>
            </a:p>
            <a:p>
              <a:endParaRPr lang="en-US" sz="2000" dirty="0">
                <a:solidFill>
                  <a:srgbClr val="FAEDCB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FAEDCB"/>
                  </a:solidFill>
                  <a:latin typeface="Candara" panose="020E0502030303020204" pitchFamily="34" charset="0"/>
                </a:rPr>
                <a:t>Release Date</a:t>
              </a:r>
            </a:p>
            <a:p>
              <a:r>
                <a:rPr lang="en-US" sz="1400" dirty="0">
                  <a:solidFill>
                    <a:srgbClr val="FAEDCB"/>
                  </a:solidFill>
                  <a:latin typeface="+mj-lt"/>
                </a:rPr>
                <a:t>        Official release date of the movie</a:t>
              </a:r>
            </a:p>
            <a:p>
              <a:endParaRPr lang="en-US" sz="2000" dirty="0">
                <a:solidFill>
                  <a:srgbClr val="FAEDCB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FAEDCB"/>
                  </a:solidFill>
                  <a:latin typeface="Candara" panose="020E0502030303020204" pitchFamily="34" charset="0"/>
                </a:rPr>
                <a:t>Duration</a:t>
              </a:r>
            </a:p>
            <a:p>
              <a:r>
                <a:rPr lang="en-US" sz="1400" dirty="0">
                  <a:solidFill>
                    <a:srgbClr val="FAEDCB"/>
                  </a:solidFill>
                  <a:latin typeface="+mj-lt"/>
                </a:rPr>
                <a:t>        Total runtime of movie in minutes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76370DD-87E4-1951-C656-0776FE2C1497}"/>
              </a:ext>
            </a:extLst>
          </p:cNvPr>
          <p:cNvGrpSpPr/>
          <p:nvPr/>
        </p:nvGrpSpPr>
        <p:grpSpPr>
          <a:xfrm>
            <a:off x="932688" y="2029968"/>
            <a:ext cx="2450592" cy="2807208"/>
            <a:chOff x="4310062" y="1404937"/>
            <a:chExt cx="3571875" cy="4048125"/>
          </a:xfrm>
        </p:grpSpPr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57AF936B-F58B-97C6-8D1D-20D70CD18471}"/>
                </a:ext>
              </a:extLst>
            </p:cNvPr>
            <p:cNvSpPr/>
            <p:nvPr/>
          </p:nvSpPr>
          <p:spPr>
            <a:xfrm>
              <a:off x="4310062" y="1404937"/>
              <a:ext cx="3571875" cy="4048125"/>
            </a:xfrm>
            <a:prstGeom prst="roundRect">
              <a:avLst>
                <a:gd name="adj" fmla="val 8400"/>
              </a:avLst>
            </a:prstGeom>
            <a:solidFill>
              <a:srgbClr val="C9E4DE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tIns="457200" rtlCol="0" anchor="ctr" anchorCtr="0">
              <a:normAutofit/>
            </a:bodyPr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7CDADB5-87A0-AECF-AC88-488F6E6339BD}"/>
                </a:ext>
              </a:extLst>
            </p:cNvPr>
            <p:cNvSpPr txBox="1"/>
            <p:nvPr/>
          </p:nvSpPr>
          <p:spPr>
            <a:xfrm>
              <a:off x="4551702" y="1767941"/>
              <a:ext cx="3086100" cy="3322115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 fontScale="70000" lnSpcReduction="20000"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C9E4DE"/>
                  </a:solidFill>
                  <a:latin typeface="Candara" panose="020E0502030303020204" pitchFamily="34" charset="0"/>
                </a:rPr>
                <a:t>Countries</a:t>
              </a:r>
            </a:p>
            <a:p>
              <a:r>
                <a:rPr lang="en-US" sz="1400" dirty="0">
                  <a:solidFill>
                    <a:srgbClr val="C9E4DE"/>
                  </a:solidFill>
                  <a:latin typeface="+mj-lt"/>
                </a:rPr>
                <a:t>        Countries where movie produced</a:t>
              </a:r>
            </a:p>
            <a:p>
              <a:endParaRPr lang="en-US" sz="2000" dirty="0">
                <a:solidFill>
                  <a:srgbClr val="C9E4DE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C9E4DE"/>
                  </a:solidFill>
                  <a:latin typeface="Candara" panose="020E0502030303020204" pitchFamily="34" charset="0"/>
                </a:rPr>
                <a:t>Languages</a:t>
              </a:r>
            </a:p>
            <a:p>
              <a:r>
                <a:rPr lang="en-US" sz="1400" dirty="0">
                  <a:solidFill>
                    <a:srgbClr val="C9E4DE"/>
                  </a:solidFill>
                  <a:latin typeface="+mj-lt"/>
                </a:rPr>
                <a:t>        Languages used in the movie</a:t>
              </a:r>
            </a:p>
            <a:p>
              <a:endParaRPr lang="en-US" sz="2000" dirty="0">
                <a:solidFill>
                  <a:srgbClr val="C9E4DE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C9E4DE"/>
                  </a:solidFill>
                  <a:latin typeface="Candara" panose="020E0502030303020204" pitchFamily="34" charset="0"/>
                </a:rPr>
                <a:t>Content Rating</a:t>
              </a:r>
            </a:p>
            <a:p>
              <a:r>
                <a:rPr lang="en-US" sz="1400" dirty="0">
                  <a:solidFill>
                    <a:srgbClr val="C9E4DE"/>
                  </a:solidFill>
                  <a:latin typeface="+mj-lt"/>
                </a:rPr>
                <a:t>        Age certification (e.g. PG-13, R)</a:t>
              </a:r>
            </a:p>
            <a:p>
              <a:endParaRPr lang="en-US" sz="2000" dirty="0">
                <a:solidFill>
                  <a:srgbClr val="C9E4DE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C9E4DE"/>
                  </a:solidFill>
                  <a:latin typeface="Candara" panose="020E0502030303020204" pitchFamily="34" charset="0"/>
                </a:rPr>
                <a:t>Watchlist Count</a:t>
              </a:r>
            </a:p>
            <a:p>
              <a:r>
                <a:rPr lang="en-US" sz="1400" dirty="0">
                  <a:solidFill>
                    <a:srgbClr val="C9E4DE"/>
                  </a:solidFill>
                  <a:latin typeface="+mj-lt"/>
                </a:rPr>
                <a:t>        No. of users who added movie to</a:t>
              </a:r>
              <a:br>
                <a:rPr lang="en-US" sz="1400" dirty="0">
                  <a:solidFill>
                    <a:srgbClr val="C9E4DE"/>
                  </a:solidFill>
                  <a:latin typeface="+mj-lt"/>
                </a:rPr>
              </a:br>
              <a:r>
                <a:rPr lang="en-US" sz="1400" dirty="0">
                  <a:solidFill>
                    <a:srgbClr val="C9E4DE"/>
                  </a:solidFill>
                  <a:latin typeface="+mj-lt"/>
                </a:rPr>
                <a:t>        their watchlist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AFA5843-29F9-C01D-CCD4-65898823BD1B}"/>
              </a:ext>
            </a:extLst>
          </p:cNvPr>
          <p:cNvGrpSpPr/>
          <p:nvPr/>
        </p:nvGrpSpPr>
        <p:grpSpPr>
          <a:xfrm>
            <a:off x="4306824" y="1408176"/>
            <a:ext cx="3575304" cy="4050792"/>
            <a:chOff x="4310062" y="1404937"/>
            <a:chExt cx="3571875" cy="4048125"/>
          </a:xfrm>
        </p:grpSpPr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2B7B8669-E818-E8A9-A5F2-88986F3D5BB7}"/>
                </a:ext>
              </a:extLst>
            </p:cNvPr>
            <p:cNvSpPr/>
            <p:nvPr/>
          </p:nvSpPr>
          <p:spPr>
            <a:xfrm>
              <a:off x="4310062" y="1404937"/>
              <a:ext cx="3571875" cy="4048125"/>
            </a:xfrm>
            <a:prstGeom prst="roundRect">
              <a:avLst>
                <a:gd name="adj" fmla="val 8400"/>
              </a:avLst>
            </a:prstGeom>
            <a:solidFill>
              <a:srgbClr val="C6DEF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tIns="457200" rtlCol="0" anchor="ctr" anchorCtr="0">
              <a:normAutofit/>
            </a:bodyPr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1596DD2-0F66-62ED-B0C1-65B8F8369F87}"/>
                </a:ext>
              </a:extLst>
            </p:cNvPr>
            <p:cNvSpPr txBox="1"/>
            <p:nvPr/>
          </p:nvSpPr>
          <p:spPr>
            <a:xfrm>
              <a:off x="4551702" y="1767941"/>
              <a:ext cx="3086100" cy="3322115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 fontScale="92500"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latin typeface="Candara" panose="020E0502030303020204" pitchFamily="34" charset="0"/>
                </a:rPr>
                <a:t>Genres</a:t>
              </a:r>
            </a:p>
            <a:p>
              <a:r>
                <a:rPr lang="en-US" sz="1400" dirty="0">
                  <a:latin typeface="+mj-lt"/>
                </a:rPr>
                <a:t>        Categories assigned to the movie</a:t>
              </a:r>
            </a:p>
            <a:p>
              <a:endParaRPr lang="en-US" sz="2000" dirty="0"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latin typeface="Candara" panose="020E0502030303020204" pitchFamily="34" charset="0"/>
                </a:rPr>
                <a:t>Description</a:t>
              </a:r>
            </a:p>
            <a:p>
              <a:r>
                <a:rPr lang="en-US" sz="1400" dirty="0">
                  <a:latin typeface="+mj-lt"/>
                </a:rPr>
                <a:t>        Short summary of the movie plot </a:t>
              </a:r>
            </a:p>
            <a:p>
              <a:endParaRPr lang="en-US" sz="2000" dirty="0"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latin typeface="Candara" panose="020E0502030303020204" pitchFamily="34" charset="0"/>
                </a:rPr>
                <a:t>Keywords</a:t>
              </a:r>
            </a:p>
            <a:p>
              <a:r>
                <a:rPr lang="en-US" sz="1400" dirty="0">
                  <a:latin typeface="+mj-lt"/>
                </a:rPr>
                <a:t>        Important tags/themes related to</a:t>
              </a:r>
              <a:br>
                <a:rPr lang="en-US" sz="1400" dirty="0">
                  <a:latin typeface="+mj-lt"/>
                </a:rPr>
              </a:br>
              <a:r>
                <a:rPr lang="en-US" sz="1400" dirty="0">
                  <a:latin typeface="+mj-lt"/>
                </a:rPr>
                <a:t>        the movie content</a:t>
              </a:r>
            </a:p>
            <a:p>
              <a:endParaRPr lang="en-US" sz="2000" dirty="0"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latin typeface="Candara" panose="020E0502030303020204" pitchFamily="34" charset="0"/>
                </a:rPr>
                <a:t>Director &amp; Casts</a:t>
              </a:r>
            </a:p>
            <a:p>
              <a:r>
                <a:rPr lang="en-US" sz="1400" dirty="0">
                  <a:latin typeface="+mj-lt"/>
                </a:rPr>
                <a:t>        Name of the director and lead actor/</a:t>
              </a:r>
              <a:br>
                <a:rPr lang="en-US" sz="1400" dirty="0">
                  <a:latin typeface="+mj-lt"/>
                </a:rPr>
              </a:br>
              <a:r>
                <a:rPr lang="en-US" sz="1400" dirty="0">
                  <a:latin typeface="+mj-lt"/>
                </a:rPr>
                <a:t>        actresses in the movie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E202A16-4900-9DA8-1FE5-29F552D6B91D}"/>
              </a:ext>
            </a:extLst>
          </p:cNvPr>
          <p:cNvGrpSpPr/>
          <p:nvPr/>
        </p:nvGrpSpPr>
        <p:grpSpPr>
          <a:xfrm>
            <a:off x="8805672" y="2025392"/>
            <a:ext cx="2450592" cy="2807208"/>
            <a:chOff x="4310062" y="1404937"/>
            <a:chExt cx="3571875" cy="4048125"/>
          </a:xfrm>
        </p:grpSpPr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37427587-0B97-DC01-AD62-530BF67FAE7A}"/>
                </a:ext>
              </a:extLst>
            </p:cNvPr>
            <p:cNvSpPr/>
            <p:nvPr/>
          </p:nvSpPr>
          <p:spPr>
            <a:xfrm>
              <a:off x="4310062" y="1404937"/>
              <a:ext cx="3571875" cy="4048125"/>
            </a:xfrm>
            <a:prstGeom prst="roundRect">
              <a:avLst>
                <a:gd name="adj" fmla="val 8400"/>
              </a:avLst>
            </a:prstGeom>
            <a:solidFill>
              <a:srgbClr val="DECBF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tIns="457200" rtlCol="0" anchor="ctr" anchorCtr="0">
              <a:normAutofit/>
            </a:bodyPr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05AB4B4-BD5B-615C-BCB8-AE385D54F52F}"/>
                </a:ext>
              </a:extLst>
            </p:cNvPr>
            <p:cNvSpPr txBox="1"/>
            <p:nvPr/>
          </p:nvSpPr>
          <p:spPr>
            <a:xfrm>
              <a:off x="4551702" y="1767941"/>
              <a:ext cx="3086100" cy="3322115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 fontScale="70000" lnSpcReduction="20000"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DBCBF0"/>
                  </a:solidFill>
                  <a:latin typeface="Candara" panose="020E0502030303020204" pitchFamily="34" charset="0"/>
                </a:rPr>
                <a:t>Rating</a:t>
              </a:r>
            </a:p>
            <a:p>
              <a:r>
                <a:rPr lang="en-US" sz="1400" dirty="0">
                  <a:solidFill>
                    <a:srgbClr val="DBCBF0"/>
                  </a:solidFill>
                  <a:latin typeface="+mj-lt"/>
                </a:rPr>
                <a:t>        IMDb user rating</a:t>
              </a:r>
            </a:p>
            <a:p>
              <a:endParaRPr lang="en-US" sz="2000" dirty="0">
                <a:solidFill>
                  <a:srgbClr val="DBCBF0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DBCBF0"/>
                  </a:solidFill>
                  <a:latin typeface="Candara" panose="020E0502030303020204" pitchFamily="34" charset="0"/>
                </a:rPr>
                <a:t>Votes</a:t>
              </a:r>
            </a:p>
            <a:p>
              <a:r>
                <a:rPr lang="en-US" sz="1400" dirty="0">
                  <a:solidFill>
                    <a:srgbClr val="DBCBF0"/>
                  </a:solidFill>
                  <a:latin typeface="+mj-lt"/>
                </a:rPr>
                <a:t>        No. of user votes received on IMDb</a:t>
              </a:r>
            </a:p>
            <a:p>
              <a:endParaRPr lang="en-US" sz="2000" dirty="0">
                <a:solidFill>
                  <a:srgbClr val="DBCBF0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 err="1">
                  <a:solidFill>
                    <a:srgbClr val="DBCBF0"/>
                  </a:solidFill>
                  <a:latin typeface="Candara" panose="020E0502030303020204" pitchFamily="34" charset="0"/>
                </a:rPr>
                <a:t>Metascore</a:t>
              </a:r>
              <a:endParaRPr lang="en-US" sz="2000" b="1" dirty="0">
                <a:solidFill>
                  <a:srgbClr val="DBCBF0"/>
                </a:solidFill>
                <a:latin typeface="Candara" panose="020E0502030303020204" pitchFamily="34" charset="0"/>
              </a:endParaRPr>
            </a:p>
            <a:p>
              <a:r>
                <a:rPr lang="en-US" sz="1400" dirty="0">
                  <a:solidFill>
                    <a:srgbClr val="DBCBF0"/>
                  </a:solidFill>
                  <a:latin typeface="+mj-lt"/>
                </a:rPr>
                <a:t>        Critic rating score from external</a:t>
              </a:r>
              <a:br>
                <a:rPr lang="en-US" sz="1400" dirty="0">
                  <a:solidFill>
                    <a:srgbClr val="DBCBF0"/>
                  </a:solidFill>
                  <a:latin typeface="+mj-lt"/>
                </a:rPr>
              </a:br>
              <a:r>
                <a:rPr lang="en-US" sz="1400" dirty="0">
                  <a:solidFill>
                    <a:srgbClr val="DBCBF0"/>
                  </a:solidFill>
                  <a:latin typeface="+mj-lt"/>
                </a:rPr>
                <a:t>        sources</a:t>
              </a:r>
            </a:p>
            <a:p>
              <a:endParaRPr lang="en-US" sz="2000" dirty="0">
                <a:solidFill>
                  <a:srgbClr val="DBCBF0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DBCBF0"/>
                  </a:solidFill>
                  <a:latin typeface="Candara" panose="020E0502030303020204" pitchFamily="34" charset="0"/>
                </a:rPr>
                <a:t>User &amp; Critic Reviews</a:t>
              </a:r>
            </a:p>
            <a:p>
              <a:r>
                <a:rPr lang="en-US" sz="1400" dirty="0">
                  <a:solidFill>
                    <a:srgbClr val="DBCBF0"/>
                  </a:solidFill>
                  <a:latin typeface="+mj-lt"/>
                </a:rPr>
                <a:t>        Total no. of user-written and critic</a:t>
              </a:r>
              <a:br>
                <a:rPr lang="en-US" sz="1400" dirty="0">
                  <a:solidFill>
                    <a:srgbClr val="DBCBF0"/>
                  </a:solidFill>
                  <a:latin typeface="+mj-lt"/>
                </a:rPr>
              </a:br>
              <a:r>
                <a:rPr lang="en-US" sz="1400" dirty="0">
                  <a:solidFill>
                    <a:srgbClr val="DBCBF0"/>
                  </a:solidFill>
                  <a:latin typeface="+mj-lt"/>
                </a:rPr>
                <a:t>        reviews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15D1A43-E1BF-4F2E-8A02-8249B94571A4}"/>
              </a:ext>
            </a:extLst>
          </p:cNvPr>
          <p:cNvGrpSpPr/>
          <p:nvPr/>
        </p:nvGrpSpPr>
        <p:grpSpPr>
          <a:xfrm>
            <a:off x="12179808" y="2025392"/>
            <a:ext cx="2450592" cy="2807208"/>
            <a:chOff x="4310062" y="1404937"/>
            <a:chExt cx="3571875" cy="4048125"/>
          </a:xfrm>
        </p:grpSpPr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AF6A3DB1-82B4-03E2-1AE7-09345634C078}"/>
                </a:ext>
              </a:extLst>
            </p:cNvPr>
            <p:cNvSpPr/>
            <p:nvPr/>
          </p:nvSpPr>
          <p:spPr>
            <a:xfrm>
              <a:off x="4310062" y="1404937"/>
              <a:ext cx="3571875" cy="4048125"/>
            </a:xfrm>
            <a:prstGeom prst="roundRect">
              <a:avLst>
                <a:gd name="adj" fmla="val 8400"/>
              </a:avLst>
            </a:prstGeom>
            <a:solidFill>
              <a:srgbClr val="F2C6DE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tIns="457200" rtlCol="0" anchor="ctr" anchorCtr="0">
              <a:normAutofit/>
            </a:bodyPr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2B1A72BF-2DCF-7A4C-976C-7F9D0E86C183}"/>
                </a:ext>
              </a:extLst>
            </p:cNvPr>
            <p:cNvSpPr txBox="1"/>
            <p:nvPr/>
          </p:nvSpPr>
          <p:spPr>
            <a:xfrm>
              <a:off x="4551702" y="1767941"/>
              <a:ext cx="3086100" cy="3322115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 fontScale="70000" lnSpcReduction="20000"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F2C6DE"/>
                  </a:solidFill>
                  <a:latin typeface="Candara" panose="020E0502030303020204" pitchFamily="34" charset="0"/>
                </a:rPr>
                <a:t>Gross</a:t>
              </a:r>
            </a:p>
            <a:p>
              <a:r>
                <a:rPr lang="en-US" sz="1400" dirty="0">
                  <a:solidFill>
                    <a:srgbClr val="F2C6DE"/>
                  </a:solidFill>
                  <a:latin typeface="+mj-lt"/>
                </a:rPr>
                <a:t>        Total Box Office Collection</a:t>
              </a:r>
            </a:p>
            <a:p>
              <a:endParaRPr lang="en-US" sz="2000" dirty="0">
                <a:solidFill>
                  <a:srgbClr val="F2C6DE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F2C6DE"/>
                  </a:solidFill>
                  <a:latin typeface="Candara" panose="020E0502030303020204" pitchFamily="34" charset="0"/>
                </a:rPr>
                <a:t>Budget</a:t>
              </a:r>
            </a:p>
            <a:p>
              <a:r>
                <a:rPr lang="en-US" sz="1400" dirty="0">
                  <a:solidFill>
                    <a:srgbClr val="F2C6DE"/>
                  </a:solidFill>
                  <a:latin typeface="+mj-lt"/>
                </a:rPr>
                <a:t>        Estimated production cost of movie</a:t>
              </a:r>
            </a:p>
            <a:p>
              <a:endParaRPr lang="en-US" sz="2000" dirty="0">
                <a:solidFill>
                  <a:srgbClr val="F2C6DE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F2C6DE"/>
                  </a:solidFill>
                  <a:latin typeface="Candara" panose="020E0502030303020204" pitchFamily="34" charset="0"/>
                </a:rPr>
                <a:t>Opening Weekend</a:t>
              </a:r>
            </a:p>
            <a:p>
              <a:r>
                <a:rPr lang="en-US" sz="1400" dirty="0">
                  <a:solidFill>
                    <a:srgbClr val="F2C6DE"/>
                  </a:solidFill>
                  <a:latin typeface="+mj-lt"/>
                </a:rPr>
                <a:t>        Revenue generated during the </a:t>
              </a:r>
              <a:br>
                <a:rPr lang="en-US" sz="1400" dirty="0">
                  <a:solidFill>
                    <a:srgbClr val="F2C6DE"/>
                  </a:solidFill>
                  <a:latin typeface="+mj-lt"/>
                </a:rPr>
              </a:br>
              <a:r>
                <a:rPr lang="en-US" sz="1400" dirty="0">
                  <a:solidFill>
                    <a:srgbClr val="F2C6DE"/>
                  </a:solidFill>
                  <a:latin typeface="+mj-lt"/>
                </a:rPr>
                <a:t>        opening weekend</a:t>
              </a:r>
            </a:p>
            <a:p>
              <a:endParaRPr lang="en-US" sz="2000" dirty="0">
                <a:solidFill>
                  <a:srgbClr val="F2C6DE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F2C6DE"/>
                  </a:solidFill>
                  <a:latin typeface="Candara" panose="020E0502030303020204" pitchFamily="34" charset="0"/>
                </a:rPr>
                <a:t>ROI</a:t>
              </a:r>
            </a:p>
            <a:p>
              <a:r>
                <a:rPr lang="en-US" sz="1400" dirty="0">
                  <a:solidFill>
                    <a:srgbClr val="F2C6DE"/>
                  </a:solidFill>
                  <a:latin typeface="+mj-lt"/>
                </a:rPr>
                <a:t>        Return on investment of a movie</a:t>
              </a: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4E721D0F-FA89-33DB-EE55-C29B87F333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3433" y="0"/>
            <a:ext cx="4555067" cy="256222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AFC939A-731E-0ADC-5552-056E42EC21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0227" y="4067174"/>
            <a:ext cx="4352544" cy="2448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3091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57AAD79-E867-467A-F242-57F0C03AE9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9550" y="4067174"/>
            <a:ext cx="4351867" cy="24479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07513DB-C5F3-4878-79D3-9F96FFF40802}"/>
              </a:ext>
            </a:extLst>
          </p:cNvPr>
          <p:cNvSpPr txBox="1"/>
          <p:nvPr/>
        </p:nvSpPr>
        <p:spPr>
          <a:xfrm>
            <a:off x="4310062" y="5670550"/>
            <a:ext cx="3571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ndara Light" panose="020E0502030303020204" pitchFamily="34" charset="0"/>
              </a:rPr>
              <a:t>Rating &amp; Popularity</a:t>
            </a:r>
            <a:endParaRPr lang="en-IN" sz="24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andara Light" panose="020E0502030303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578B91-6BA4-F9FE-078C-BB67548CF52F}"/>
              </a:ext>
            </a:extLst>
          </p:cNvPr>
          <p:cNvSpPr txBox="1"/>
          <p:nvPr/>
        </p:nvSpPr>
        <p:spPr>
          <a:xfrm>
            <a:off x="3079748" y="341064"/>
            <a:ext cx="60325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DBCBF0"/>
                </a:solidFill>
                <a:latin typeface="Montserrat" pitchFamily="2" charset="0"/>
              </a:rPr>
              <a:t>DATASET SCHEMA</a:t>
            </a:r>
            <a:endParaRPr lang="en-IN" sz="4400" dirty="0">
              <a:solidFill>
                <a:srgbClr val="DBCBF0"/>
              </a:solidFill>
              <a:latin typeface="Montserrat" pitchFamily="2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30A23F5-2AF9-EEDB-7040-33DD52DB2545}"/>
              </a:ext>
            </a:extLst>
          </p:cNvPr>
          <p:cNvGrpSpPr/>
          <p:nvPr/>
        </p:nvGrpSpPr>
        <p:grpSpPr>
          <a:xfrm>
            <a:off x="-5815584" y="2025392"/>
            <a:ext cx="2450592" cy="2807208"/>
            <a:chOff x="4298954" y="1404938"/>
            <a:chExt cx="3571875" cy="4048125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8EC56A65-8A16-3DB4-DBD6-DEDA3B4AE042}"/>
                </a:ext>
              </a:extLst>
            </p:cNvPr>
            <p:cNvSpPr/>
            <p:nvPr/>
          </p:nvSpPr>
          <p:spPr>
            <a:xfrm>
              <a:off x="4298954" y="1404938"/>
              <a:ext cx="3571875" cy="4048125"/>
            </a:xfrm>
            <a:prstGeom prst="roundRect">
              <a:avLst>
                <a:gd name="adj" fmla="val 8400"/>
              </a:avLst>
            </a:prstGeom>
            <a:solidFill>
              <a:srgbClr val="FAEDCB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tIns="457200" rtlCol="0" anchor="ctr" anchorCtr="0">
              <a:normAutofit/>
            </a:bodyPr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201A817-3838-4AC3-C3E0-43803E06FF94}"/>
                </a:ext>
              </a:extLst>
            </p:cNvPr>
            <p:cNvSpPr txBox="1"/>
            <p:nvPr/>
          </p:nvSpPr>
          <p:spPr>
            <a:xfrm>
              <a:off x="4551702" y="1874727"/>
              <a:ext cx="3086100" cy="3108543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 fontScale="70000" lnSpcReduction="20000"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FAEDCB"/>
                  </a:solidFill>
                  <a:latin typeface="Candara" panose="020E0502030303020204" pitchFamily="34" charset="0"/>
                </a:rPr>
                <a:t>Movie URL</a:t>
              </a:r>
            </a:p>
            <a:p>
              <a:r>
                <a:rPr lang="en-US" sz="1400" dirty="0">
                  <a:solidFill>
                    <a:srgbClr val="FAEDCB"/>
                  </a:solidFill>
                  <a:latin typeface="+mj-lt"/>
                </a:rPr>
                <a:t>        IMDb page link/unique identifier</a:t>
              </a:r>
            </a:p>
            <a:p>
              <a:endParaRPr lang="en-US" sz="2000" dirty="0">
                <a:solidFill>
                  <a:srgbClr val="FAEDCB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FAEDCB"/>
                  </a:solidFill>
                  <a:latin typeface="Candara" panose="020E0502030303020204" pitchFamily="34" charset="0"/>
                </a:rPr>
                <a:t>Movie Title</a:t>
              </a:r>
            </a:p>
            <a:p>
              <a:r>
                <a:rPr lang="en-US" sz="1400" dirty="0">
                  <a:solidFill>
                    <a:srgbClr val="FAEDCB"/>
                  </a:solidFill>
                  <a:latin typeface="+mj-lt"/>
                </a:rPr>
                <a:t>        Name of the Movie</a:t>
              </a:r>
            </a:p>
            <a:p>
              <a:endParaRPr lang="en-US" sz="2000" dirty="0">
                <a:solidFill>
                  <a:srgbClr val="FAEDCB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FAEDCB"/>
                  </a:solidFill>
                  <a:latin typeface="Candara" panose="020E0502030303020204" pitchFamily="34" charset="0"/>
                </a:rPr>
                <a:t>Release Date</a:t>
              </a:r>
            </a:p>
            <a:p>
              <a:r>
                <a:rPr lang="en-US" sz="1400" dirty="0">
                  <a:solidFill>
                    <a:srgbClr val="FAEDCB"/>
                  </a:solidFill>
                  <a:latin typeface="+mj-lt"/>
                </a:rPr>
                <a:t>        Official release date of the movie</a:t>
              </a:r>
            </a:p>
            <a:p>
              <a:endParaRPr lang="en-US" sz="2000" dirty="0">
                <a:solidFill>
                  <a:srgbClr val="FAEDCB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FAEDCB"/>
                  </a:solidFill>
                  <a:latin typeface="Candara" panose="020E0502030303020204" pitchFamily="34" charset="0"/>
                </a:rPr>
                <a:t>Duration</a:t>
              </a:r>
            </a:p>
            <a:p>
              <a:r>
                <a:rPr lang="en-US" sz="1400" dirty="0">
                  <a:solidFill>
                    <a:srgbClr val="FAEDCB"/>
                  </a:solidFill>
                  <a:latin typeface="+mj-lt"/>
                </a:rPr>
                <a:t>        Total runtime of movie in minutes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76370DD-87E4-1951-C656-0776FE2C1497}"/>
              </a:ext>
            </a:extLst>
          </p:cNvPr>
          <p:cNvGrpSpPr/>
          <p:nvPr/>
        </p:nvGrpSpPr>
        <p:grpSpPr>
          <a:xfrm>
            <a:off x="-2441448" y="2031992"/>
            <a:ext cx="2450592" cy="2807208"/>
            <a:chOff x="4310062" y="1404937"/>
            <a:chExt cx="3571875" cy="4048125"/>
          </a:xfrm>
        </p:grpSpPr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57AF936B-F58B-97C6-8D1D-20D70CD18471}"/>
                </a:ext>
              </a:extLst>
            </p:cNvPr>
            <p:cNvSpPr/>
            <p:nvPr/>
          </p:nvSpPr>
          <p:spPr>
            <a:xfrm>
              <a:off x="4310062" y="1404937"/>
              <a:ext cx="3571875" cy="4048125"/>
            </a:xfrm>
            <a:prstGeom prst="roundRect">
              <a:avLst>
                <a:gd name="adj" fmla="val 8400"/>
              </a:avLst>
            </a:prstGeom>
            <a:solidFill>
              <a:srgbClr val="C9E4DE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tIns="457200" rtlCol="0" anchor="ctr" anchorCtr="0">
              <a:normAutofit/>
            </a:bodyPr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7CDADB5-87A0-AECF-AC88-488F6E6339BD}"/>
                </a:ext>
              </a:extLst>
            </p:cNvPr>
            <p:cNvSpPr txBox="1"/>
            <p:nvPr/>
          </p:nvSpPr>
          <p:spPr>
            <a:xfrm>
              <a:off x="4551702" y="1767941"/>
              <a:ext cx="3086100" cy="3322115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 fontScale="70000" lnSpcReduction="20000"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C9E4DE"/>
                  </a:solidFill>
                  <a:latin typeface="Candara" panose="020E0502030303020204" pitchFamily="34" charset="0"/>
                </a:rPr>
                <a:t>Countries</a:t>
              </a:r>
            </a:p>
            <a:p>
              <a:r>
                <a:rPr lang="en-US" sz="1400" dirty="0">
                  <a:solidFill>
                    <a:srgbClr val="C9E4DE"/>
                  </a:solidFill>
                  <a:latin typeface="+mj-lt"/>
                </a:rPr>
                <a:t>        Countries where movie produced</a:t>
              </a:r>
            </a:p>
            <a:p>
              <a:endParaRPr lang="en-US" sz="2000" dirty="0">
                <a:solidFill>
                  <a:srgbClr val="C9E4DE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C9E4DE"/>
                  </a:solidFill>
                  <a:latin typeface="Candara" panose="020E0502030303020204" pitchFamily="34" charset="0"/>
                </a:rPr>
                <a:t>Languages</a:t>
              </a:r>
            </a:p>
            <a:p>
              <a:r>
                <a:rPr lang="en-US" sz="1400" dirty="0">
                  <a:solidFill>
                    <a:srgbClr val="C9E4DE"/>
                  </a:solidFill>
                  <a:latin typeface="+mj-lt"/>
                </a:rPr>
                <a:t>        Languages used in the movie</a:t>
              </a:r>
            </a:p>
            <a:p>
              <a:endParaRPr lang="en-US" sz="2000" dirty="0">
                <a:solidFill>
                  <a:srgbClr val="C9E4DE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C9E4DE"/>
                  </a:solidFill>
                  <a:latin typeface="Candara" panose="020E0502030303020204" pitchFamily="34" charset="0"/>
                </a:rPr>
                <a:t>Content Rating</a:t>
              </a:r>
            </a:p>
            <a:p>
              <a:r>
                <a:rPr lang="en-US" sz="1400" dirty="0">
                  <a:solidFill>
                    <a:srgbClr val="C9E4DE"/>
                  </a:solidFill>
                  <a:latin typeface="+mj-lt"/>
                </a:rPr>
                <a:t>        Age certification (e.g. PG-13, R)</a:t>
              </a:r>
            </a:p>
            <a:p>
              <a:endParaRPr lang="en-US" sz="2000" dirty="0">
                <a:solidFill>
                  <a:srgbClr val="C9E4DE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C9E4DE"/>
                  </a:solidFill>
                  <a:latin typeface="Candara" panose="020E0502030303020204" pitchFamily="34" charset="0"/>
                </a:rPr>
                <a:t>Watchlist Count</a:t>
              </a:r>
            </a:p>
            <a:p>
              <a:r>
                <a:rPr lang="en-US" sz="1400" dirty="0">
                  <a:solidFill>
                    <a:srgbClr val="C9E4DE"/>
                  </a:solidFill>
                  <a:latin typeface="+mj-lt"/>
                </a:rPr>
                <a:t>        No. of users who added movie to</a:t>
              </a:r>
              <a:br>
                <a:rPr lang="en-US" sz="1400" dirty="0">
                  <a:solidFill>
                    <a:srgbClr val="C9E4DE"/>
                  </a:solidFill>
                  <a:latin typeface="+mj-lt"/>
                </a:rPr>
              </a:br>
              <a:r>
                <a:rPr lang="en-US" sz="1400" dirty="0">
                  <a:solidFill>
                    <a:srgbClr val="C9E4DE"/>
                  </a:solidFill>
                  <a:latin typeface="+mj-lt"/>
                </a:rPr>
                <a:t>        their watchlist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AFA5843-29F9-C01D-CCD4-65898823BD1B}"/>
              </a:ext>
            </a:extLst>
          </p:cNvPr>
          <p:cNvGrpSpPr/>
          <p:nvPr/>
        </p:nvGrpSpPr>
        <p:grpSpPr>
          <a:xfrm>
            <a:off x="932688" y="2029968"/>
            <a:ext cx="2450592" cy="2807208"/>
            <a:chOff x="4310062" y="1404937"/>
            <a:chExt cx="3571875" cy="4048125"/>
          </a:xfrm>
        </p:grpSpPr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2B7B8669-E818-E8A9-A5F2-88986F3D5BB7}"/>
                </a:ext>
              </a:extLst>
            </p:cNvPr>
            <p:cNvSpPr/>
            <p:nvPr/>
          </p:nvSpPr>
          <p:spPr>
            <a:xfrm>
              <a:off x="4310062" y="1404937"/>
              <a:ext cx="3571875" cy="4048125"/>
            </a:xfrm>
            <a:prstGeom prst="roundRect">
              <a:avLst>
                <a:gd name="adj" fmla="val 8400"/>
              </a:avLst>
            </a:prstGeom>
            <a:solidFill>
              <a:srgbClr val="C6DEF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tIns="457200" rtlCol="0" anchor="ctr" anchorCtr="0">
              <a:normAutofit/>
            </a:bodyPr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1596DD2-0F66-62ED-B0C1-65B8F8369F87}"/>
                </a:ext>
              </a:extLst>
            </p:cNvPr>
            <p:cNvSpPr txBox="1"/>
            <p:nvPr/>
          </p:nvSpPr>
          <p:spPr>
            <a:xfrm>
              <a:off x="4551702" y="1767941"/>
              <a:ext cx="3086100" cy="3322115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 fontScale="70000" lnSpcReduction="20000"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C6DEF1"/>
                  </a:solidFill>
                  <a:latin typeface="Candara" panose="020E0502030303020204" pitchFamily="34" charset="0"/>
                </a:rPr>
                <a:t>Genres</a:t>
              </a:r>
            </a:p>
            <a:p>
              <a:r>
                <a:rPr lang="en-US" sz="1400" dirty="0">
                  <a:solidFill>
                    <a:srgbClr val="C6DEF1"/>
                  </a:solidFill>
                  <a:latin typeface="+mj-lt"/>
                </a:rPr>
                <a:t>        Categories assigned to the movie</a:t>
              </a:r>
            </a:p>
            <a:p>
              <a:endParaRPr lang="en-US" sz="2000" dirty="0">
                <a:solidFill>
                  <a:srgbClr val="C6DEF1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C6DEF1"/>
                  </a:solidFill>
                  <a:latin typeface="Candara" panose="020E0502030303020204" pitchFamily="34" charset="0"/>
                </a:rPr>
                <a:t>Description</a:t>
              </a:r>
            </a:p>
            <a:p>
              <a:r>
                <a:rPr lang="en-US" sz="1400" dirty="0">
                  <a:solidFill>
                    <a:srgbClr val="C6DEF1"/>
                  </a:solidFill>
                  <a:latin typeface="+mj-lt"/>
                </a:rPr>
                <a:t>        Short summary of the movie plot </a:t>
              </a:r>
            </a:p>
            <a:p>
              <a:endParaRPr lang="en-US" sz="2000" dirty="0">
                <a:solidFill>
                  <a:srgbClr val="C6DEF1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C6DEF1"/>
                  </a:solidFill>
                  <a:latin typeface="Candara" panose="020E0502030303020204" pitchFamily="34" charset="0"/>
                </a:rPr>
                <a:t>Keywords</a:t>
              </a:r>
            </a:p>
            <a:p>
              <a:r>
                <a:rPr lang="en-US" sz="1400" dirty="0">
                  <a:solidFill>
                    <a:srgbClr val="C6DEF1"/>
                  </a:solidFill>
                  <a:latin typeface="+mj-lt"/>
                </a:rPr>
                <a:t>        Important tags/themes related to</a:t>
              </a:r>
              <a:br>
                <a:rPr lang="en-US" sz="1400" dirty="0">
                  <a:solidFill>
                    <a:srgbClr val="C6DEF1"/>
                  </a:solidFill>
                  <a:latin typeface="+mj-lt"/>
                </a:rPr>
              </a:br>
              <a:r>
                <a:rPr lang="en-US" sz="1400" dirty="0">
                  <a:solidFill>
                    <a:srgbClr val="C6DEF1"/>
                  </a:solidFill>
                  <a:latin typeface="+mj-lt"/>
                </a:rPr>
                <a:t>        the movie content</a:t>
              </a:r>
            </a:p>
            <a:p>
              <a:endParaRPr lang="en-US" sz="2000" dirty="0">
                <a:solidFill>
                  <a:srgbClr val="C6DEF1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C6DEF1"/>
                  </a:solidFill>
                  <a:latin typeface="Candara" panose="020E0502030303020204" pitchFamily="34" charset="0"/>
                </a:rPr>
                <a:t>Director &amp; Casts</a:t>
              </a:r>
            </a:p>
            <a:p>
              <a:r>
                <a:rPr lang="en-US" sz="1400" dirty="0">
                  <a:solidFill>
                    <a:srgbClr val="C6DEF1"/>
                  </a:solidFill>
                  <a:latin typeface="+mj-lt"/>
                </a:rPr>
                <a:t>        Name of the director and lead actor/</a:t>
              </a:r>
              <a:br>
                <a:rPr lang="en-US" sz="1400" dirty="0">
                  <a:solidFill>
                    <a:srgbClr val="C6DEF1"/>
                  </a:solidFill>
                  <a:latin typeface="+mj-lt"/>
                </a:rPr>
              </a:br>
              <a:r>
                <a:rPr lang="en-US" sz="1400" dirty="0">
                  <a:solidFill>
                    <a:srgbClr val="C6DEF1"/>
                  </a:solidFill>
                  <a:latin typeface="+mj-lt"/>
                </a:rPr>
                <a:t>        actresses in the movie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E202A16-4900-9DA8-1FE5-29F552D6B91D}"/>
              </a:ext>
            </a:extLst>
          </p:cNvPr>
          <p:cNvGrpSpPr/>
          <p:nvPr/>
        </p:nvGrpSpPr>
        <p:grpSpPr>
          <a:xfrm>
            <a:off x="4306824" y="1408176"/>
            <a:ext cx="3575304" cy="4050792"/>
            <a:chOff x="4310062" y="1404937"/>
            <a:chExt cx="3571875" cy="4048125"/>
          </a:xfrm>
        </p:grpSpPr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37427587-0B97-DC01-AD62-530BF67FAE7A}"/>
                </a:ext>
              </a:extLst>
            </p:cNvPr>
            <p:cNvSpPr/>
            <p:nvPr/>
          </p:nvSpPr>
          <p:spPr>
            <a:xfrm>
              <a:off x="4310062" y="1404937"/>
              <a:ext cx="3571875" cy="4048125"/>
            </a:xfrm>
            <a:prstGeom prst="roundRect">
              <a:avLst>
                <a:gd name="adj" fmla="val 8400"/>
              </a:avLst>
            </a:prstGeom>
            <a:solidFill>
              <a:srgbClr val="DECBF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tIns="457200" rtlCol="0" anchor="ctr" anchorCtr="0">
              <a:normAutofit/>
            </a:bodyPr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05AB4B4-BD5B-615C-BCB8-AE385D54F52F}"/>
                </a:ext>
              </a:extLst>
            </p:cNvPr>
            <p:cNvSpPr txBox="1"/>
            <p:nvPr/>
          </p:nvSpPr>
          <p:spPr>
            <a:xfrm>
              <a:off x="4551702" y="1767941"/>
              <a:ext cx="3086100" cy="3322115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 lnSpcReduction="10000"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latin typeface="Candara" panose="020E0502030303020204" pitchFamily="34" charset="0"/>
                </a:rPr>
                <a:t>Rating</a:t>
              </a:r>
            </a:p>
            <a:p>
              <a:r>
                <a:rPr lang="en-US" sz="1400" dirty="0">
                  <a:latin typeface="+mj-lt"/>
                </a:rPr>
                <a:t>        IMDb user rating</a:t>
              </a:r>
            </a:p>
            <a:p>
              <a:endParaRPr lang="en-US" sz="2000" dirty="0"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latin typeface="Candara" panose="020E0502030303020204" pitchFamily="34" charset="0"/>
                </a:rPr>
                <a:t>Votes</a:t>
              </a:r>
            </a:p>
            <a:p>
              <a:r>
                <a:rPr lang="en-US" sz="1400" dirty="0">
                  <a:latin typeface="+mj-lt"/>
                </a:rPr>
                <a:t>        No. of user votes received on IMDb</a:t>
              </a:r>
            </a:p>
            <a:p>
              <a:endParaRPr lang="en-US" sz="2000" dirty="0"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 err="1">
                  <a:latin typeface="Candara" panose="020E0502030303020204" pitchFamily="34" charset="0"/>
                </a:rPr>
                <a:t>Metascore</a:t>
              </a:r>
              <a:endParaRPr lang="en-US" sz="2000" b="1" dirty="0">
                <a:latin typeface="Candara" panose="020E0502030303020204" pitchFamily="34" charset="0"/>
              </a:endParaRPr>
            </a:p>
            <a:p>
              <a:r>
                <a:rPr lang="en-US" sz="1400" dirty="0">
                  <a:latin typeface="+mj-lt"/>
                </a:rPr>
                <a:t>        Critic rating score from external</a:t>
              </a:r>
              <a:br>
                <a:rPr lang="en-US" sz="1400" dirty="0">
                  <a:latin typeface="+mj-lt"/>
                </a:rPr>
              </a:br>
              <a:r>
                <a:rPr lang="en-US" sz="1400" dirty="0">
                  <a:latin typeface="+mj-lt"/>
                </a:rPr>
                <a:t>        sources</a:t>
              </a:r>
            </a:p>
            <a:p>
              <a:endParaRPr lang="en-US" sz="2000" dirty="0"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latin typeface="Candara" panose="020E0502030303020204" pitchFamily="34" charset="0"/>
                </a:rPr>
                <a:t>User &amp; Critic Reviews</a:t>
              </a:r>
            </a:p>
            <a:p>
              <a:r>
                <a:rPr lang="en-US" sz="1400" dirty="0">
                  <a:latin typeface="+mj-lt"/>
                </a:rPr>
                <a:t>        Total no. of user-written and critic</a:t>
              </a:r>
              <a:br>
                <a:rPr lang="en-US" sz="1400" dirty="0">
                  <a:latin typeface="+mj-lt"/>
                </a:rPr>
              </a:br>
              <a:r>
                <a:rPr lang="en-US" sz="1400" dirty="0">
                  <a:latin typeface="+mj-lt"/>
                </a:rPr>
                <a:t>        reviews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15D1A43-E1BF-4F2E-8A02-8249B94571A4}"/>
              </a:ext>
            </a:extLst>
          </p:cNvPr>
          <p:cNvGrpSpPr/>
          <p:nvPr/>
        </p:nvGrpSpPr>
        <p:grpSpPr>
          <a:xfrm>
            <a:off x="8805672" y="2025392"/>
            <a:ext cx="2450592" cy="2807208"/>
            <a:chOff x="4310062" y="1404937"/>
            <a:chExt cx="3571875" cy="4048125"/>
          </a:xfrm>
        </p:grpSpPr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AF6A3DB1-82B4-03E2-1AE7-09345634C078}"/>
                </a:ext>
              </a:extLst>
            </p:cNvPr>
            <p:cNvSpPr/>
            <p:nvPr/>
          </p:nvSpPr>
          <p:spPr>
            <a:xfrm>
              <a:off x="4310062" y="1404937"/>
              <a:ext cx="3571875" cy="4048125"/>
            </a:xfrm>
            <a:prstGeom prst="roundRect">
              <a:avLst>
                <a:gd name="adj" fmla="val 8400"/>
              </a:avLst>
            </a:prstGeom>
            <a:solidFill>
              <a:srgbClr val="F2C6DE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tIns="457200" rtlCol="0" anchor="ctr" anchorCtr="0">
              <a:normAutofit/>
            </a:bodyPr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2B1A72BF-2DCF-7A4C-976C-7F9D0E86C183}"/>
                </a:ext>
              </a:extLst>
            </p:cNvPr>
            <p:cNvSpPr txBox="1"/>
            <p:nvPr/>
          </p:nvSpPr>
          <p:spPr>
            <a:xfrm>
              <a:off x="4551702" y="1767941"/>
              <a:ext cx="3086100" cy="3322115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 fontScale="70000" lnSpcReduction="20000"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F2C6DE"/>
                  </a:solidFill>
                  <a:latin typeface="Candara" panose="020E0502030303020204" pitchFamily="34" charset="0"/>
                </a:rPr>
                <a:t>Gross</a:t>
              </a:r>
            </a:p>
            <a:p>
              <a:r>
                <a:rPr lang="en-US" sz="1400" dirty="0">
                  <a:solidFill>
                    <a:srgbClr val="F2C6DE"/>
                  </a:solidFill>
                  <a:latin typeface="+mj-lt"/>
                </a:rPr>
                <a:t>        Total Box Office Collection</a:t>
              </a:r>
            </a:p>
            <a:p>
              <a:endParaRPr lang="en-US" sz="2000" dirty="0">
                <a:solidFill>
                  <a:srgbClr val="F2C6DE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F2C6DE"/>
                  </a:solidFill>
                  <a:latin typeface="Candara" panose="020E0502030303020204" pitchFamily="34" charset="0"/>
                </a:rPr>
                <a:t>Budget</a:t>
              </a:r>
            </a:p>
            <a:p>
              <a:r>
                <a:rPr lang="en-US" sz="1400" dirty="0">
                  <a:solidFill>
                    <a:srgbClr val="F2C6DE"/>
                  </a:solidFill>
                  <a:latin typeface="+mj-lt"/>
                </a:rPr>
                <a:t>        Estimated production cost of movie</a:t>
              </a:r>
            </a:p>
            <a:p>
              <a:endParaRPr lang="en-US" sz="2000" dirty="0">
                <a:solidFill>
                  <a:srgbClr val="F2C6DE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F2C6DE"/>
                  </a:solidFill>
                  <a:latin typeface="Candara" panose="020E0502030303020204" pitchFamily="34" charset="0"/>
                </a:rPr>
                <a:t>Opening Weekend</a:t>
              </a:r>
            </a:p>
            <a:p>
              <a:r>
                <a:rPr lang="en-US" sz="1400" dirty="0">
                  <a:solidFill>
                    <a:srgbClr val="F2C6DE"/>
                  </a:solidFill>
                  <a:latin typeface="+mj-lt"/>
                </a:rPr>
                <a:t>        Revenue generated during the </a:t>
              </a:r>
              <a:br>
                <a:rPr lang="en-US" sz="1400" dirty="0">
                  <a:solidFill>
                    <a:srgbClr val="F2C6DE"/>
                  </a:solidFill>
                  <a:latin typeface="+mj-lt"/>
                </a:rPr>
              </a:br>
              <a:r>
                <a:rPr lang="en-US" sz="1400" dirty="0">
                  <a:solidFill>
                    <a:srgbClr val="F2C6DE"/>
                  </a:solidFill>
                  <a:latin typeface="+mj-lt"/>
                </a:rPr>
                <a:t>        opening weekend</a:t>
              </a:r>
            </a:p>
            <a:p>
              <a:endParaRPr lang="en-US" sz="2000" dirty="0">
                <a:solidFill>
                  <a:srgbClr val="F2C6DE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F2C6DE"/>
                  </a:solidFill>
                  <a:latin typeface="Candara" panose="020E0502030303020204" pitchFamily="34" charset="0"/>
                </a:rPr>
                <a:t>ROI</a:t>
              </a:r>
            </a:p>
            <a:p>
              <a:r>
                <a:rPr lang="en-US" sz="1400" dirty="0">
                  <a:solidFill>
                    <a:srgbClr val="F2C6DE"/>
                  </a:solidFill>
                  <a:latin typeface="+mj-lt"/>
                </a:rPr>
                <a:t>        Return on investment of a movie</a:t>
              </a: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4E721D0F-FA89-33DB-EE55-C29B87F333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3433" y="0"/>
            <a:ext cx="4555067" cy="256222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AFC939A-731E-0ADC-5552-056E42EC21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0227" y="4067174"/>
            <a:ext cx="4352544" cy="2448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6745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57AAD79-E867-467A-F242-57F0C03AE9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9550" y="4067174"/>
            <a:ext cx="4351867" cy="24479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07513DB-C5F3-4878-79D3-9F96FFF40802}"/>
              </a:ext>
            </a:extLst>
          </p:cNvPr>
          <p:cNvSpPr txBox="1"/>
          <p:nvPr/>
        </p:nvSpPr>
        <p:spPr>
          <a:xfrm>
            <a:off x="4310062" y="5670550"/>
            <a:ext cx="3571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ndara Light" panose="020E0502030303020204" pitchFamily="34" charset="0"/>
              </a:rPr>
              <a:t>Financial Features</a:t>
            </a:r>
            <a:endParaRPr lang="en-IN" sz="24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andara Light" panose="020E0502030303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578B91-6BA4-F9FE-078C-BB67548CF52F}"/>
              </a:ext>
            </a:extLst>
          </p:cNvPr>
          <p:cNvSpPr txBox="1"/>
          <p:nvPr/>
        </p:nvSpPr>
        <p:spPr>
          <a:xfrm>
            <a:off x="3079748" y="341064"/>
            <a:ext cx="60325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2C6DE"/>
                </a:solidFill>
                <a:latin typeface="Montserrat" pitchFamily="2" charset="0"/>
              </a:rPr>
              <a:t>DATASET SCHEMA</a:t>
            </a:r>
            <a:endParaRPr lang="en-IN" sz="4400" dirty="0">
              <a:solidFill>
                <a:srgbClr val="F2C6DE"/>
              </a:solidFill>
              <a:latin typeface="Montserrat" pitchFamily="2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30A23F5-2AF9-EEDB-7040-33DD52DB2545}"/>
              </a:ext>
            </a:extLst>
          </p:cNvPr>
          <p:cNvGrpSpPr/>
          <p:nvPr/>
        </p:nvGrpSpPr>
        <p:grpSpPr>
          <a:xfrm>
            <a:off x="-9189720" y="2031991"/>
            <a:ext cx="2450592" cy="2807208"/>
            <a:chOff x="4298954" y="1404938"/>
            <a:chExt cx="3571875" cy="4048125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8EC56A65-8A16-3DB4-DBD6-DEDA3B4AE042}"/>
                </a:ext>
              </a:extLst>
            </p:cNvPr>
            <p:cNvSpPr/>
            <p:nvPr/>
          </p:nvSpPr>
          <p:spPr>
            <a:xfrm>
              <a:off x="4298954" y="1404938"/>
              <a:ext cx="3571875" cy="4048125"/>
            </a:xfrm>
            <a:prstGeom prst="roundRect">
              <a:avLst>
                <a:gd name="adj" fmla="val 8400"/>
              </a:avLst>
            </a:prstGeom>
            <a:solidFill>
              <a:srgbClr val="FAEDCB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tIns="457200" rtlCol="0" anchor="ctr" anchorCtr="0">
              <a:normAutofit/>
            </a:bodyPr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201A817-3838-4AC3-C3E0-43803E06FF94}"/>
                </a:ext>
              </a:extLst>
            </p:cNvPr>
            <p:cNvSpPr txBox="1"/>
            <p:nvPr/>
          </p:nvSpPr>
          <p:spPr>
            <a:xfrm>
              <a:off x="4551702" y="1874727"/>
              <a:ext cx="3086100" cy="3108543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 fontScale="70000" lnSpcReduction="20000"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FAEDCB"/>
                  </a:solidFill>
                  <a:latin typeface="Candara" panose="020E0502030303020204" pitchFamily="34" charset="0"/>
                </a:rPr>
                <a:t>Movie URL</a:t>
              </a:r>
            </a:p>
            <a:p>
              <a:r>
                <a:rPr lang="en-US" sz="1400" dirty="0">
                  <a:solidFill>
                    <a:srgbClr val="FAEDCB"/>
                  </a:solidFill>
                  <a:latin typeface="+mj-lt"/>
                </a:rPr>
                <a:t>        IMDb page link/unique identifier</a:t>
              </a:r>
            </a:p>
            <a:p>
              <a:endParaRPr lang="en-US" sz="2000" dirty="0">
                <a:solidFill>
                  <a:srgbClr val="FAEDCB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FAEDCB"/>
                  </a:solidFill>
                  <a:latin typeface="Candara" panose="020E0502030303020204" pitchFamily="34" charset="0"/>
                </a:rPr>
                <a:t>Movie Title</a:t>
              </a:r>
            </a:p>
            <a:p>
              <a:r>
                <a:rPr lang="en-US" sz="1400" dirty="0">
                  <a:solidFill>
                    <a:srgbClr val="FAEDCB"/>
                  </a:solidFill>
                  <a:latin typeface="+mj-lt"/>
                </a:rPr>
                <a:t>        Name of the Movie</a:t>
              </a:r>
            </a:p>
            <a:p>
              <a:endParaRPr lang="en-US" sz="2000" dirty="0">
                <a:solidFill>
                  <a:srgbClr val="FAEDCB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FAEDCB"/>
                  </a:solidFill>
                  <a:latin typeface="Candara" panose="020E0502030303020204" pitchFamily="34" charset="0"/>
                </a:rPr>
                <a:t>Release Date</a:t>
              </a:r>
            </a:p>
            <a:p>
              <a:r>
                <a:rPr lang="en-US" sz="1400" dirty="0">
                  <a:solidFill>
                    <a:srgbClr val="FAEDCB"/>
                  </a:solidFill>
                  <a:latin typeface="+mj-lt"/>
                </a:rPr>
                <a:t>        Official release date of the movie</a:t>
              </a:r>
            </a:p>
            <a:p>
              <a:endParaRPr lang="en-US" sz="2000" dirty="0">
                <a:solidFill>
                  <a:srgbClr val="FAEDCB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FAEDCB"/>
                  </a:solidFill>
                  <a:latin typeface="Candara" panose="020E0502030303020204" pitchFamily="34" charset="0"/>
                </a:rPr>
                <a:t>Duration</a:t>
              </a:r>
            </a:p>
            <a:p>
              <a:r>
                <a:rPr lang="en-US" sz="1400" dirty="0">
                  <a:solidFill>
                    <a:srgbClr val="FAEDCB"/>
                  </a:solidFill>
                  <a:latin typeface="+mj-lt"/>
                </a:rPr>
                <a:t>        Total runtime of movie in minutes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76370DD-87E4-1951-C656-0776FE2C1497}"/>
              </a:ext>
            </a:extLst>
          </p:cNvPr>
          <p:cNvGrpSpPr/>
          <p:nvPr/>
        </p:nvGrpSpPr>
        <p:grpSpPr>
          <a:xfrm>
            <a:off x="-5815584" y="2025390"/>
            <a:ext cx="2450592" cy="2807208"/>
            <a:chOff x="4310062" y="1404937"/>
            <a:chExt cx="3571875" cy="4048125"/>
          </a:xfrm>
        </p:grpSpPr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57AF936B-F58B-97C6-8D1D-20D70CD18471}"/>
                </a:ext>
              </a:extLst>
            </p:cNvPr>
            <p:cNvSpPr/>
            <p:nvPr/>
          </p:nvSpPr>
          <p:spPr>
            <a:xfrm>
              <a:off x="4310062" y="1404937"/>
              <a:ext cx="3571875" cy="4048125"/>
            </a:xfrm>
            <a:prstGeom prst="roundRect">
              <a:avLst>
                <a:gd name="adj" fmla="val 8400"/>
              </a:avLst>
            </a:prstGeom>
            <a:solidFill>
              <a:srgbClr val="C9E4DE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tIns="457200" rtlCol="0" anchor="ctr" anchorCtr="0">
              <a:normAutofit/>
            </a:bodyPr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7CDADB5-87A0-AECF-AC88-488F6E6339BD}"/>
                </a:ext>
              </a:extLst>
            </p:cNvPr>
            <p:cNvSpPr txBox="1"/>
            <p:nvPr/>
          </p:nvSpPr>
          <p:spPr>
            <a:xfrm>
              <a:off x="4551702" y="1767941"/>
              <a:ext cx="3086100" cy="3322115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 fontScale="70000" lnSpcReduction="20000"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C9E4DE"/>
                  </a:solidFill>
                  <a:latin typeface="Candara" panose="020E0502030303020204" pitchFamily="34" charset="0"/>
                </a:rPr>
                <a:t>Countries</a:t>
              </a:r>
            </a:p>
            <a:p>
              <a:r>
                <a:rPr lang="en-US" sz="1400" dirty="0">
                  <a:solidFill>
                    <a:srgbClr val="C9E4DE"/>
                  </a:solidFill>
                  <a:latin typeface="+mj-lt"/>
                </a:rPr>
                <a:t>        Countries where movie produced</a:t>
              </a:r>
            </a:p>
            <a:p>
              <a:endParaRPr lang="en-US" sz="2000" dirty="0">
                <a:solidFill>
                  <a:srgbClr val="C9E4DE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C9E4DE"/>
                  </a:solidFill>
                  <a:latin typeface="Candara" panose="020E0502030303020204" pitchFamily="34" charset="0"/>
                </a:rPr>
                <a:t>Languages</a:t>
              </a:r>
            </a:p>
            <a:p>
              <a:r>
                <a:rPr lang="en-US" sz="1400" dirty="0">
                  <a:solidFill>
                    <a:srgbClr val="C9E4DE"/>
                  </a:solidFill>
                  <a:latin typeface="+mj-lt"/>
                </a:rPr>
                <a:t>        Languages used in the movie</a:t>
              </a:r>
            </a:p>
            <a:p>
              <a:endParaRPr lang="en-US" sz="2000" dirty="0">
                <a:solidFill>
                  <a:srgbClr val="C9E4DE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C9E4DE"/>
                  </a:solidFill>
                  <a:latin typeface="Candara" panose="020E0502030303020204" pitchFamily="34" charset="0"/>
                </a:rPr>
                <a:t>Content Rating</a:t>
              </a:r>
            </a:p>
            <a:p>
              <a:r>
                <a:rPr lang="en-US" sz="1400" dirty="0">
                  <a:solidFill>
                    <a:srgbClr val="C9E4DE"/>
                  </a:solidFill>
                  <a:latin typeface="+mj-lt"/>
                </a:rPr>
                <a:t>        Age certification (e.g. PG-13, R)</a:t>
              </a:r>
            </a:p>
            <a:p>
              <a:endParaRPr lang="en-US" sz="2000" dirty="0">
                <a:solidFill>
                  <a:srgbClr val="C9E4DE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C9E4DE"/>
                  </a:solidFill>
                  <a:latin typeface="Candara" panose="020E0502030303020204" pitchFamily="34" charset="0"/>
                </a:rPr>
                <a:t>Watchlist Count</a:t>
              </a:r>
            </a:p>
            <a:p>
              <a:r>
                <a:rPr lang="en-US" sz="1400" dirty="0">
                  <a:solidFill>
                    <a:srgbClr val="C9E4DE"/>
                  </a:solidFill>
                  <a:latin typeface="+mj-lt"/>
                </a:rPr>
                <a:t>        No. of users who added movie to</a:t>
              </a:r>
              <a:br>
                <a:rPr lang="en-US" sz="1400" dirty="0">
                  <a:solidFill>
                    <a:srgbClr val="C9E4DE"/>
                  </a:solidFill>
                  <a:latin typeface="+mj-lt"/>
                </a:rPr>
              </a:br>
              <a:r>
                <a:rPr lang="en-US" sz="1400" dirty="0">
                  <a:solidFill>
                    <a:srgbClr val="C9E4DE"/>
                  </a:solidFill>
                  <a:latin typeface="+mj-lt"/>
                </a:rPr>
                <a:t>        their watchlist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AFA5843-29F9-C01D-CCD4-65898823BD1B}"/>
              </a:ext>
            </a:extLst>
          </p:cNvPr>
          <p:cNvGrpSpPr/>
          <p:nvPr/>
        </p:nvGrpSpPr>
        <p:grpSpPr>
          <a:xfrm>
            <a:off x="-2441448" y="2031991"/>
            <a:ext cx="2450592" cy="2807208"/>
            <a:chOff x="4310062" y="1404937"/>
            <a:chExt cx="3571875" cy="4048125"/>
          </a:xfrm>
        </p:grpSpPr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2B7B8669-E818-E8A9-A5F2-88986F3D5BB7}"/>
                </a:ext>
              </a:extLst>
            </p:cNvPr>
            <p:cNvSpPr/>
            <p:nvPr/>
          </p:nvSpPr>
          <p:spPr>
            <a:xfrm>
              <a:off x="4310062" y="1404937"/>
              <a:ext cx="3571875" cy="4048125"/>
            </a:xfrm>
            <a:prstGeom prst="roundRect">
              <a:avLst>
                <a:gd name="adj" fmla="val 8400"/>
              </a:avLst>
            </a:prstGeom>
            <a:solidFill>
              <a:srgbClr val="C6DEF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tIns="457200" rtlCol="0" anchor="ctr" anchorCtr="0">
              <a:normAutofit/>
            </a:bodyPr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1596DD2-0F66-62ED-B0C1-65B8F8369F87}"/>
                </a:ext>
              </a:extLst>
            </p:cNvPr>
            <p:cNvSpPr txBox="1"/>
            <p:nvPr/>
          </p:nvSpPr>
          <p:spPr>
            <a:xfrm>
              <a:off x="4551702" y="1767941"/>
              <a:ext cx="3086100" cy="3322115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 fontScale="70000" lnSpcReduction="20000"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C6DEF1"/>
                  </a:solidFill>
                  <a:latin typeface="Candara" panose="020E0502030303020204" pitchFamily="34" charset="0"/>
                </a:rPr>
                <a:t>Genres</a:t>
              </a:r>
            </a:p>
            <a:p>
              <a:r>
                <a:rPr lang="en-US" sz="1400" dirty="0">
                  <a:solidFill>
                    <a:srgbClr val="C6DEF1"/>
                  </a:solidFill>
                  <a:latin typeface="+mj-lt"/>
                </a:rPr>
                <a:t>        Categories assigned to the movie</a:t>
              </a:r>
            </a:p>
            <a:p>
              <a:endParaRPr lang="en-US" sz="2000" dirty="0">
                <a:solidFill>
                  <a:srgbClr val="C6DEF1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C6DEF1"/>
                  </a:solidFill>
                  <a:latin typeface="Candara" panose="020E0502030303020204" pitchFamily="34" charset="0"/>
                </a:rPr>
                <a:t>Description</a:t>
              </a:r>
            </a:p>
            <a:p>
              <a:r>
                <a:rPr lang="en-US" sz="1400" dirty="0">
                  <a:solidFill>
                    <a:srgbClr val="C6DEF1"/>
                  </a:solidFill>
                  <a:latin typeface="+mj-lt"/>
                </a:rPr>
                <a:t>        Short summary of the movie plot </a:t>
              </a:r>
            </a:p>
            <a:p>
              <a:endParaRPr lang="en-US" sz="2000" dirty="0">
                <a:solidFill>
                  <a:srgbClr val="C6DEF1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C6DEF1"/>
                  </a:solidFill>
                  <a:latin typeface="Candara" panose="020E0502030303020204" pitchFamily="34" charset="0"/>
                </a:rPr>
                <a:t>Keywords</a:t>
              </a:r>
            </a:p>
            <a:p>
              <a:r>
                <a:rPr lang="en-US" sz="1400" dirty="0">
                  <a:solidFill>
                    <a:srgbClr val="C6DEF1"/>
                  </a:solidFill>
                  <a:latin typeface="+mj-lt"/>
                </a:rPr>
                <a:t>        Important tags/themes related to</a:t>
              </a:r>
              <a:br>
                <a:rPr lang="en-US" sz="1400" dirty="0">
                  <a:solidFill>
                    <a:srgbClr val="C6DEF1"/>
                  </a:solidFill>
                  <a:latin typeface="+mj-lt"/>
                </a:rPr>
              </a:br>
              <a:r>
                <a:rPr lang="en-US" sz="1400" dirty="0">
                  <a:solidFill>
                    <a:srgbClr val="C6DEF1"/>
                  </a:solidFill>
                  <a:latin typeface="+mj-lt"/>
                </a:rPr>
                <a:t>        the movie content</a:t>
              </a:r>
            </a:p>
            <a:p>
              <a:endParaRPr lang="en-US" sz="2000" dirty="0">
                <a:solidFill>
                  <a:srgbClr val="C6DEF1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C6DEF1"/>
                  </a:solidFill>
                  <a:latin typeface="Candara" panose="020E0502030303020204" pitchFamily="34" charset="0"/>
                </a:rPr>
                <a:t>Director &amp; Casts</a:t>
              </a:r>
            </a:p>
            <a:p>
              <a:r>
                <a:rPr lang="en-US" sz="1400" dirty="0">
                  <a:solidFill>
                    <a:srgbClr val="C6DEF1"/>
                  </a:solidFill>
                  <a:latin typeface="+mj-lt"/>
                </a:rPr>
                <a:t>        Name of the director and lead actor/</a:t>
              </a:r>
              <a:br>
                <a:rPr lang="en-US" sz="1400" dirty="0">
                  <a:solidFill>
                    <a:srgbClr val="C6DEF1"/>
                  </a:solidFill>
                  <a:latin typeface="+mj-lt"/>
                </a:rPr>
              </a:br>
              <a:r>
                <a:rPr lang="en-US" sz="1400" dirty="0">
                  <a:solidFill>
                    <a:srgbClr val="C6DEF1"/>
                  </a:solidFill>
                  <a:latin typeface="+mj-lt"/>
                </a:rPr>
                <a:t>        actresses in the movie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E202A16-4900-9DA8-1FE5-29F552D6B91D}"/>
              </a:ext>
            </a:extLst>
          </p:cNvPr>
          <p:cNvGrpSpPr/>
          <p:nvPr/>
        </p:nvGrpSpPr>
        <p:grpSpPr>
          <a:xfrm>
            <a:off x="932688" y="2029968"/>
            <a:ext cx="2450592" cy="2807208"/>
            <a:chOff x="4310062" y="1404937"/>
            <a:chExt cx="3571875" cy="4048125"/>
          </a:xfrm>
        </p:grpSpPr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37427587-0B97-DC01-AD62-530BF67FAE7A}"/>
                </a:ext>
              </a:extLst>
            </p:cNvPr>
            <p:cNvSpPr/>
            <p:nvPr/>
          </p:nvSpPr>
          <p:spPr>
            <a:xfrm>
              <a:off x="4310062" y="1404937"/>
              <a:ext cx="3571875" cy="4048125"/>
            </a:xfrm>
            <a:prstGeom prst="roundRect">
              <a:avLst>
                <a:gd name="adj" fmla="val 8400"/>
              </a:avLst>
            </a:prstGeom>
            <a:solidFill>
              <a:srgbClr val="DECBF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tIns="457200" rtlCol="0" anchor="ctr" anchorCtr="0">
              <a:normAutofit/>
            </a:bodyPr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05AB4B4-BD5B-615C-BCB8-AE385D54F52F}"/>
                </a:ext>
              </a:extLst>
            </p:cNvPr>
            <p:cNvSpPr txBox="1"/>
            <p:nvPr/>
          </p:nvSpPr>
          <p:spPr>
            <a:xfrm>
              <a:off x="4551702" y="1767941"/>
              <a:ext cx="3086100" cy="3322115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 fontScale="70000" lnSpcReduction="20000"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DECBF0"/>
                  </a:solidFill>
                  <a:latin typeface="Candara" panose="020E0502030303020204" pitchFamily="34" charset="0"/>
                </a:rPr>
                <a:t>Rating</a:t>
              </a:r>
            </a:p>
            <a:p>
              <a:r>
                <a:rPr lang="en-US" sz="1400" dirty="0">
                  <a:solidFill>
                    <a:srgbClr val="DECBF0"/>
                  </a:solidFill>
                  <a:latin typeface="+mj-lt"/>
                </a:rPr>
                <a:t>        IMDb user rating</a:t>
              </a:r>
            </a:p>
            <a:p>
              <a:endParaRPr lang="en-US" sz="2000" dirty="0">
                <a:solidFill>
                  <a:srgbClr val="DECBF0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DECBF0"/>
                  </a:solidFill>
                  <a:latin typeface="Candara" panose="020E0502030303020204" pitchFamily="34" charset="0"/>
                </a:rPr>
                <a:t>Votes</a:t>
              </a:r>
            </a:p>
            <a:p>
              <a:r>
                <a:rPr lang="en-US" sz="1400" dirty="0">
                  <a:solidFill>
                    <a:srgbClr val="DECBF0"/>
                  </a:solidFill>
                  <a:latin typeface="+mj-lt"/>
                </a:rPr>
                <a:t>        No. of user votes received on IMDb</a:t>
              </a:r>
            </a:p>
            <a:p>
              <a:endParaRPr lang="en-US" sz="2000" dirty="0">
                <a:solidFill>
                  <a:srgbClr val="DECBF0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 err="1">
                  <a:solidFill>
                    <a:srgbClr val="DECBF0"/>
                  </a:solidFill>
                  <a:latin typeface="Candara" panose="020E0502030303020204" pitchFamily="34" charset="0"/>
                </a:rPr>
                <a:t>Metascore</a:t>
              </a:r>
              <a:endParaRPr lang="en-US" sz="2000" b="1" dirty="0">
                <a:solidFill>
                  <a:srgbClr val="DECBF0"/>
                </a:solidFill>
                <a:latin typeface="Candara" panose="020E0502030303020204" pitchFamily="34" charset="0"/>
              </a:endParaRPr>
            </a:p>
            <a:p>
              <a:r>
                <a:rPr lang="en-US" sz="1400" dirty="0">
                  <a:solidFill>
                    <a:srgbClr val="DECBF0"/>
                  </a:solidFill>
                  <a:latin typeface="+mj-lt"/>
                </a:rPr>
                <a:t>        Critic rating score from external</a:t>
              </a:r>
              <a:br>
                <a:rPr lang="en-US" sz="1400" dirty="0">
                  <a:solidFill>
                    <a:srgbClr val="DECBF0"/>
                  </a:solidFill>
                  <a:latin typeface="+mj-lt"/>
                </a:rPr>
              </a:br>
              <a:r>
                <a:rPr lang="en-US" sz="1400" dirty="0">
                  <a:solidFill>
                    <a:srgbClr val="DECBF0"/>
                  </a:solidFill>
                  <a:latin typeface="+mj-lt"/>
                </a:rPr>
                <a:t>        sources</a:t>
              </a:r>
            </a:p>
            <a:p>
              <a:endParaRPr lang="en-US" sz="2000" dirty="0">
                <a:solidFill>
                  <a:srgbClr val="DECBF0"/>
                </a:solidFill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solidFill>
                    <a:srgbClr val="DECBF0"/>
                  </a:solidFill>
                  <a:latin typeface="Candara" panose="020E0502030303020204" pitchFamily="34" charset="0"/>
                </a:rPr>
                <a:t>User &amp; Critic Reviews</a:t>
              </a:r>
            </a:p>
            <a:p>
              <a:r>
                <a:rPr lang="en-US" sz="1400" dirty="0">
                  <a:solidFill>
                    <a:srgbClr val="DECBF0"/>
                  </a:solidFill>
                  <a:latin typeface="+mj-lt"/>
                </a:rPr>
                <a:t>        Total no. of user-written and critic</a:t>
              </a:r>
              <a:br>
                <a:rPr lang="en-US" sz="1400" dirty="0">
                  <a:solidFill>
                    <a:srgbClr val="DECBF0"/>
                  </a:solidFill>
                  <a:latin typeface="+mj-lt"/>
                </a:rPr>
              </a:br>
              <a:r>
                <a:rPr lang="en-US" sz="1400" dirty="0">
                  <a:solidFill>
                    <a:srgbClr val="DECBF0"/>
                  </a:solidFill>
                  <a:latin typeface="+mj-lt"/>
                </a:rPr>
                <a:t>        reviews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15D1A43-E1BF-4F2E-8A02-8249B94571A4}"/>
              </a:ext>
            </a:extLst>
          </p:cNvPr>
          <p:cNvGrpSpPr/>
          <p:nvPr/>
        </p:nvGrpSpPr>
        <p:grpSpPr>
          <a:xfrm>
            <a:off x="4306824" y="1408176"/>
            <a:ext cx="3575304" cy="4050792"/>
            <a:chOff x="4310062" y="1404937"/>
            <a:chExt cx="3571875" cy="4048125"/>
          </a:xfrm>
        </p:grpSpPr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AF6A3DB1-82B4-03E2-1AE7-09345634C078}"/>
                </a:ext>
              </a:extLst>
            </p:cNvPr>
            <p:cNvSpPr/>
            <p:nvPr/>
          </p:nvSpPr>
          <p:spPr>
            <a:xfrm>
              <a:off x="4310062" y="1404937"/>
              <a:ext cx="3571875" cy="4048125"/>
            </a:xfrm>
            <a:prstGeom prst="roundRect">
              <a:avLst>
                <a:gd name="adj" fmla="val 8400"/>
              </a:avLst>
            </a:prstGeom>
            <a:solidFill>
              <a:srgbClr val="F2C6DE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tIns="457200" rtlCol="0" anchor="ctr" anchorCtr="0">
              <a:normAutofit/>
            </a:bodyPr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2B1A72BF-2DCF-7A4C-976C-7F9D0E86C183}"/>
                </a:ext>
              </a:extLst>
            </p:cNvPr>
            <p:cNvSpPr txBox="1"/>
            <p:nvPr/>
          </p:nvSpPr>
          <p:spPr>
            <a:xfrm>
              <a:off x="4551702" y="1767941"/>
              <a:ext cx="3086100" cy="3322115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latin typeface="Candara" panose="020E0502030303020204" pitchFamily="34" charset="0"/>
                </a:rPr>
                <a:t>Gross</a:t>
              </a:r>
            </a:p>
            <a:p>
              <a:r>
                <a:rPr lang="en-US" sz="1400" dirty="0">
                  <a:latin typeface="+mj-lt"/>
                </a:rPr>
                <a:t>        Total Box Office Collection</a:t>
              </a:r>
            </a:p>
            <a:p>
              <a:endParaRPr lang="en-US" sz="2000" dirty="0"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latin typeface="Candara" panose="020E0502030303020204" pitchFamily="34" charset="0"/>
                </a:rPr>
                <a:t>Budget</a:t>
              </a:r>
            </a:p>
            <a:p>
              <a:r>
                <a:rPr lang="en-US" sz="1400" dirty="0">
                  <a:latin typeface="+mj-lt"/>
                </a:rPr>
                <a:t>        Estimated production cost of movie</a:t>
              </a:r>
            </a:p>
            <a:p>
              <a:endParaRPr lang="en-US" sz="2000" dirty="0"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latin typeface="Candara" panose="020E0502030303020204" pitchFamily="34" charset="0"/>
                </a:rPr>
                <a:t>Opening Weekend</a:t>
              </a:r>
            </a:p>
            <a:p>
              <a:r>
                <a:rPr lang="en-US" sz="1400" dirty="0">
                  <a:latin typeface="+mj-lt"/>
                </a:rPr>
                <a:t>        Revenue generated during the </a:t>
              </a:r>
              <a:br>
                <a:rPr lang="en-US" sz="1400" dirty="0">
                  <a:latin typeface="+mj-lt"/>
                </a:rPr>
              </a:br>
              <a:r>
                <a:rPr lang="en-US" sz="1400" dirty="0">
                  <a:latin typeface="+mj-lt"/>
                </a:rPr>
                <a:t>        opening weekend</a:t>
              </a:r>
            </a:p>
            <a:p>
              <a:endParaRPr lang="en-US" sz="2000" dirty="0">
                <a:latin typeface="+mj-lt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b="1" dirty="0">
                  <a:latin typeface="Candara" panose="020E0502030303020204" pitchFamily="34" charset="0"/>
                </a:rPr>
                <a:t>ROI</a:t>
              </a:r>
            </a:p>
            <a:p>
              <a:r>
                <a:rPr lang="en-US" sz="1400" dirty="0">
                  <a:latin typeface="+mj-lt"/>
                </a:rPr>
                <a:t>        Return on investment of a movie</a:t>
              </a: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4E721D0F-FA89-33DB-EE55-C29B87F333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3433" y="0"/>
            <a:ext cx="4555067" cy="256222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AFC939A-731E-0ADC-5552-056E42EC21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0227" y="4067174"/>
            <a:ext cx="4352544" cy="2448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582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D3407B50-CE3B-223D-72F5-94BCE044DA3E}"/>
              </a:ext>
            </a:extLst>
          </p:cNvPr>
          <p:cNvSpPr/>
          <p:nvPr/>
        </p:nvSpPr>
        <p:spPr>
          <a:xfrm>
            <a:off x="5232305" y="2705192"/>
            <a:ext cx="1521118" cy="155216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5A4EE3D-D4CE-A347-7DDA-3996CD5B93A1}"/>
              </a:ext>
            </a:extLst>
          </p:cNvPr>
          <p:cNvSpPr/>
          <p:nvPr/>
        </p:nvSpPr>
        <p:spPr>
          <a:xfrm>
            <a:off x="5418448" y="2895134"/>
            <a:ext cx="1148832" cy="1172278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035BBAB-EE55-95DE-2734-2DFFDE9B479C}"/>
              </a:ext>
            </a:extLst>
          </p:cNvPr>
          <p:cNvSpPr/>
          <p:nvPr/>
        </p:nvSpPr>
        <p:spPr>
          <a:xfrm>
            <a:off x="5509623" y="2988170"/>
            <a:ext cx="966482" cy="986207"/>
          </a:xfrm>
          <a:prstGeom prst="ellipse">
            <a:avLst/>
          </a:prstGeom>
          <a:solidFill>
            <a:srgbClr val="1F4E79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574EFC3-FD75-D95A-2E1E-B2CD4031D4A9}"/>
              </a:ext>
            </a:extLst>
          </p:cNvPr>
          <p:cNvSpPr/>
          <p:nvPr/>
        </p:nvSpPr>
        <p:spPr>
          <a:xfrm>
            <a:off x="5410963" y="2898179"/>
            <a:ext cx="1163802" cy="116618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08B22A4-115B-61F2-310B-B47FF9A31934}"/>
              </a:ext>
            </a:extLst>
          </p:cNvPr>
          <p:cNvSpPr/>
          <p:nvPr/>
        </p:nvSpPr>
        <p:spPr>
          <a:xfrm>
            <a:off x="5536601" y="3024074"/>
            <a:ext cx="912527" cy="914398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C941218-7BF9-077D-A8AD-A1F357466DB3}"/>
              </a:ext>
            </a:extLst>
          </p:cNvPr>
          <p:cNvGrpSpPr/>
          <p:nvPr/>
        </p:nvGrpSpPr>
        <p:grpSpPr>
          <a:xfrm>
            <a:off x="4661020" y="2136176"/>
            <a:ext cx="2663688" cy="2690194"/>
            <a:chOff x="2433843" y="4070257"/>
            <a:chExt cx="2663688" cy="269019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3D9C2C96-D2D7-3BB8-430A-8C7D8034DF56}"/>
                </a:ext>
              </a:extLst>
            </p:cNvPr>
            <p:cNvSpPr/>
            <p:nvPr/>
          </p:nvSpPr>
          <p:spPr>
            <a:xfrm>
              <a:off x="2433843" y="4070257"/>
              <a:ext cx="2663688" cy="2690194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9C600F8-A649-1265-E372-2517D7DE7724}"/>
                </a:ext>
              </a:extLst>
            </p:cNvPr>
            <p:cNvSpPr txBox="1"/>
            <p:nvPr/>
          </p:nvSpPr>
          <p:spPr>
            <a:xfrm>
              <a:off x="2794235" y="4722856"/>
              <a:ext cx="1942903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Handling</a:t>
              </a:r>
            </a:p>
            <a:p>
              <a:pPr algn="ctr"/>
              <a:r>
                <a:rPr lang="en-US" sz="28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Missing </a:t>
              </a:r>
            </a:p>
            <a:p>
              <a:pPr algn="ctr"/>
              <a:r>
                <a:rPr lang="en-US" sz="28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Values</a:t>
              </a:r>
              <a:endParaRPr lang="en-IN" sz="2800" dirty="0">
                <a:solidFill>
                  <a:schemeClr val="bg1"/>
                </a:solidFill>
                <a:latin typeface="Candara Light" panose="020E0502030303020204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3686482-DE69-C88C-0A63-C0F8B290D36B}"/>
              </a:ext>
            </a:extLst>
          </p:cNvPr>
          <p:cNvGrpSpPr/>
          <p:nvPr/>
        </p:nvGrpSpPr>
        <p:grpSpPr>
          <a:xfrm>
            <a:off x="4505307" y="1963357"/>
            <a:ext cx="2975114" cy="3035832"/>
            <a:chOff x="7235255" y="3696274"/>
            <a:chExt cx="2975114" cy="3035832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6764D57-235F-77FB-DA50-8DC527B7D913}"/>
                </a:ext>
              </a:extLst>
            </p:cNvPr>
            <p:cNvSpPr/>
            <p:nvPr/>
          </p:nvSpPr>
          <p:spPr>
            <a:xfrm>
              <a:off x="7235255" y="3696274"/>
              <a:ext cx="2975114" cy="3035832"/>
            </a:xfrm>
            <a:prstGeom prst="ellipse">
              <a:avLst/>
            </a:prstGeom>
            <a:solidFill>
              <a:srgbClr val="008080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656F8DC-C0CC-1BEC-A19B-8D9FBC1D0F6B}"/>
                </a:ext>
              </a:extLst>
            </p:cNvPr>
            <p:cNvSpPr txBox="1"/>
            <p:nvPr/>
          </p:nvSpPr>
          <p:spPr>
            <a:xfrm>
              <a:off x="7321748" y="4355258"/>
              <a:ext cx="2802128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0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Text </a:t>
              </a:r>
            </a:p>
            <a:p>
              <a:pPr algn="ctr"/>
              <a:r>
                <a:rPr lang="en-US" sz="30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Cleaning &amp;</a:t>
              </a:r>
            </a:p>
            <a:p>
              <a:pPr algn="ctr"/>
              <a:r>
                <a:rPr lang="en-US" sz="30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Standardization</a:t>
              </a:r>
              <a:endParaRPr lang="en-IN" sz="3000" dirty="0">
                <a:solidFill>
                  <a:schemeClr val="bg1"/>
                </a:solidFill>
                <a:latin typeface="Candara Light" panose="020E0502030303020204" pitchFamily="34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35B86F3-4B99-BB7D-82C3-666E17D7B6B2}"/>
              </a:ext>
            </a:extLst>
          </p:cNvPr>
          <p:cNvGrpSpPr/>
          <p:nvPr/>
        </p:nvGrpSpPr>
        <p:grpSpPr>
          <a:xfrm>
            <a:off x="4505307" y="2015379"/>
            <a:ext cx="2975114" cy="2931788"/>
            <a:chOff x="8854902" y="2096614"/>
            <a:chExt cx="2975114" cy="2931788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673A235-CF5F-94A2-89A7-F2F3501F1AEE}"/>
                </a:ext>
              </a:extLst>
            </p:cNvPr>
            <p:cNvSpPr/>
            <p:nvPr/>
          </p:nvSpPr>
          <p:spPr>
            <a:xfrm>
              <a:off x="8854902" y="2096614"/>
              <a:ext cx="2975114" cy="2931788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F6F7F3D-E834-A9FB-7E79-C3615ABD73AA}"/>
                </a:ext>
              </a:extLst>
            </p:cNvPr>
            <p:cNvSpPr txBox="1"/>
            <p:nvPr/>
          </p:nvSpPr>
          <p:spPr>
            <a:xfrm>
              <a:off x="8941395" y="2917129"/>
              <a:ext cx="2802128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Datatype</a:t>
              </a:r>
            </a:p>
            <a:p>
              <a:pPr algn="ctr"/>
              <a:r>
                <a:rPr lang="en-US" sz="32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Conversion</a:t>
              </a:r>
              <a:endParaRPr lang="en-IN" sz="3200" dirty="0">
                <a:solidFill>
                  <a:schemeClr val="bg1"/>
                </a:solidFill>
                <a:latin typeface="Candara Light" panose="020E0502030303020204" pitchFamily="34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A1C298D-8966-111A-6326-5087FF1923AB}"/>
              </a:ext>
            </a:extLst>
          </p:cNvPr>
          <p:cNvGrpSpPr/>
          <p:nvPr/>
        </p:nvGrpSpPr>
        <p:grpSpPr>
          <a:xfrm>
            <a:off x="4591800" y="2136176"/>
            <a:ext cx="2802128" cy="2690194"/>
            <a:chOff x="7080581" y="251789"/>
            <a:chExt cx="2802128" cy="2690194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C57E712-3D8A-352E-FB13-90B67764709D}"/>
                </a:ext>
              </a:extLst>
            </p:cNvPr>
            <p:cNvSpPr/>
            <p:nvPr/>
          </p:nvSpPr>
          <p:spPr>
            <a:xfrm>
              <a:off x="7107594" y="251789"/>
              <a:ext cx="2729950" cy="2690194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D61384D-CC20-8D9C-483C-6BC73E86BC83}"/>
                </a:ext>
              </a:extLst>
            </p:cNvPr>
            <p:cNvSpPr txBox="1"/>
            <p:nvPr/>
          </p:nvSpPr>
          <p:spPr>
            <a:xfrm>
              <a:off x="7080581" y="908474"/>
              <a:ext cx="2802128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Thousands (K) </a:t>
              </a:r>
              <a:br>
                <a:rPr lang="en-US" sz="2800" dirty="0">
                  <a:solidFill>
                    <a:schemeClr val="bg1"/>
                  </a:solidFill>
                  <a:latin typeface="Candara Light" panose="020E0502030303020204" pitchFamily="34" charset="0"/>
                </a:rPr>
              </a:br>
              <a:r>
                <a:rPr lang="en-US" sz="28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&amp; Millions (M)</a:t>
              </a:r>
            </a:p>
            <a:p>
              <a:pPr algn="ctr"/>
              <a:r>
                <a:rPr lang="en-US" sz="28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Conversion</a:t>
              </a:r>
              <a:endParaRPr lang="en-IN" sz="2800" dirty="0">
                <a:solidFill>
                  <a:schemeClr val="bg1"/>
                </a:solidFill>
                <a:latin typeface="Candara Light" panose="020E0502030303020204" pitchFamily="34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7AC6DE5-B53E-9873-E901-BD7B9BC8A8F8}"/>
              </a:ext>
            </a:extLst>
          </p:cNvPr>
          <p:cNvGrpSpPr/>
          <p:nvPr/>
        </p:nvGrpSpPr>
        <p:grpSpPr>
          <a:xfrm>
            <a:off x="4551690" y="2012231"/>
            <a:ext cx="2882349" cy="2938084"/>
            <a:chOff x="155712" y="202095"/>
            <a:chExt cx="2882349" cy="2938084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F9666FC-7AFA-C34C-E6AF-7BC4E3F5E456}"/>
                </a:ext>
              </a:extLst>
            </p:cNvPr>
            <p:cNvSpPr/>
            <p:nvPr/>
          </p:nvSpPr>
          <p:spPr>
            <a:xfrm>
              <a:off x="155712" y="202095"/>
              <a:ext cx="2882349" cy="2938084"/>
            </a:xfrm>
            <a:prstGeom prst="ellipse">
              <a:avLst/>
            </a:prstGeom>
            <a:solidFill>
              <a:srgbClr val="004F4F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2F40269-02EF-4257-2B50-D86D53BBEE47}"/>
                </a:ext>
              </a:extLst>
            </p:cNvPr>
            <p:cNvSpPr txBox="1"/>
            <p:nvPr/>
          </p:nvSpPr>
          <p:spPr>
            <a:xfrm>
              <a:off x="425463" y="1058277"/>
              <a:ext cx="2175538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Currency</a:t>
              </a:r>
            </a:p>
            <a:p>
              <a:pPr algn="ctr"/>
              <a:r>
                <a:rPr lang="en-US" sz="32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Conversion</a:t>
              </a:r>
              <a:endParaRPr lang="en-IN" sz="3200" dirty="0">
                <a:solidFill>
                  <a:schemeClr val="bg1"/>
                </a:solidFill>
                <a:latin typeface="Candara Light" panose="020E0502030303020204" pitchFamily="34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9C1EA03-E381-6E7B-03A8-6D9C5F7B621E}"/>
              </a:ext>
            </a:extLst>
          </p:cNvPr>
          <p:cNvGrpSpPr/>
          <p:nvPr/>
        </p:nvGrpSpPr>
        <p:grpSpPr>
          <a:xfrm>
            <a:off x="4793542" y="2258760"/>
            <a:ext cx="2398644" cy="2445026"/>
            <a:chOff x="2193234" y="1470991"/>
            <a:chExt cx="2398644" cy="2445026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6FBB6DBB-84B8-9FD6-B37B-B58ED7BE1306}"/>
                </a:ext>
              </a:extLst>
            </p:cNvPr>
            <p:cNvSpPr/>
            <p:nvPr/>
          </p:nvSpPr>
          <p:spPr>
            <a:xfrm>
              <a:off x="2193234" y="1470991"/>
              <a:ext cx="2398644" cy="244502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38330DC-A5AF-C49B-03FC-77B175A08DF2}"/>
                </a:ext>
              </a:extLst>
            </p:cNvPr>
            <p:cNvSpPr txBox="1"/>
            <p:nvPr/>
          </p:nvSpPr>
          <p:spPr>
            <a:xfrm>
              <a:off x="2424617" y="2047173"/>
              <a:ext cx="1942903" cy="12926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6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Handling</a:t>
              </a:r>
            </a:p>
            <a:p>
              <a:pPr algn="ctr"/>
              <a:r>
                <a:rPr lang="en-US" sz="26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Duplicate </a:t>
              </a:r>
            </a:p>
            <a:p>
              <a:pPr algn="ctr"/>
              <a:r>
                <a:rPr lang="en-US" sz="26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Values</a:t>
              </a:r>
              <a:endParaRPr lang="en-IN" sz="2600" dirty="0">
                <a:solidFill>
                  <a:schemeClr val="bg1"/>
                </a:solidFill>
                <a:latin typeface="Candara Light" panose="020E0502030303020204" pitchFamily="34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1816244-047E-6A74-7396-6C7110D0FDEA}"/>
              </a:ext>
            </a:extLst>
          </p:cNvPr>
          <p:cNvGrpSpPr/>
          <p:nvPr/>
        </p:nvGrpSpPr>
        <p:grpSpPr>
          <a:xfrm>
            <a:off x="3998628" y="1649159"/>
            <a:ext cx="3988473" cy="3664228"/>
            <a:chOff x="4101763" y="1596886"/>
            <a:chExt cx="3988473" cy="3664228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41867944-ABDD-4CBC-625F-F0EE94EE0794}"/>
                </a:ext>
              </a:extLst>
            </p:cNvPr>
            <p:cNvSpPr/>
            <p:nvPr/>
          </p:nvSpPr>
          <p:spPr>
            <a:xfrm>
              <a:off x="4273892" y="1596886"/>
              <a:ext cx="3644350" cy="3664228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37D7E44-8D35-B4F7-9F31-C6ACC683B2C5}"/>
                </a:ext>
              </a:extLst>
            </p:cNvPr>
            <p:cNvSpPr txBox="1"/>
            <p:nvPr/>
          </p:nvSpPr>
          <p:spPr>
            <a:xfrm>
              <a:off x="4101763" y="2828835"/>
              <a:ext cx="398847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Data Cleaning &amp;</a:t>
              </a:r>
            </a:p>
            <a:p>
              <a:pPr algn="ctr"/>
              <a:r>
                <a:rPr lang="en-US" sz="3600" b="1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Preprocessing</a:t>
              </a:r>
              <a:endParaRPr lang="en-IN" sz="3600" b="1" dirty="0">
                <a:solidFill>
                  <a:schemeClr val="bg1"/>
                </a:solidFill>
                <a:latin typeface="Candara Light" panose="020E05020303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11864171"/>
      </p:ext>
    </p:extLst>
  </p:cSld>
  <p:clrMapOvr>
    <a:masterClrMapping/>
  </p:clrMapOvr>
  <p:transition spd="slow" advClick="0" advTm="100">
    <p:push dir="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D3407B50-CE3B-223D-72F5-94BCE044DA3E}"/>
              </a:ext>
            </a:extLst>
          </p:cNvPr>
          <p:cNvSpPr/>
          <p:nvPr/>
        </p:nvSpPr>
        <p:spPr>
          <a:xfrm>
            <a:off x="5361711" y="5093922"/>
            <a:ext cx="1521118" cy="155216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79400" dist="1270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5A4EE3D-D4CE-A347-7DDA-3996CD5B93A1}"/>
              </a:ext>
            </a:extLst>
          </p:cNvPr>
          <p:cNvSpPr/>
          <p:nvPr/>
        </p:nvSpPr>
        <p:spPr>
          <a:xfrm>
            <a:off x="1513232" y="4088836"/>
            <a:ext cx="1148832" cy="1172278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279400" dist="1270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035BBAB-EE55-95DE-2734-2DFFDE9B479C}"/>
              </a:ext>
            </a:extLst>
          </p:cNvPr>
          <p:cNvSpPr/>
          <p:nvPr/>
        </p:nvSpPr>
        <p:spPr>
          <a:xfrm>
            <a:off x="10474549" y="5095712"/>
            <a:ext cx="966482" cy="986207"/>
          </a:xfrm>
          <a:prstGeom prst="ellipse">
            <a:avLst/>
          </a:prstGeom>
          <a:solidFill>
            <a:srgbClr val="1F4E79"/>
          </a:solidFill>
          <a:ln>
            <a:noFill/>
          </a:ln>
          <a:effectLst>
            <a:outerShdw blurRad="279400" dist="2540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574EFC3-FD75-D95A-2E1E-B2CD4031D4A9}"/>
              </a:ext>
            </a:extLst>
          </p:cNvPr>
          <p:cNvSpPr/>
          <p:nvPr/>
        </p:nvSpPr>
        <p:spPr>
          <a:xfrm>
            <a:off x="4119342" y="930426"/>
            <a:ext cx="1163802" cy="116618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79400" dist="2540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08B22A4-115B-61F2-310B-B47FF9A31934}"/>
              </a:ext>
            </a:extLst>
          </p:cNvPr>
          <p:cNvSpPr/>
          <p:nvPr/>
        </p:nvSpPr>
        <p:spPr>
          <a:xfrm>
            <a:off x="6387292" y="1090200"/>
            <a:ext cx="912527" cy="914398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279400" dist="254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C941218-7BF9-077D-A8AD-A1F357466DB3}"/>
              </a:ext>
            </a:extLst>
          </p:cNvPr>
          <p:cNvGrpSpPr/>
          <p:nvPr/>
        </p:nvGrpSpPr>
        <p:grpSpPr>
          <a:xfrm>
            <a:off x="2433843" y="4070257"/>
            <a:ext cx="2663688" cy="2690194"/>
            <a:chOff x="2433843" y="4070257"/>
            <a:chExt cx="2663688" cy="2690194"/>
          </a:xfrm>
          <a:effectLst>
            <a:outerShdw blurRad="279400" dist="50800" dir="5400000" algn="ctr" rotWithShape="0">
              <a:srgbClr val="000000">
                <a:alpha val="50000"/>
              </a:srgbClr>
            </a:outerShdw>
          </a:effectLst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3D9C2C96-D2D7-3BB8-430A-8C7D8034DF56}"/>
                </a:ext>
              </a:extLst>
            </p:cNvPr>
            <p:cNvSpPr/>
            <p:nvPr/>
          </p:nvSpPr>
          <p:spPr>
            <a:xfrm>
              <a:off x="2433843" y="4070257"/>
              <a:ext cx="2663688" cy="2690194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  <a:effectLst>
              <a:outerShdw blurRad="279400" dist="254000" dir="8100000" algn="tr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9C600F8-A649-1265-E372-2517D7DE7724}"/>
                </a:ext>
              </a:extLst>
            </p:cNvPr>
            <p:cNvSpPr txBox="1"/>
            <p:nvPr/>
          </p:nvSpPr>
          <p:spPr>
            <a:xfrm>
              <a:off x="2794235" y="4722856"/>
              <a:ext cx="1942903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Handling</a:t>
              </a:r>
            </a:p>
            <a:p>
              <a:pPr algn="ctr"/>
              <a:r>
                <a:rPr lang="en-US" sz="28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Missing </a:t>
              </a:r>
            </a:p>
            <a:p>
              <a:pPr algn="ctr"/>
              <a:r>
                <a:rPr lang="en-US" sz="28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Values</a:t>
              </a:r>
              <a:endParaRPr lang="en-IN" sz="2800" dirty="0">
                <a:solidFill>
                  <a:schemeClr val="bg1"/>
                </a:solidFill>
                <a:latin typeface="Candara Light" panose="020E0502030303020204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3686482-DE69-C88C-0A63-C0F8B290D36B}"/>
              </a:ext>
            </a:extLst>
          </p:cNvPr>
          <p:cNvGrpSpPr/>
          <p:nvPr/>
        </p:nvGrpSpPr>
        <p:grpSpPr>
          <a:xfrm>
            <a:off x="7235255" y="3696274"/>
            <a:ext cx="2975114" cy="3035832"/>
            <a:chOff x="7235255" y="3696274"/>
            <a:chExt cx="2975114" cy="3035832"/>
          </a:xfrm>
          <a:effectLst>
            <a:outerShdw blurRad="279400" dist="50800" dir="5400000" algn="ctr" rotWithShape="0">
              <a:srgbClr val="000000">
                <a:alpha val="50000"/>
              </a:srgbClr>
            </a:outerShdw>
          </a:effectLst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6764D57-235F-77FB-DA50-8DC527B7D913}"/>
                </a:ext>
              </a:extLst>
            </p:cNvPr>
            <p:cNvSpPr/>
            <p:nvPr/>
          </p:nvSpPr>
          <p:spPr>
            <a:xfrm>
              <a:off x="7235255" y="3696274"/>
              <a:ext cx="2975114" cy="3035832"/>
            </a:xfrm>
            <a:prstGeom prst="ellipse">
              <a:avLst/>
            </a:prstGeom>
            <a:solidFill>
              <a:srgbClr val="008080"/>
            </a:solidFill>
            <a:ln>
              <a:noFill/>
            </a:ln>
            <a:effectLst>
              <a:outerShdw blurRad="279400" dist="254000" dir="8100000" algn="tr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656F8DC-C0CC-1BEC-A19B-8D9FBC1D0F6B}"/>
                </a:ext>
              </a:extLst>
            </p:cNvPr>
            <p:cNvSpPr txBox="1"/>
            <p:nvPr/>
          </p:nvSpPr>
          <p:spPr>
            <a:xfrm>
              <a:off x="7321748" y="4355258"/>
              <a:ext cx="2802128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0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Text </a:t>
              </a:r>
            </a:p>
            <a:p>
              <a:pPr algn="ctr"/>
              <a:r>
                <a:rPr lang="en-US" sz="30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Cleaning &amp;</a:t>
              </a:r>
            </a:p>
            <a:p>
              <a:pPr algn="ctr"/>
              <a:r>
                <a:rPr lang="en-US" sz="30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Standardization</a:t>
              </a:r>
              <a:endParaRPr lang="en-IN" sz="3000" dirty="0">
                <a:solidFill>
                  <a:schemeClr val="bg1"/>
                </a:solidFill>
                <a:latin typeface="Candara Light" panose="020E0502030303020204" pitchFamily="34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35B86F3-4B99-BB7D-82C3-666E17D7B6B2}"/>
              </a:ext>
            </a:extLst>
          </p:cNvPr>
          <p:cNvGrpSpPr/>
          <p:nvPr/>
        </p:nvGrpSpPr>
        <p:grpSpPr>
          <a:xfrm>
            <a:off x="8854902" y="2096614"/>
            <a:ext cx="2975114" cy="2931788"/>
            <a:chOff x="8854902" y="2096614"/>
            <a:chExt cx="2975114" cy="2931788"/>
          </a:xfrm>
          <a:effectLst>
            <a:outerShdw blurRad="279400" dist="50800" dir="5400000" algn="ctr" rotWithShape="0">
              <a:srgbClr val="000000">
                <a:alpha val="50000"/>
              </a:srgbClr>
            </a:outerShdw>
          </a:effectLst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673A235-CF5F-94A2-89A7-F2F3501F1AEE}"/>
                </a:ext>
              </a:extLst>
            </p:cNvPr>
            <p:cNvSpPr/>
            <p:nvPr/>
          </p:nvSpPr>
          <p:spPr>
            <a:xfrm>
              <a:off x="8854902" y="2096614"/>
              <a:ext cx="2975114" cy="2931788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  <a:effectLst>
              <a:outerShdw blurRad="279400" dist="38100" dir="8100000" algn="tr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F6F7F3D-E834-A9FB-7E79-C3615ABD73AA}"/>
                </a:ext>
              </a:extLst>
            </p:cNvPr>
            <p:cNvSpPr txBox="1"/>
            <p:nvPr/>
          </p:nvSpPr>
          <p:spPr>
            <a:xfrm>
              <a:off x="8941395" y="2917129"/>
              <a:ext cx="2802128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Datatype</a:t>
              </a:r>
            </a:p>
            <a:p>
              <a:pPr algn="ctr"/>
              <a:r>
                <a:rPr lang="en-US" sz="32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Conversion</a:t>
              </a:r>
              <a:endParaRPr lang="en-IN" sz="3200" dirty="0">
                <a:solidFill>
                  <a:schemeClr val="bg1"/>
                </a:solidFill>
                <a:latin typeface="Candara Light" panose="020E0502030303020204" pitchFamily="34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A1C298D-8966-111A-6326-5087FF1923AB}"/>
              </a:ext>
            </a:extLst>
          </p:cNvPr>
          <p:cNvGrpSpPr/>
          <p:nvPr/>
        </p:nvGrpSpPr>
        <p:grpSpPr>
          <a:xfrm>
            <a:off x="7080581" y="251789"/>
            <a:ext cx="2802128" cy="2690194"/>
            <a:chOff x="7080581" y="251789"/>
            <a:chExt cx="2802128" cy="2690194"/>
          </a:xfrm>
          <a:effectLst>
            <a:outerShdw blurRad="279400" dist="50800" dir="5400000" algn="ctr" rotWithShape="0">
              <a:srgbClr val="000000">
                <a:alpha val="50000"/>
              </a:srgbClr>
            </a:outerShdw>
          </a:effectLst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C57E712-3D8A-352E-FB13-90B67764709D}"/>
                </a:ext>
              </a:extLst>
            </p:cNvPr>
            <p:cNvSpPr/>
            <p:nvPr/>
          </p:nvSpPr>
          <p:spPr>
            <a:xfrm>
              <a:off x="7107594" y="251789"/>
              <a:ext cx="2729950" cy="2690194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>
              <a:outerShdw blurRad="2794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D61384D-CC20-8D9C-483C-6BC73E86BC83}"/>
                </a:ext>
              </a:extLst>
            </p:cNvPr>
            <p:cNvSpPr txBox="1"/>
            <p:nvPr/>
          </p:nvSpPr>
          <p:spPr>
            <a:xfrm>
              <a:off x="7080581" y="908474"/>
              <a:ext cx="2802128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Thousands (K) </a:t>
              </a:r>
              <a:br>
                <a:rPr lang="en-US" sz="2800" dirty="0">
                  <a:solidFill>
                    <a:schemeClr val="bg1"/>
                  </a:solidFill>
                  <a:latin typeface="Candara Light" panose="020E0502030303020204" pitchFamily="34" charset="0"/>
                </a:rPr>
              </a:br>
              <a:r>
                <a:rPr lang="en-US" sz="28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&amp; Millions (M)</a:t>
              </a:r>
            </a:p>
            <a:p>
              <a:pPr algn="ctr"/>
              <a:r>
                <a:rPr lang="en-US" sz="28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Conversion</a:t>
              </a:r>
              <a:endParaRPr lang="en-IN" sz="2800" dirty="0">
                <a:solidFill>
                  <a:schemeClr val="bg1"/>
                </a:solidFill>
                <a:latin typeface="Candara Light" panose="020E0502030303020204" pitchFamily="34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7AC6DE5-B53E-9873-E901-BD7B9BC8A8F8}"/>
              </a:ext>
            </a:extLst>
          </p:cNvPr>
          <p:cNvGrpSpPr/>
          <p:nvPr/>
        </p:nvGrpSpPr>
        <p:grpSpPr>
          <a:xfrm>
            <a:off x="155712" y="202095"/>
            <a:ext cx="2882349" cy="2938084"/>
            <a:chOff x="155712" y="202095"/>
            <a:chExt cx="2882349" cy="2938084"/>
          </a:xfrm>
          <a:effectLst>
            <a:outerShdw blurRad="279400" dist="50800" dir="5400000" algn="ctr" rotWithShape="0">
              <a:srgbClr val="000000">
                <a:alpha val="50000"/>
              </a:srgbClr>
            </a:outerShdw>
          </a:effectLst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F9666FC-7AFA-C34C-E6AF-7BC4E3F5E456}"/>
                </a:ext>
              </a:extLst>
            </p:cNvPr>
            <p:cNvSpPr/>
            <p:nvPr/>
          </p:nvSpPr>
          <p:spPr>
            <a:xfrm>
              <a:off x="155712" y="202095"/>
              <a:ext cx="2882349" cy="2938084"/>
            </a:xfrm>
            <a:prstGeom prst="ellipse">
              <a:avLst/>
            </a:prstGeom>
            <a:solidFill>
              <a:srgbClr val="004F4F"/>
            </a:solidFill>
            <a:ln>
              <a:noFill/>
            </a:ln>
            <a:effectLst>
              <a:outerShdw blurRad="279400" dist="254000" dir="8100000" algn="tr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2F40269-02EF-4257-2B50-D86D53BBEE47}"/>
                </a:ext>
              </a:extLst>
            </p:cNvPr>
            <p:cNvSpPr txBox="1"/>
            <p:nvPr/>
          </p:nvSpPr>
          <p:spPr>
            <a:xfrm>
              <a:off x="425463" y="1058277"/>
              <a:ext cx="2175538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Currency</a:t>
              </a:r>
            </a:p>
            <a:p>
              <a:pPr algn="ctr"/>
              <a:r>
                <a:rPr lang="en-US" sz="32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Conversion</a:t>
              </a:r>
              <a:endParaRPr lang="en-IN" sz="3200" dirty="0">
                <a:solidFill>
                  <a:schemeClr val="bg1"/>
                </a:solidFill>
                <a:latin typeface="Candara Light" panose="020E0502030303020204" pitchFamily="34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9C1EA03-E381-6E7B-03A8-6D9C5F7B621E}"/>
              </a:ext>
            </a:extLst>
          </p:cNvPr>
          <p:cNvGrpSpPr/>
          <p:nvPr/>
        </p:nvGrpSpPr>
        <p:grpSpPr>
          <a:xfrm>
            <a:off x="2193234" y="1470991"/>
            <a:ext cx="2398644" cy="2445026"/>
            <a:chOff x="2193234" y="1470991"/>
            <a:chExt cx="2398644" cy="2445026"/>
          </a:xfrm>
          <a:effectLst>
            <a:outerShdw blurRad="279400" dist="50800" dir="5400000" algn="ctr" rotWithShape="0">
              <a:srgbClr val="000000">
                <a:alpha val="50000"/>
              </a:srgbClr>
            </a:outerShdw>
          </a:effectLst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6FBB6DBB-84B8-9FD6-B37B-B58ED7BE1306}"/>
                </a:ext>
              </a:extLst>
            </p:cNvPr>
            <p:cNvSpPr/>
            <p:nvPr/>
          </p:nvSpPr>
          <p:spPr>
            <a:xfrm>
              <a:off x="2193234" y="1470991"/>
              <a:ext cx="2398644" cy="244502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279400" dist="127000" dir="8100000" algn="tr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38330DC-A5AF-C49B-03FC-77B175A08DF2}"/>
                </a:ext>
              </a:extLst>
            </p:cNvPr>
            <p:cNvSpPr txBox="1"/>
            <p:nvPr/>
          </p:nvSpPr>
          <p:spPr>
            <a:xfrm>
              <a:off x="2424617" y="2047173"/>
              <a:ext cx="1942903" cy="12926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6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Handling</a:t>
              </a:r>
            </a:p>
            <a:p>
              <a:pPr algn="ctr"/>
              <a:r>
                <a:rPr lang="en-US" sz="26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Duplicate </a:t>
              </a:r>
            </a:p>
            <a:p>
              <a:pPr algn="ctr"/>
              <a:r>
                <a:rPr lang="en-US" sz="26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Values</a:t>
              </a:r>
              <a:endParaRPr lang="en-IN" sz="2600" dirty="0">
                <a:solidFill>
                  <a:schemeClr val="bg1"/>
                </a:solidFill>
                <a:latin typeface="Candara Light" panose="020E0502030303020204" pitchFamily="34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1816244-047E-6A74-7396-6C7110D0FDEA}"/>
              </a:ext>
            </a:extLst>
          </p:cNvPr>
          <p:cNvGrpSpPr/>
          <p:nvPr/>
        </p:nvGrpSpPr>
        <p:grpSpPr>
          <a:xfrm>
            <a:off x="4101763" y="1596886"/>
            <a:ext cx="3988473" cy="3664228"/>
            <a:chOff x="4101763" y="1596886"/>
            <a:chExt cx="3988473" cy="3664228"/>
          </a:xfrm>
          <a:effectLst>
            <a:outerShdw blurRad="279400" dist="50800" dir="5400000" algn="ctr" rotWithShape="0">
              <a:srgbClr val="000000">
                <a:alpha val="50000"/>
              </a:srgbClr>
            </a:outerShdw>
          </a:effectLst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41867944-ABDD-4CBC-625F-F0EE94EE0794}"/>
                </a:ext>
              </a:extLst>
            </p:cNvPr>
            <p:cNvSpPr/>
            <p:nvPr/>
          </p:nvSpPr>
          <p:spPr>
            <a:xfrm>
              <a:off x="4273892" y="1596886"/>
              <a:ext cx="3644350" cy="3664228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  <a:effectLst>
              <a:outerShdw blurRad="279400" dist="254000" dir="8100000" algn="tr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37D7E44-8D35-B4F7-9F31-C6ACC683B2C5}"/>
                </a:ext>
              </a:extLst>
            </p:cNvPr>
            <p:cNvSpPr txBox="1"/>
            <p:nvPr/>
          </p:nvSpPr>
          <p:spPr>
            <a:xfrm>
              <a:off x="4101763" y="2828835"/>
              <a:ext cx="398847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Data Cleaning &amp;</a:t>
              </a:r>
            </a:p>
            <a:p>
              <a:pPr algn="ctr"/>
              <a:r>
                <a:rPr lang="en-US" sz="3600" b="1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Preprocessing</a:t>
              </a:r>
              <a:endParaRPr lang="en-IN" sz="3600" b="1" dirty="0">
                <a:solidFill>
                  <a:schemeClr val="bg1"/>
                </a:solidFill>
                <a:latin typeface="Candara Light" panose="020E05020303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120271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D3407B50-CE3B-223D-72F5-94BCE044DA3E}"/>
              </a:ext>
            </a:extLst>
          </p:cNvPr>
          <p:cNvSpPr/>
          <p:nvPr/>
        </p:nvSpPr>
        <p:spPr>
          <a:xfrm>
            <a:off x="5219170" y="2705192"/>
            <a:ext cx="1521118" cy="155216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79400" dist="1270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5A4EE3D-D4CE-A347-7DDA-3996CD5B93A1}"/>
              </a:ext>
            </a:extLst>
          </p:cNvPr>
          <p:cNvSpPr/>
          <p:nvPr/>
        </p:nvSpPr>
        <p:spPr>
          <a:xfrm>
            <a:off x="5405313" y="2895134"/>
            <a:ext cx="1148832" cy="1172278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279400" dist="1270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035BBAB-EE55-95DE-2734-2DFFDE9B479C}"/>
              </a:ext>
            </a:extLst>
          </p:cNvPr>
          <p:cNvSpPr/>
          <p:nvPr/>
        </p:nvSpPr>
        <p:spPr>
          <a:xfrm>
            <a:off x="5496488" y="2988170"/>
            <a:ext cx="966482" cy="986207"/>
          </a:xfrm>
          <a:prstGeom prst="ellipse">
            <a:avLst/>
          </a:prstGeom>
          <a:solidFill>
            <a:srgbClr val="1F4E79"/>
          </a:solidFill>
          <a:ln>
            <a:noFill/>
          </a:ln>
          <a:effectLst>
            <a:outerShdw blurRad="279400" dist="2540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574EFC3-FD75-D95A-2E1E-B2CD4031D4A9}"/>
              </a:ext>
            </a:extLst>
          </p:cNvPr>
          <p:cNvSpPr/>
          <p:nvPr/>
        </p:nvSpPr>
        <p:spPr>
          <a:xfrm>
            <a:off x="5397828" y="2898179"/>
            <a:ext cx="1163802" cy="116618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79400" dist="2540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08B22A4-115B-61F2-310B-B47FF9A31934}"/>
              </a:ext>
            </a:extLst>
          </p:cNvPr>
          <p:cNvSpPr/>
          <p:nvPr/>
        </p:nvSpPr>
        <p:spPr>
          <a:xfrm>
            <a:off x="5523466" y="3024074"/>
            <a:ext cx="912527" cy="914398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279400" dist="254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C941218-7BF9-077D-A8AD-A1F357466DB3}"/>
              </a:ext>
            </a:extLst>
          </p:cNvPr>
          <p:cNvGrpSpPr/>
          <p:nvPr/>
        </p:nvGrpSpPr>
        <p:grpSpPr>
          <a:xfrm>
            <a:off x="4647885" y="2136176"/>
            <a:ext cx="2663688" cy="2690194"/>
            <a:chOff x="2433843" y="4070257"/>
            <a:chExt cx="2663688" cy="2690194"/>
          </a:xfrm>
          <a:effectLst>
            <a:outerShdw blurRad="279400" dist="50800" dir="5400000" algn="ctr" rotWithShape="0">
              <a:srgbClr val="000000">
                <a:alpha val="50000"/>
              </a:srgbClr>
            </a:outerShdw>
          </a:effectLst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3D9C2C96-D2D7-3BB8-430A-8C7D8034DF56}"/>
                </a:ext>
              </a:extLst>
            </p:cNvPr>
            <p:cNvSpPr/>
            <p:nvPr/>
          </p:nvSpPr>
          <p:spPr>
            <a:xfrm>
              <a:off x="2433843" y="4070257"/>
              <a:ext cx="2663688" cy="2690194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  <a:effectLst>
              <a:outerShdw blurRad="279400" dist="254000" dir="8100000" algn="tr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9C600F8-A649-1265-E372-2517D7DE7724}"/>
                </a:ext>
              </a:extLst>
            </p:cNvPr>
            <p:cNvSpPr txBox="1"/>
            <p:nvPr/>
          </p:nvSpPr>
          <p:spPr>
            <a:xfrm>
              <a:off x="2794235" y="4722856"/>
              <a:ext cx="1942903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Handling</a:t>
              </a:r>
            </a:p>
            <a:p>
              <a:pPr algn="ctr"/>
              <a:r>
                <a:rPr lang="en-US" sz="28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Missing </a:t>
              </a:r>
            </a:p>
            <a:p>
              <a:pPr algn="ctr"/>
              <a:r>
                <a:rPr lang="en-US" sz="28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Values</a:t>
              </a:r>
              <a:endParaRPr lang="en-IN" sz="2800" dirty="0">
                <a:solidFill>
                  <a:schemeClr val="bg1"/>
                </a:solidFill>
                <a:latin typeface="Candara Light" panose="020E0502030303020204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3686482-DE69-C88C-0A63-C0F8B290D36B}"/>
              </a:ext>
            </a:extLst>
          </p:cNvPr>
          <p:cNvGrpSpPr/>
          <p:nvPr/>
        </p:nvGrpSpPr>
        <p:grpSpPr>
          <a:xfrm>
            <a:off x="4492172" y="1963357"/>
            <a:ext cx="2975114" cy="3035832"/>
            <a:chOff x="7235255" y="3696274"/>
            <a:chExt cx="2975114" cy="3035832"/>
          </a:xfrm>
          <a:effectLst>
            <a:outerShdw blurRad="279400" dist="50800" dir="5400000" algn="ctr" rotWithShape="0">
              <a:srgbClr val="000000">
                <a:alpha val="50000"/>
              </a:srgbClr>
            </a:outerShdw>
          </a:effectLst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6764D57-235F-77FB-DA50-8DC527B7D913}"/>
                </a:ext>
              </a:extLst>
            </p:cNvPr>
            <p:cNvSpPr/>
            <p:nvPr/>
          </p:nvSpPr>
          <p:spPr>
            <a:xfrm>
              <a:off x="7235255" y="3696274"/>
              <a:ext cx="2975114" cy="3035832"/>
            </a:xfrm>
            <a:prstGeom prst="ellipse">
              <a:avLst/>
            </a:prstGeom>
            <a:solidFill>
              <a:srgbClr val="008080"/>
            </a:solidFill>
            <a:ln>
              <a:noFill/>
            </a:ln>
            <a:effectLst>
              <a:outerShdw blurRad="279400" dist="254000" dir="8100000" algn="tr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656F8DC-C0CC-1BEC-A19B-8D9FBC1D0F6B}"/>
                </a:ext>
              </a:extLst>
            </p:cNvPr>
            <p:cNvSpPr txBox="1"/>
            <p:nvPr/>
          </p:nvSpPr>
          <p:spPr>
            <a:xfrm>
              <a:off x="7321748" y="4355258"/>
              <a:ext cx="2802128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0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Text </a:t>
              </a:r>
            </a:p>
            <a:p>
              <a:pPr algn="ctr"/>
              <a:r>
                <a:rPr lang="en-US" sz="30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Cleaning &amp;</a:t>
              </a:r>
            </a:p>
            <a:p>
              <a:pPr algn="ctr"/>
              <a:r>
                <a:rPr lang="en-US" sz="30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Standardization</a:t>
              </a:r>
              <a:endParaRPr lang="en-IN" sz="3000" dirty="0">
                <a:solidFill>
                  <a:schemeClr val="bg1"/>
                </a:solidFill>
                <a:latin typeface="Candara Light" panose="020E0502030303020204" pitchFamily="34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35B86F3-4B99-BB7D-82C3-666E17D7B6B2}"/>
              </a:ext>
            </a:extLst>
          </p:cNvPr>
          <p:cNvGrpSpPr/>
          <p:nvPr/>
        </p:nvGrpSpPr>
        <p:grpSpPr>
          <a:xfrm>
            <a:off x="4492172" y="2015379"/>
            <a:ext cx="2975114" cy="2931788"/>
            <a:chOff x="8854902" y="2096614"/>
            <a:chExt cx="2975114" cy="2931788"/>
          </a:xfrm>
          <a:effectLst>
            <a:outerShdw blurRad="279400" dist="50800" dir="5400000" algn="ctr" rotWithShape="0">
              <a:srgbClr val="000000">
                <a:alpha val="50000"/>
              </a:srgbClr>
            </a:outerShdw>
          </a:effectLst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673A235-CF5F-94A2-89A7-F2F3501F1AEE}"/>
                </a:ext>
              </a:extLst>
            </p:cNvPr>
            <p:cNvSpPr/>
            <p:nvPr/>
          </p:nvSpPr>
          <p:spPr>
            <a:xfrm>
              <a:off x="8854902" y="2096614"/>
              <a:ext cx="2975114" cy="2931788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  <a:effectLst>
              <a:outerShdw blurRad="279400" dist="38100" dir="8100000" algn="tr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F6F7F3D-E834-A9FB-7E79-C3615ABD73AA}"/>
                </a:ext>
              </a:extLst>
            </p:cNvPr>
            <p:cNvSpPr txBox="1"/>
            <p:nvPr/>
          </p:nvSpPr>
          <p:spPr>
            <a:xfrm>
              <a:off x="8941395" y="2917129"/>
              <a:ext cx="2802128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Datatype</a:t>
              </a:r>
            </a:p>
            <a:p>
              <a:pPr algn="ctr"/>
              <a:r>
                <a:rPr lang="en-US" sz="32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Conversion</a:t>
              </a:r>
              <a:endParaRPr lang="en-IN" sz="3200" dirty="0">
                <a:solidFill>
                  <a:schemeClr val="bg1"/>
                </a:solidFill>
                <a:latin typeface="Candara Light" panose="020E0502030303020204" pitchFamily="34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A1C298D-8966-111A-6326-5087FF1923AB}"/>
              </a:ext>
            </a:extLst>
          </p:cNvPr>
          <p:cNvGrpSpPr/>
          <p:nvPr/>
        </p:nvGrpSpPr>
        <p:grpSpPr>
          <a:xfrm>
            <a:off x="4578665" y="2136176"/>
            <a:ext cx="2802128" cy="2690194"/>
            <a:chOff x="7080581" y="251789"/>
            <a:chExt cx="2802128" cy="2690194"/>
          </a:xfrm>
          <a:effectLst>
            <a:outerShdw blurRad="279400" dist="50800" dir="5400000" algn="ctr" rotWithShape="0">
              <a:srgbClr val="000000">
                <a:alpha val="50000"/>
              </a:srgbClr>
            </a:outerShdw>
          </a:effectLst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C57E712-3D8A-352E-FB13-90B67764709D}"/>
                </a:ext>
              </a:extLst>
            </p:cNvPr>
            <p:cNvSpPr/>
            <p:nvPr/>
          </p:nvSpPr>
          <p:spPr>
            <a:xfrm>
              <a:off x="7107594" y="251789"/>
              <a:ext cx="2729950" cy="2690194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>
              <a:outerShdw blurRad="2794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D61384D-CC20-8D9C-483C-6BC73E86BC83}"/>
                </a:ext>
              </a:extLst>
            </p:cNvPr>
            <p:cNvSpPr txBox="1"/>
            <p:nvPr/>
          </p:nvSpPr>
          <p:spPr>
            <a:xfrm>
              <a:off x="7080581" y="908474"/>
              <a:ext cx="2802128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Thousands (K) </a:t>
              </a:r>
              <a:br>
                <a:rPr lang="en-US" sz="2800" dirty="0">
                  <a:solidFill>
                    <a:schemeClr val="bg1"/>
                  </a:solidFill>
                  <a:latin typeface="Candara Light" panose="020E0502030303020204" pitchFamily="34" charset="0"/>
                </a:rPr>
              </a:br>
              <a:r>
                <a:rPr lang="en-US" sz="28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&amp; Millions (M)</a:t>
              </a:r>
            </a:p>
            <a:p>
              <a:pPr algn="ctr"/>
              <a:r>
                <a:rPr lang="en-US" sz="28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Conversion</a:t>
              </a:r>
              <a:endParaRPr lang="en-IN" sz="2800" dirty="0">
                <a:solidFill>
                  <a:schemeClr val="bg1"/>
                </a:solidFill>
                <a:latin typeface="Candara Light" panose="020E0502030303020204" pitchFamily="34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7AC6DE5-B53E-9873-E901-BD7B9BC8A8F8}"/>
              </a:ext>
            </a:extLst>
          </p:cNvPr>
          <p:cNvGrpSpPr/>
          <p:nvPr/>
        </p:nvGrpSpPr>
        <p:grpSpPr>
          <a:xfrm>
            <a:off x="4538555" y="2012231"/>
            <a:ext cx="2882349" cy="2938084"/>
            <a:chOff x="155712" y="202095"/>
            <a:chExt cx="2882349" cy="2938084"/>
          </a:xfrm>
          <a:effectLst>
            <a:outerShdw blurRad="279400" dist="50800" dir="5400000" algn="ctr" rotWithShape="0">
              <a:srgbClr val="000000">
                <a:alpha val="50000"/>
              </a:srgbClr>
            </a:outerShdw>
          </a:effectLst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F9666FC-7AFA-C34C-E6AF-7BC4E3F5E456}"/>
                </a:ext>
              </a:extLst>
            </p:cNvPr>
            <p:cNvSpPr/>
            <p:nvPr/>
          </p:nvSpPr>
          <p:spPr>
            <a:xfrm>
              <a:off x="155712" y="202095"/>
              <a:ext cx="2882349" cy="2938084"/>
            </a:xfrm>
            <a:prstGeom prst="ellipse">
              <a:avLst/>
            </a:prstGeom>
            <a:solidFill>
              <a:srgbClr val="004F4F"/>
            </a:solidFill>
            <a:ln>
              <a:noFill/>
            </a:ln>
            <a:effectLst>
              <a:outerShdw blurRad="279400" dist="254000" dir="8100000" algn="tr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2F40269-02EF-4257-2B50-D86D53BBEE47}"/>
                </a:ext>
              </a:extLst>
            </p:cNvPr>
            <p:cNvSpPr txBox="1"/>
            <p:nvPr/>
          </p:nvSpPr>
          <p:spPr>
            <a:xfrm>
              <a:off x="425463" y="1058277"/>
              <a:ext cx="2175538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Currency</a:t>
              </a:r>
            </a:p>
            <a:p>
              <a:pPr algn="ctr"/>
              <a:r>
                <a:rPr lang="en-US" sz="32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Conversion</a:t>
              </a:r>
              <a:endParaRPr lang="en-IN" sz="3200" dirty="0">
                <a:solidFill>
                  <a:schemeClr val="bg1"/>
                </a:solidFill>
                <a:latin typeface="Candara Light" panose="020E0502030303020204" pitchFamily="34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9C1EA03-E381-6E7B-03A8-6D9C5F7B621E}"/>
              </a:ext>
            </a:extLst>
          </p:cNvPr>
          <p:cNvGrpSpPr/>
          <p:nvPr/>
        </p:nvGrpSpPr>
        <p:grpSpPr>
          <a:xfrm>
            <a:off x="4780407" y="2258760"/>
            <a:ext cx="2398644" cy="2445026"/>
            <a:chOff x="2193234" y="1470991"/>
            <a:chExt cx="2398644" cy="2445026"/>
          </a:xfrm>
          <a:effectLst>
            <a:outerShdw blurRad="279400" dist="50800" dir="5400000" algn="ctr" rotWithShape="0">
              <a:srgbClr val="000000">
                <a:alpha val="50000"/>
              </a:srgbClr>
            </a:outerShdw>
          </a:effectLst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6FBB6DBB-84B8-9FD6-B37B-B58ED7BE1306}"/>
                </a:ext>
              </a:extLst>
            </p:cNvPr>
            <p:cNvSpPr/>
            <p:nvPr/>
          </p:nvSpPr>
          <p:spPr>
            <a:xfrm>
              <a:off x="2193234" y="1470991"/>
              <a:ext cx="2398644" cy="244502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279400" dist="127000" dir="8100000" algn="tr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38330DC-A5AF-C49B-03FC-77B175A08DF2}"/>
                </a:ext>
              </a:extLst>
            </p:cNvPr>
            <p:cNvSpPr txBox="1"/>
            <p:nvPr/>
          </p:nvSpPr>
          <p:spPr>
            <a:xfrm>
              <a:off x="2424617" y="2047173"/>
              <a:ext cx="1942903" cy="12926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6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Handling</a:t>
              </a:r>
            </a:p>
            <a:p>
              <a:pPr algn="ctr"/>
              <a:r>
                <a:rPr lang="en-US" sz="26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Duplicate </a:t>
              </a:r>
            </a:p>
            <a:p>
              <a:pPr algn="ctr"/>
              <a:r>
                <a:rPr lang="en-US" sz="26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Values</a:t>
              </a:r>
              <a:endParaRPr lang="en-IN" sz="2600" dirty="0">
                <a:solidFill>
                  <a:schemeClr val="bg1"/>
                </a:solidFill>
                <a:latin typeface="Candara Light" panose="020E0502030303020204" pitchFamily="34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1816244-047E-6A74-7396-6C7110D0FDEA}"/>
              </a:ext>
            </a:extLst>
          </p:cNvPr>
          <p:cNvGrpSpPr/>
          <p:nvPr/>
        </p:nvGrpSpPr>
        <p:grpSpPr>
          <a:xfrm>
            <a:off x="3985493" y="1649159"/>
            <a:ext cx="3988473" cy="3664228"/>
            <a:chOff x="4101763" y="1596886"/>
            <a:chExt cx="3988473" cy="3664228"/>
          </a:xfrm>
          <a:effectLst>
            <a:outerShdw blurRad="279400" dist="50800" dir="5400000" algn="ctr" rotWithShape="0">
              <a:srgbClr val="000000">
                <a:alpha val="50000"/>
              </a:srgbClr>
            </a:outerShdw>
          </a:effectLst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41867944-ABDD-4CBC-625F-F0EE94EE0794}"/>
                </a:ext>
              </a:extLst>
            </p:cNvPr>
            <p:cNvSpPr/>
            <p:nvPr/>
          </p:nvSpPr>
          <p:spPr>
            <a:xfrm>
              <a:off x="4273892" y="1596886"/>
              <a:ext cx="3644350" cy="3664228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  <a:effectLst>
              <a:outerShdw blurRad="279400" dist="254000" dir="8100000" algn="tr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37D7E44-8D35-B4F7-9F31-C6ACC683B2C5}"/>
                </a:ext>
              </a:extLst>
            </p:cNvPr>
            <p:cNvSpPr txBox="1"/>
            <p:nvPr/>
          </p:nvSpPr>
          <p:spPr>
            <a:xfrm>
              <a:off x="4101763" y="2828835"/>
              <a:ext cx="398847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Data Cleaning &amp;</a:t>
              </a:r>
            </a:p>
            <a:p>
              <a:pPr algn="ctr"/>
              <a:r>
                <a:rPr lang="en-US" sz="3600" b="1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Preprocessing</a:t>
              </a:r>
              <a:endParaRPr lang="en-IN" sz="3600" b="1" dirty="0">
                <a:solidFill>
                  <a:schemeClr val="bg1"/>
                </a:solidFill>
                <a:latin typeface="Candara Light" panose="020E05020303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429091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000">
        <p159:morph option="byObject"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94CC87B-2165-EE83-958E-FD9DDA5D5F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tx1">
                  <a:alpha val="20000"/>
                </a:schemeClr>
              </a:gs>
              <a:gs pos="100000">
                <a:schemeClr val="tx1">
                  <a:alpha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C584444-C5F6-9F23-9A3D-4C3EF549CD61}"/>
              </a:ext>
            </a:extLst>
          </p:cNvPr>
          <p:cNvGrpSpPr/>
          <p:nvPr/>
        </p:nvGrpSpPr>
        <p:grpSpPr>
          <a:xfrm>
            <a:off x="-4198620" y="-358140"/>
            <a:ext cx="7467600" cy="7467600"/>
            <a:chOff x="-4198620" y="-358140"/>
            <a:chExt cx="7467600" cy="7467600"/>
          </a:xfrm>
        </p:grpSpPr>
        <p:sp useBgFill="1">
          <p:nvSpPr>
            <p:cNvPr id="2" name="Flowchart: Summing Junction 1">
              <a:extLst>
                <a:ext uri="{FF2B5EF4-FFF2-40B4-BE49-F238E27FC236}">
                  <a16:creationId xmlns:a16="http://schemas.microsoft.com/office/drawing/2014/main" id="{1148F9FB-C97F-B63B-9523-EF248E0F01E3}"/>
                </a:ext>
              </a:extLst>
            </p:cNvPr>
            <p:cNvSpPr/>
            <p:nvPr/>
          </p:nvSpPr>
          <p:spPr>
            <a:xfrm>
              <a:off x="-4198620" y="-358140"/>
              <a:ext cx="7467600" cy="7467600"/>
            </a:xfrm>
            <a:prstGeom prst="flowChartSummingJunction">
              <a:avLst/>
            </a:prstGeom>
            <a:ln>
              <a:solidFill>
                <a:schemeClr val="bg1"/>
              </a:solidFill>
            </a:ln>
            <a:effectLst>
              <a:outerShdw blurRad="152400" dist="38100" sx="103000" sy="1030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3D766B8-AC31-2D33-0245-0282E259A1B2}"/>
                </a:ext>
              </a:extLst>
            </p:cNvPr>
            <p:cNvSpPr txBox="1"/>
            <p:nvPr/>
          </p:nvSpPr>
          <p:spPr>
            <a:xfrm rot="5400000">
              <a:off x="339088" y="3021717"/>
              <a:ext cx="352806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Impact" panose="020B0806030902050204" pitchFamily="34" charset="0"/>
                </a:rPr>
                <a:t>INTRODUCTION</a:t>
              </a:r>
              <a:endParaRPr lang="en-IN" sz="40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A8BDB67-0C24-27C2-7D82-25D119938F2B}"/>
                </a:ext>
              </a:extLst>
            </p:cNvPr>
            <p:cNvSpPr txBox="1"/>
            <p:nvPr/>
          </p:nvSpPr>
          <p:spPr>
            <a:xfrm>
              <a:off x="-2228852" y="288189"/>
              <a:ext cx="3528063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Impact" panose="020B0806030902050204" pitchFamily="34" charset="0"/>
                </a:rPr>
                <a:t>MOVIES PER YEAR</a:t>
              </a:r>
              <a:endParaRPr lang="en-IN" sz="40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977F3CC-EF80-3B14-20E3-8B401A321C72}"/>
                </a:ext>
              </a:extLst>
            </p:cNvPr>
            <p:cNvSpPr txBox="1"/>
            <p:nvPr/>
          </p:nvSpPr>
          <p:spPr>
            <a:xfrm rot="16200000">
              <a:off x="-4739642" y="2713940"/>
              <a:ext cx="3528063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Impact" panose="020B0806030902050204" pitchFamily="34" charset="0"/>
                </a:rPr>
                <a:t>VOTES DISTRIBUTION</a:t>
              </a:r>
              <a:endParaRPr lang="en-IN" sz="40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85ACFA6-F3ED-0517-58F0-BBD026B8C9CA}"/>
                </a:ext>
              </a:extLst>
            </p:cNvPr>
            <p:cNvSpPr txBox="1"/>
            <p:nvPr/>
          </p:nvSpPr>
          <p:spPr>
            <a:xfrm flipV="1">
              <a:off x="-2228852" y="5139691"/>
              <a:ext cx="3528063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Impact" panose="020B0806030902050204" pitchFamily="34" charset="0"/>
                </a:rPr>
                <a:t>RATING DISTRIBUTION</a:t>
              </a:r>
              <a:endParaRPr lang="en-IN" sz="40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endParaRPr>
            </a:p>
          </p:txBody>
        </p:sp>
      </p:grpSp>
      <p:sp useBgFill="1">
        <p:nvSpPr>
          <p:cNvPr id="12" name="Oval 11">
            <a:extLst>
              <a:ext uri="{FF2B5EF4-FFF2-40B4-BE49-F238E27FC236}">
                <a16:creationId xmlns:a16="http://schemas.microsoft.com/office/drawing/2014/main" id="{F04BE554-6C40-87F0-8D0A-392253394272}"/>
              </a:ext>
            </a:extLst>
          </p:cNvPr>
          <p:cNvSpPr/>
          <p:nvPr/>
        </p:nvSpPr>
        <p:spPr>
          <a:xfrm>
            <a:off x="-1866902" y="2026919"/>
            <a:ext cx="2804162" cy="2804162"/>
          </a:xfrm>
          <a:prstGeom prst="ellipse">
            <a:avLst/>
          </a:prstGeom>
          <a:ln>
            <a:solidFill>
              <a:schemeClr val="bg1"/>
            </a:solidFill>
          </a:ln>
          <a:effectLst>
            <a:outerShdw blurRad="152400" dist="38100" sx="103000" sy="103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207C9E-45CC-FD68-E226-004118F1B8F5}"/>
              </a:ext>
            </a:extLst>
          </p:cNvPr>
          <p:cNvSpPr txBox="1"/>
          <p:nvPr/>
        </p:nvSpPr>
        <p:spPr>
          <a:xfrm>
            <a:off x="4080896" y="1611627"/>
            <a:ext cx="6472804" cy="3200876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Montserrat" pitchFamily="2" charset="0"/>
              </a:rPr>
              <a:t>Univariate Analysis</a:t>
            </a:r>
          </a:p>
          <a:p>
            <a:pPr algn="r"/>
            <a:endParaRPr lang="en-US" sz="3200" dirty="0">
              <a:solidFill>
                <a:schemeClr val="bg1"/>
              </a:solidFill>
              <a:latin typeface="Montserra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effectLst/>
                <a:latin typeface="Candara" panose="020E0502030303020204" pitchFamily="34" charset="0"/>
              </a:rPr>
              <a:t>Univariate analysis focuses on examining each variable independently to understand its distribution, central tendency, and variability. The objective is to: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ndara" panose="020E0502030303020204" pitchFamily="34" charset="0"/>
              </a:rPr>
              <a:t>Identify overall distribution of all key features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ndara" panose="020E0502030303020204" pitchFamily="34" charset="0"/>
              </a:rPr>
              <a:t>Detect skewness, and outliers.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ndara" panose="020E0502030303020204" pitchFamily="34" charset="0"/>
              </a:rPr>
              <a:t>Understand frequency pattern in categorical data.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CF5B328-14CF-A85C-2600-8FFD7312A3BA}"/>
              </a:ext>
            </a:extLst>
          </p:cNvPr>
          <p:cNvGrpSpPr/>
          <p:nvPr/>
        </p:nvGrpSpPr>
        <p:grpSpPr>
          <a:xfrm>
            <a:off x="4080896" y="7109460"/>
            <a:ext cx="7630999" cy="4119173"/>
            <a:chOff x="4080896" y="807721"/>
            <a:chExt cx="7630999" cy="4119173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E2626C4-1349-39FB-04B1-5F73A2260FA9}"/>
                </a:ext>
              </a:extLst>
            </p:cNvPr>
            <p:cNvSpPr txBox="1"/>
            <p:nvPr/>
          </p:nvSpPr>
          <p:spPr>
            <a:xfrm>
              <a:off x="4080896" y="807721"/>
              <a:ext cx="6472804" cy="584775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  <a:latin typeface="Montserrat" pitchFamily="2" charset="0"/>
                </a:rPr>
                <a:t>Distribution of IMDb Ratings</a:t>
              </a: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B3B991E4-6F0E-7E58-F71E-45122B69A0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67602" y="1473392"/>
              <a:ext cx="4244293" cy="3453502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7A10E50-19EC-3F09-49A6-29ADF2B61C50}"/>
                </a:ext>
              </a:extLst>
            </p:cNvPr>
            <p:cNvSpPr txBox="1"/>
            <p:nvPr/>
          </p:nvSpPr>
          <p:spPr>
            <a:xfrm>
              <a:off x="4084536" y="1473392"/>
              <a:ext cx="3383066" cy="3323987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Ratings are mostly concentrated between 6 &amp; 8</a:t>
              </a:r>
            </a:p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The distribution appears slightly left-skewed.</a:t>
              </a:r>
            </a:p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Most movies receive moderately high ratings, indicating bias towards well-rated movies.</a:t>
              </a:r>
            </a:p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Extremely low-rated movies are rare.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781751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94CC87B-2165-EE83-958E-FD9DDA5D5F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tx1">
                  <a:alpha val="20000"/>
                </a:schemeClr>
              </a:gs>
              <a:gs pos="100000">
                <a:schemeClr val="tx1">
                  <a:alpha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C584444-C5F6-9F23-9A3D-4C3EF549CD61}"/>
              </a:ext>
            </a:extLst>
          </p:cNvPr>
          <p:cNvGrpSpPr/>
          <p:nvPr/>
        </p:nvGrpSpPr>
        <p:grpSpPr>
          <a:xfrm rot="16200000">
            <a:off x="-4198620" y="-358140"/>
            <a:ext cx="7467600" cy="7467600"/>
            <a:chOff x="-4198620" y="-358140"/>
            <a:chExt cx="7467600" cy="7467600"/>
          </a:xfrm>
        </p:grpSpPr>
        <p:sp useBgFill="1">
          <p:nvSpPr>
            <p:cNvPr id="2" name="Flowchart: Summing Junction 1">
              <a:extLst>
                <a:ext uri="{FF2B5EF4-FFF2-40B4-BE49-F238E27FC236}">
                  <a16:creationId xmlns:a16="http://schemas.microsoft.com/office/drawing/2014/main" id="{1148F9FB-C97F-B63B-9523-EF248E0F01E3}"/>
                </a:ext>
              </a:extLst>
            </p:cNvPr>
            <p:cNvSpPr/>
            <p:nvPr/>
          </p:nvSpPr>
          <p:spPr>
            <a:xfrm>
              <a:off x="-4198620" y="-358140"/>
              <a:ext cx="7467600" cy="7467600"/>
            </a:xfrm>
            <a:prstGeom prst="flowChartSummingJunction">
              <a:avLst/>
            </a:prstGeom>
            <a:ln>
              <a:solidFill>
                <a:schemeClr val="bg1"/>
              </a:solidFill>
            </a:ln>
            <a:effectLst>
              <a:outerShdw blurRad="152400" dist="38100" sx="103000" sy="1030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3D766B8-AC31-2D33-0245-0282E259A1B2}"/>
                </a:ext>
              </a:extLst>
            </p:cNvPr>
            <p:cNvSpPr txBox="1"/>
            <p:nvPr/>
          </p:nvSpPr>
          <p:spPr>
            <a:xfrm rot="5400000">
              <a:off x="339088" y="3021717"/>
              <a:ext cx="352806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Impact" panose="020B0806030902050204" pitchFamily="34" charset="0"/>
                </a:rPr>
                <a:t>INTRODUCTION</a:t>
              </a:r>
              <a:endParaRPr lang="en-IN" sz="40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A8BDB67-0C24-27C2-7D82-25D119938F2B}"/>
                </a:ext>
              </a:extLst>
            </p:cNvPr>
            <p:cNvSpPr txBox="1"/>
            <p:nvPr/>
          </p:nvSpPr>
          <p:spPr>
            <a:xfrm>
              <a:off x="-2228852" y="288189"/>
              <a:ext cx="3528063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Impact" panose="020B0806030902050204" pitchFamily="34" charset="0"/>
                </a:rPr>
                <a:t>MOVIES PER YEAR</a:t>
              </a:r>
              <a:endParaRPr lang="en-IN" sz="40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977F3CC-EF80-3B14-20E3-8B401A321C72}"/>
                </a:ext>
              </a:extLst>
            </p:cNvPr>
            <p:cNvSpPr txBox="1"/>
            <p:nvPr/>
          </p:nvSpPr>
          <p:spPr>
            <a:xfrm rot="16200000">
              <a:off x="-4739642" y="2713940"/>
              <a:ext cx="3528063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Impact" panose="020B0806030902050204" pitchFamily="34" charset="0"/>
                </a:rPr>
                <a:t>VOTES DISTRIBUTION</a:t>
              </a:r>
              <a:endParaRPr lang="en-IN" sz="40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85ACFA6-F3ED-0517-58F0-BBD026B8C9CA}"/>
                </a:ext>
              </a:extLst>
            </p:cNvPr>
            <p:cNvSpPr txBox="1"/>
            <p:nvPr/>
          </p:nvSpPr>
          <p:spPr>
            <a:xfrm flipV="1">
              <a:off x="-2228852" y="5139691"/>
              <a:ext cx="3528063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Impact" panose="020B0806030902050204" pitchFamily="34" charset="0"/>
                </a:rPr>
                <a:t>RATING DISTRIBUTION</a:t>
              </a:r>
              <a:endParaRPr lang="en-IN" sz="40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endParaRPr>
            </a:p>
          </p:txBody>
        </p:sp>
      </p:grpSp>
      <p:sp useBgFill="1">
        <p:nvSpPr>
          <p:cNvPr id="12" name="Oval 11">
            <a:extLst>
              <a:ext uri="{FF2B5EF4-FFF2-40B4-BE49-F238E27FC236}">
                <a16:creationId xmlns:a16="http://schemas.microsoft.com/office/drawing/2014/main" id="{F04BE554-6C40-87F0-8D0A-392253394272}"/>
              </a:ext>
            </a:extLst>
          </p:cNvPr>
          <p:cNvSpPr/>
          <p:nvPr/>
        </p:nvSpPr>
        <p:spPr>
          <a:xfrm rot="2700000">
            <a:off x="-1866902" y="2026919"/>
            <a:ext cx="2804162" cy="2804162"/>
          </a:xfrm>
          <a:prstGeom prst="ellipse">
            <a:avLst/>
          </a:prstGeom>
          <a:ln>
            <a:solidFill>
              <a:schemeClr val="bg1"/>
            </a:solidFill>
          </a:ln>
          <a:effectLst>
            <a:outerShdw blurRad="152400" dist="38100" sx="103000" sy="103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36E2B3E-2D4A-2BB6-56A3-D3A67A3A8AE8}"/>
              </a:ext>
            </a:extLst>
          </p:cNvPr>
          <p:cNvGrpSpPr/>
          <p:nvPr/>
        </p:nvGrpSpPr>
        <p:grpSpPr>
          <a:xfrm>
            <a:off x="4080896" y="1611628"/>
            <a:ext cx="7630999" cy="4119173"/>
            <a:chOff x="4080896" y="807721"/>
            <a:chExt cx="7630999" cy="4119173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6BB72F1-26E0-65DD-8A3E-A13D04DF439E}"/>
                </a:ext>
              </a:extLst>
            </p:cNvPr>
            <p:cNvSpPr txBox="1"/>
            <p:nvPr/>
          </p:nvSpPr>
          <p:spPr>
            <a:xfrm>
              <a:off x="4080896" y="807721"/>
              <a:ext cx="6472804" cy="584775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  <a:latin typeface="Montserrat" pitchFamily="2" charset="0"/>
                </a:rPr>
                <a:t>Distribution of IMDb Ratings</a:t>
              </a:r>
            </a:p>
          </p:txBody>
        </p: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5E646AAB-2B63-15ED-8AC7-525A8F221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67602" y="1473392"/>
              <a:ext cx="4244293" cy="3453502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9F91C30-9070-0DEB-A99F-120F304C9F5F}"/>
                </a:ext>
              </a:extLst>
            </p:cNvPr>
            <p:cNvSpPr txBox="1"/>
            <p:nvPr/>
          </p:nvSpPr>
          <p:spPr>
            <a:xfrm>
              <a:off x="4084536" y="1473392"/>
              <a:ext cx="3383066" cy="3323987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Ratings are mostly concentrated between 6 &amp; 8</a:t>
              </a:r>
            </a:p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The distribution appears slightly left-skewed.</a:t>
              </a:r>
            </a:p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Most movies receive moderately high ratings, indicating bias towards well-rated movies.</a:t>
              </a:r>
            </a:p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Extremely low-rated movies are rare.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D08F1DE5-7A68-8F63-663C-6606A3FD5580}"/>
              </a:ext>
            </a:extLst>
          </p:cNvPr>
          <p:cNvSpPr txBox="1"/>
          <p:nvPr/>
        </p:nvSpPr>
        <p:spPr>
          <a:xfrm>
            <a:off x="4080896" y="-3330391"/>
            <a:ext cx="6472804" cy="3200876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Montserrat" pitchFamily="2" charset="0"/>
              </a:rPr>
              <a:t>Univariate Analysis</a:t>
            </a:r>
          </a:p>
          <a:p>
            <a:pPr algn="r"/>
            <a:endParaRPr lang="en-US" sz="3200" dirty="0">
              <a:solidFill>
                <a:schemeClr val="bg1"/>
              </a:solidFill>
              <a:latin typeface="Montserra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effectLst/>
                <a:latin typeface="Candara" panose="020E0502030303020204" pitchFamily="34" charset="0"/>
              </a:rPr>
              <a:t>Univariate analysis focuses on examining each variable independently to understand its distribution, central tendency, and variability. The objective is to: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ndara" panose="020E0502030303020204" pitchFamily="34" charset="0"/>
              </a:rPr>
              <a:t>Identify overall distribution of all key features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ndara" panose="020E0502030303020204" pitchFamily="34" charset="0"/>
              </a:rPr>
              <a:t>Detect skewness, and outliers.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ndara" panose="020E0502030303020204" pitchFamily="34" charset="0"/>
              </a:rPr>
              <a:t>Understand frequency pattern in categorical data.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858DCC2-8750-C91F-248A-46F37BB4372A}"/>
              </a:ext>
            </a:extLst>
          </p:cNvPr>
          <p:cNvGrpSpPr/>
          <p:nvPr/>
        </p:nvGrpSpPr>
        <p:grpSpPr>
          <a:xfrm>
            <a:off x="4080895" y="6981352"/>
            <a:ext cx="7585326" cy="4420545"/>
            <a:chOff x="4080896" y="1611628"/>
            <a:chExt cx="7585326" cy="4420545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446423E-6269-5F1E-8403-E5F6C3FCB653}"/>
                </a:ext>
              </a:extLst>
            </p:cNvPr>
            <p:cNvSpPr txBox="1"/>
            <p:nvPr/>
          </p:nvSpPr>
          <p:spPr>
            <a:xfrm>
              <a:off x="4080896" y="1611628"/>
              <a:ext cx="6472804" cy="584775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  <a:latin typeface="Montserrat" pitchFamily="2" charset="0"/>
                </a:rPr>
                <a:t>Distribution of Votes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FF7544D-2733-E14D-E050-42014858AD95}"/>
                </a:ext>
              </a:extLst>
            </p:cNvPr>
            <p:cNvSpPr txBox="1"/>
            <p:nvPr/>
          </p:nvSpPr>
          <p:spPr>
            <a:xfrm>
              <a:off x="4084536" y="2277299"/>
              <a:ext cx="3383066" cy="3754874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The distribution is highly right-skewed.</a:t>
              </a:r>
            </a:p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A large number of movies have low vote counts</a:t>
              </a:r>
            </a:p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A small number of movies have extremely high votes.</a:t>
              </a:r>
            </a:p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Popularity is unevenly distributed across movies.</a:t>
              </a:r>
            </a:p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Few blockbuster movies dominate in terms of audience engagement.</a:t>
              </a:r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438BA80C-961E-E0F9-18E2-03BB9CAF9A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55206" y="2277299"/>
              <a:ext cx="4211016" cy="33726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932555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94CC87B-2165-EE83-958E-FD9DDA5D5F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tx1">
                  <a:alpha val="20000"/>
                </a:schemeClr>
              </a:gs>
              <a:gs pos="100000">
                <a:schemeClr val="tx1">
                  <a:alpha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C584444-C5F6-9F23-9A3D-4C3EF549CD61}"/>
              </a:ext>
            </a:extLst>
          </p:cNvPr>
          <p:cNvGrpSpPr/>
          <p:nvPr/>
        </p:nvGrpSpPr>
        <p:grpSpPr>
          <a:xfrm rot="10800000">
            <a:off x="-4198620" y="-358140"/>
            <a:ext cx="7467600" cy="7467600"/>
            <a:chOff x="-4198620" y="-358140"/>
            <a:chExt cx="7467600" cy="7467600"/>
          </a:xfrm>
        </p:grpSpPr>
        <p:sp useBgFill="1">
          <p:nvSpPr>
            <p:cNvPr id="2" name="Flowchart: Summing Junction 1">
              <a:extLst>
                <a:ext uri="{FF2B5EF4-FFF2-40B4-BE49-F238E27FC236}">
                  <a16:creationId xmlns:a16="http://schemas.microsoft.com/office/drawing/2014/main" id="{1148F9FB-C97F-B63B-9523-EF248E0F01E3}"/>
                </a:ext>
              </a:extLst>
            </p:cNvPr>
            <p:cNvSpPr/>
            <p:nvPr/>
          </p:nvSpPr>
          <p:spPr>
            <a:xfrm>
              <a:off x="-4198620" y="-358140"/>
              <a:ext cx="7467600" cy="7467600"/>
            </a:xfrm>
            <a:prstGeom prst="flowChartSummingJunction">
              <a:avLst/>
            </a:prstGeom>
            <a:ln>
              <a:solidFill>
                <a:schemeClr val="bg1"/>
              </a:solidFill>
            </a:ln>
            <a:effectLst>
              <a:outerShdw blurRad="152400" dist="38100" sx="103000" sy="1030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3D766B8-AC31-2D33-0245-0282E259A1B2}"/>
                </a:ext>
              </a:extLst>
            </p:cNvPr>
            <p:cNvSpPr txBox="1"/>
            <p:nvPr/>
          </p:nvSpPr>
          <p:spPr>
            <a:xfrm rot="5400000">
              <a:off x="339088" y="3021717"/>
              <a:ext cx="352806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Impact" panose="020B0806030902050204" pitchFamily="34" charset="0"/>
                </a:rPr>
                <a:t>INTRODUCTION</a:t>
              </a:r>
              <a:endParaRPr lang="en-IN" sz="40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A8BDB67-0C24-27C2-7D82-25D119938F2B}"/>
                </a:ext>
              </a:extLst>
            </p:cNvPr>
            <p:cNvSpPr txBox="1"/>
            <p:nvPr/>
          </p:nvSpPr>
          <p:spPr>
            <a:xfrm>
              <a:off x="-2228852" y="288189"/>
              <a:ext cx="3528063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Impact" panose="020B0806030902050204" pitchFamily="34" charset="0"/>
                </a:rPr>
                <a:t>MOVIES PER YEAR</a:t>
              </a:r>
              <a:endParaRPr lang="en-IN" sz="40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977F3CC-EF80-3B14-20E3-8B401A321C72}"/>
                </a:ext>
              </a:extLst>
            </p:cNvPr>
            <p:cNvSpPr txBox="1"/>
            <p:nvPr/>
          </p:nvSpPr>
          <p:spPr>
            <a:xfrm rot="16200000">
              <a:off x="-4739642" y="2713940"/>
              <a:ext cx="3528063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Impact" panose="020B0806030902050204" pitchFamily="34" charset="0"/>
                </a:rPr>
                <a:t>VOTES DISTRIBUTION</a:t>
              </a:r>
              <a:endParaRPr lang="en-IN" sz="40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85ACFA6-F3ED-0517-58F0-BBD026B8C9CA}"/>
                </a:ext>
              </a:extLst>
            </p:cNvPr>
            <p:cNvSpPr txBox="1"/>
            <p:nvPr/>
          </p:nvSpPr>
          <p:spPr>
            <a:xfrm flipV="1">
              <a:off x="-2228852" y="5139691"/>
              <a:ext cx="3528063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Impact" panose="020B0806030902050204" pitchFamily="34" charset="0"/>
                </a:rPr>
                <a:t>RATING DISTRIBUTION</a:t>
              </a:r>
              <a:endParaRPr lang="en-IN" sz="40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endParaRPr>
            </a:p>
          </p:txBody>
        </p:sp>
      </p:grpSp>
      <p:sp useBgFill="1">
        <p:nvSpPr>
          <p:cNvPr id="12" name="Oval 11">
            <a:extLst>
              <a:ext uri="{FF2B5EF4-FFF2-40B4-BE49-F238E27FC236}">
                <a16:creationId xmlns:a16="http://schemas.microsoft.com/office/drawing/2014/main" id="{F04BE554-6C40-87F0-8D0A-392253394272}"/>
              </a:ext>
            </a:extLst>
          </p:cNvPr>
          <p:cNvSpPr/>
          <p:nvPr/>
        </p:nvSpPr>
        <p:spPr>
          <a:xfrm rot="5400000">
            <a:off x="-1866902" y="2026919"/>
            <a:ext cx="2804162" cy="2804162"/>
          </a:xfrm>
          <a:prstGeom prst="ellipse">
            <a:avLst/>
          </a:prstGeom>
          <a:ln>
            <a:solidFill>
              <a:schemeClr val="bg1"/>
            </a:solidFill>
          </a:ln>
          <a:effectLst>
            <a:outerShdw blurRad="152400" dist="38100" sx="103000" sy="103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1F4E878-C1D1-8806-6048-1C1EAC58F276}"/>
              </a:ext>
            </a:extLst>
          </p:cNvPr>
          <p:cNvGrpSpPr/>
          <p:nvPr/>
        </p:nvGrpSpPr>
        <p:grpSpPr>
          <a:xfrm>
            <a:off x="4080895" y="1218727"/>
            <a:ext cx="7585326" cy="4420545"/>
            <a:chOff x="4080896" y="1611628"/>
            <a:chExt cx="7585326" cy="442054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0155ECC-9442-A2A9-F452-0C88F5BAAB73}"/>
                </a:ext>
              </a:extLst>
            </p:cNvPr>
            <p:cNvSpPr txBox="1"/>
            <p:nvPr/>
          </p:nvSpPr>
          <p:spPr>
            <a:xfrm>
              <a:off x="4080896" y="1611628"/>
              <a:ext cx="6472804" cy="584775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  <a:latin typeface="Montserrat" pitchFamily="2" charset="0"/>
                </a:rPr>
                <a:t>Distribution of Votes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02CC408-2F07-65FB-C15A-25FEA0DB9F9A}"/>
                </a:ext>
              </a:extLst>
            </p:cNvPr>
            <p:cNvSpPr txBox="1"/>
            <p:nvPr/>
          </p:nvSpPr>
          <p:spPr>
            <a:xfrm>
              <a:off x="4084536" y="2277299"/>
              <a:ext cx="3383066" cy="3754874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The distribution is highly right-skewed.</a:t>
              </a:r>
            </a:p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A large number of movies have low vote counts</a:t>
              </a:r>
            </a:p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A small number of movies have extremely high votes.</a:t>
              </a:r>
            </a:p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Popularity is unevenly distributed across movies.</a:t>
              </a:r>
            </a:p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Few blockbuster movies dominate in terms of audience engagement.</a:t>
              </a: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6562C753-0FA6-79E6-FC8C-2A848A3D5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55206" y="2277299"/>
              <a:ext cx="4211016" cy="3372606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B35C01D-75C2-5DA9-E7AE-DD2A0643707D}"/>
              </a:ext>
            </a:extLst>
          </p:cNvPr>
          <p:cNvGrpSpPr/>
          <p:nvPr/>
        </p:nvGrpSpPr>
        <p:grpSpPr>
          <a:xfrm>
            <a:off x="4080896" y="-4236722"/>
            <a:ext cx="7630999" cy="4119173"/>
            <a:chOff x="4080896" y="807721"/>
            <a:chExt cx="7630999" cy="4119173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76954D0-5D50-C1B2-F198-A1BF6393C8B6}"/>
                </a:ext>
              </a:extLst>
            </p:cNvPr>
            <p:cNvSpPr txBox="1"/>
            <p:nvPr/>
          </p:nvSpPr>
          <p:spPr>
            <a:xfrm>
              <a:off x="4080896" y="807721"/>
              <a:ext cx="6472804" cy="584775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  <a:latin typeface="Montserrat" pitchFamily="2" charset="0"/>
                </a:rPr>
                <a:t>Distribution of IMDb Ratings</a:t>
              </a:r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40F7C86A-A4AB-BA30-26FF-0A5C6F4E971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67602" y="1473392"/>
              <a:ext cx="4244293" cy="3453502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C52DFCA-4425-1A64-BDFD-049BFADCADD5}"/>
                </a:ext>
              </a:extLst>
            </p:cNvPr>
            <p:cNvSpPr txBox="1"/>
            <p:nvPr/>
          </p:nvSpPr>
          <p:spPr>
            <a:xfrm>
              <a:off x="4084536" y="1473392"/>
              <a:ext cx="3383066" cy="3323987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Ratings are mostly concentrated between 6 &amp; 8</a:t>
              </a:r>
            </a:p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The distribution appears slightly left-skewed.</a:t>
              </a:r>
            </a:p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Most movies receive moderately high ratings, indicating bias towards well-rated movies.</a:t>
              </a:r>
            </a:p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Extremely low-rated movies are rare.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F8E67D8-CAEC-999A-8DAC-5B7E59F3922A}"/>
              </a:ext>
            </a:extLst>
          </p:cNvPr>
          <p:cNvGrpSpPr/>
          <p:nvPr/>
        </p:nvGrpSpPr>
        <p:grpSpPr>
          <a:xfrm>
            <a:off x="4080895" y="7022627"/>
            <a:ext cx="7778066" cy="4543656"/>
            <a:chOff x="4080895" y="1218727"/>
            <a:chExt cx="7778066" cy="4543656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3D29DBB-E51B-1014-56BE-4B5033C88EEB}"/>
                </a:ext>
              </a:extLst>
            </p:cNvPr>
            <p:cNvSpPr txBox="1"/>
            <p:nvPr/>
          </p:nvSpPr>
          <p:spPr>
            <a:xfrm>
              <a:off x="4080895" y="1218727"/>
              <a:ext cx="6472804" cy="584775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  <a:latin typeface="Montserrat" pitchFamily="2" charset="0"/>
                </a:rPr>
                <a:t>Movies Production Trend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DE3E153-184F-6BA2-870D-7164AE2CA9AA}"/>
                </a:ext>
              </a:extLst>
            </p:cNvPr>
            <p:cNvSpPr txBox="1"/>
            <p:nvPr/>
          </p:nvSpPr>
          <p:spPr>
            <a:xfrm>
              <a:off x="4084535" y="1884398"/>
              <a:ext cx="3383066" cy="3877985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A general increasing trend in the number of movies over the year.</a:t>
              </a:r>
            </a:p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Indicates that movies production has grown significantly over time.</a:t>
              </a:r>
            </a:p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Noticeable dip during the early 1990s, while significant growth after 2000s.</a:t>
              </a:r>
            </a:p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Sharp decline in the most recent years shows missing data ( less 2025-26 movies).</a:t>
              </a: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2974A37F-77E8-A66F-128B-FD63E1A5A8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88461" y="2082699"/>
              <a:ext cx="4570500" cy="2971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210615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94CC87B-2165-EE83-958E-FD9DDA5D5F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tx1">
                  <a:alpha val="20000"/>
                </a:schemeClr>
              </a:gs>
              <a:gs pos="100000">
                <a:schemeClr val="tx1">
                  <a:alpha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C584444-C5F6-9F23-9A3D-4C3EF549CD61}"/>
              </a:ext>
            </a:extLst>
          </p:cNvPr>
          <p:cNvGrpSpPr/>
          <p:nvPr/>
        </p:nvGrpSpPr>
        <p:grpSpPr>
          <a:xfrm rot="5400000">
            <a:off x="-4198620" y="-358140"/>
            <a:ext cx="7467600" cy="7467600"/>
            <a:chOff x="-4198620" y="-358140"/>
            <a:chExt cx="7467600" cy="7467600"/>
          </a:xfrm>
        </p:grpSpPr>
        <p:sp useBgFill="1">
          <p:nvSpPr>
            <p:cNvPr id="2" name="Flowchart: Summing Junction 1">
              <a:extLst>
                <a:ext uri="{FF2B5EF4-FFF2-40B4-BE49-F238E27FC236}">
                  <a16:creationId xmlns:a16="http://schemas.microsoft.com/office/drawing/2014/main" id="{1148F9FB-C97F-B63B-9523-EF248E0F01E3}"/>
                </a:ext>
              </a:extLst>
            </p:cNvPr>
            <p:cNvSpPr/>
            <p:nvPr/>
          </p:nvSpPr>
          <p:spPr>
            <a:xfrm>
              <a:off x="-4198620" y="-358140"/>
              <a:ext cx="7467600" cy="7467600"/>
            </a:xfrm>
            <a:prstGeom prst="flowChartSummingJunction">
              <a:avLst/>
            </a:prstGeom>
            <a:ln>
              <a:solidFill>
                <a:schemeClr val="bg1"/>
              </a:solidFill>
            </a:ln>
            <a:effectLst>
              <a:outerShdw blurRad="152400" dist="38100" sx="103000" sy="1030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3D766B8-AC31-2D33-0245-0282E259A1B2}"/>
                </a:ext>
              </a:extLst>
            </p:cNvPr>
            <p:cNvSpPr txBox="1"/>
            <p:nvPr/>
          </p:nvSpPr>
          <p:spPr>
            <a:xfrm rot="5400000">
              <a:off x="339088" y="3021717"/>
              <a:ext cx="352806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Impact" panose="020B0806030902050204" pitchFamily="34" charset="0"/>
                </a:rPr>
                <a:t>INTRODUCTION</a:t>
              </a:r>
              <a:endParaRPr lang="en-IN" sz="40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A8BDB67-0C24-27C2-7D82-25D119938F2B}"/>
                </a:ext>
              </a:extLst>
            </p:cNvPr>
            <p:cNvSpPr txBox="1"/>
            <p:nvPr/>
          </p:nvSpPr>
          <p:spPr>
            <a:xfrm>
              <a:off x="-2228852" y="288189"/>
              <a:ext cx="3528063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Impact" panose="020B0806030902050204" pitchFamily="34" charset="0"/>
                </a:rPr>
                <a:t>MOVIES PER YEAR</a:t>
              </a:r>
              <a:endParaRPr lang="en-IN" sz="40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977F3CC-EF80-3B14-20E3-8B401A321C72}"/>
                </a:ext>
              </a:extLst>
            </p:cNvPr>
            <p:cNvSpPr txBox="1"/>
            <p:nvPr/>
          </p:nvSpPr>
          <p:spPr>
            <a:xfrm rot="16200000">
              <a:off x="-4739642" y="2713940"/>
              <a:ext cx="3528063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Impact" panose="020B0806030902050204" pitchFamily="34" charset="0"/>
                </a:rPr>
                <a:t>VOTES DISTRIBUTION</a:t>
              </a:r>
              <a:endParaRPr lang="en-IN" sz="40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85ACFA6-F3ED-0517-58F0-BBD026B8C9CA}"/>
                </a:ext>
              </a:extLst>
            </p:cNvPr>
            <p:cNvSpPr txBox="1"/>
            <p:nvPr/>
          </p:nvSpPr>
          <p:spPr>
            <a:xfrm flipV="1">
              <a:off x="-2228852" y="5139691"/>
              <a:ext cx="3528063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Impact" panose="020B0806030902050204" pitchFamily="34" charset="0"/>
                </a:rPr>
                <a:t>RATING DISTRIBUTION</a:t>
              </a:r>
              <a:endParaRPr lang="en-IN" sz="40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endParaRPr>
            </a:p>
          </p:txBody>
        </p:sp>
      </p:grpSp>
      <p:sp useBgFill="1">
        <p:nvSpPr>
          <p:cNvPr id="12" name="Oval 11">
            <a:extLst>
              <a:ext uri="{FF2B5EF4-FFF2-40B4-BE49-F238E27FC236}">
                <a16:creationId xmlns:a16="http://schemas.microsoft.com/office/drawing/2014/main" id="{F04BE554-6C40-87F0-8D0A-392253394272}"/>
              </a:ext>
            </a:extLst>
          </p:cNvPr>
          <p:cNvSpPr/>
          <p:nvPr/>
        </p:nvSpPr>
        <p:spPr>
          <a:xfrm rot="8100000">
            <a:off x="-1866902" y="2026919"/>
            <a:ext cx="2804162" cy="2804162"/>
          </a:xfrm>
          <a:prstGeom prst="ellipse">
            <a:avLst/>
          </a:prstGeom>
          <a:ln>
            <a:solidFill>
              <a:schemeClr val="bg1"/>
            </a:solidFill>
          </a:ln>
          <a:effectLst>
            <a:outerShdw blurRad="152400" dist="38100" sx="103000" sy="103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E84DA5C-42D9-1043-7C39-16F44FB6E702}"/>
              </a:ext>
            </a:extLst>
          </p:cNvPr>
          <p:cNvGrpSpPr/>
          <p:nvPr/>
        </p:nvGrpSpPr>
        <p:grpSpPr>
          <a:xfrm>
            <a:off x="4080895" y="1218727"/>
            <a:ext cx="7778066" cy="4543656"/>
            <a:chOff x="4080895" y="1218727"/>
            <a:chExt cx="7778066" cy="4543656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9657E5-9B3F-4D72-C044-A76739730298}"/>
                </a:ext>
              </a:extLst>
            </p:cNvPr>
            <p:cNvSpPr txBox="1"/>
            <p:nvPr/>
          </p:nvSpPr>
          <p:spPr>
            <a:xfrm>
              <a:off x="4080895" y="1218727"/>
              <a:ext cx="6472804" cy="584775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  <a:latin typeface="Montserrat" pitchFamily="2" charset="0"/>
                </a:rPr>
                <a:t>Movies Production Trend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50D1808-8CDE-C460-6F44-FB85324AD694}"/>
                </a:ext>
              </a:extLst>
            </p:cNvPr>
            <p:cNvSpPr txBox="1"/>
            <p:nvPr/>
          </p:nvSpPr>
          <p:spPr>
            <a:xfrm>
              <a:off x="4084535" y="1884398"/>
              <a:ext cx="3383066" cy="3877985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A general increasing trend in the number of movies over the year.</a:t>
              </a:r>
            </a:p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Indicates that movies production has grown significantly over time.</a:t>
              </a:r>
            </a:p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Noticeable dip during the early 1990s, while significant growth after 2000s.</a:t>
              </a:r>
            </a:p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Sharp decline in the most recent years shows missing data ( less 2025-26 movies).</a:t>
              </a: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A3A7AB5C-4E4A-5EC8-5A19-58C162DA75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88461" y="2082699"/>
              <a:ext cx="4570500" cy="2971800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7D421BB-1B42-4BD3-C4FC-5104CBCB5989}"/>
              </a:ext>
            </a:extLst>
          </p:cNvPr>
          <p:cNvGrpSpPr/>
          <p:nvPr/>
        </p:nvGrpSpPr>
        <p:grpSpPr>
          <a:xfrm>
            <a:off x="4080895" y="-4572473"/>
            <a:ext cx="7585326" cy="4420545"/>
            <a:chOff x="4080896" y="1611628"/>
            <a:chExt cx="7585326" cy="442054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EB7B3FE-BE1B-89A0-4C8C-A3634C06D00A}"/>
                </a:ext>
              </a:extLst>
            </p:cNvPr>
            <p:cNvSpPr txBox="1"/>
            <p:nvPr/>
          </p:nvSpPr>
          <p:spPr>
            <a:xfrm>
              <a:off x="4080896" y="1611628"/>
              <a:ext cx="6472804" cy="584775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  <a:latin typeface="Montserrat" pitchFamily="2" charset="0"/>
                </a:rPr>
                <a:t>Distribution of Votes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E333F5B-A20B-B396-2499-82EE43F033A3}"/>
                </a:ext>
              </a:extLst>
            </p:cNvPr>
            <p:cNvSpPr txBox="1"/>
            <p:nvPr/>
          </p:nvSpPr>
          <p:spPr>
            <a:xfrm>
              <a:off x="4084536" y="2277299"/>
              <a:ext cx="3383066" cy="3754874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The distribution is highly right-skewed.</a:t>
              </a:r>
            </a:p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A large number of movies have low vote counts</a:t>
              </a:r>
            </a:p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A small number of movies have extremely high votes.</a:t>
              </a:r>
            </a:p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Popularity is unevenly distributed across movies.</a:t>
              </a:r>
            </a:p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Few blockbuster movies dominate in terms of audience engagement.</a:t>
              </a: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1F4BAB04-F555-FDDB-08C2-6D7DED4BE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55206" y="2277299"/>
              <a:ext cx="4211016" cy="33726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474987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94CC87B-2165-EE83-958E-FD9DDA5D5F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tx1">
                  <a:alpha val="20000"/>
                </a:schemeClr>
              </a:gs>
              <a:gs pos="100000">
                <a:schemeClr val="tx1">
                  <a:alpha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C584444-C5F6-9F23-9A3D-4C3EF549CD61}"/>
              </a:ext>
            </a:extLst>
          </p:cNvPr>
          <p:cNvGrpSpPr/>
          <p:nvPr/>
        </p:nvGrpSpPr>
        <p:grpSpPr>
          <a:xfrm>
            <a:off x="-4198620" y="-358140"/>
            <a:ext cx="7467600" cy="7467600"/>
            <a:chOff x="-4198620" y="-358140"/>
            <a:chExt cx="7467600" cy="7467600"/>
          </a:xfrm>
        </p:grpSpPr>
        <p:sp useBgFill="1">
          <p:nvSpPr>
            <p:cNvPr id="2" name="Flowchart: Summing Junction 1">
              <a:extLst>
                <a:ext uri="{FF2B5EF4-FFF2-40B4-BE49-F238E27FC236}">
                  <a16:creationId xmlns:a16="http://schemas.microsoft.com/office/drawing/2014/main" id="{1148F9FB-C97F-B63B-9523-EF248E0F01E3}"/>
                </a:ext>
              </a:extLst>
            </p:cNvPr>
            <p:cNvSpPr/>
            <p:nvPr/>
          </p:nvSpPr>
          <p:spPr>
            <a:xfrm>
              <a:off x="-4198620" y="-358140"/>
              <a:ext cx="7467600" cy="7467600"/>
            </a:xfrm>
            <a:prstGeom prst="flowChartSummingJunction">
              <a:avLst/>
            </a:prstGeom>
            <a:ln>
              <a:solidFill>
                <a:schemeClr val="bg1"/>
              </a:solidFill>
            </a:ln>
            <a:effectLst>
              <a:outerShdw blurRad="152400" dist="38100" sx="103000" sy="1030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3D766B8-AC31-2D33-0245-0282E259A1B2}"/>
                </a:ext>
              </a:extLst>
            </p:cNvPr>
            <p:cNvSpPr txBox="1"/>
            <p:nvPr/>
          </p:nvSpPr>
          <p:spPr>
            <a:xfrm rot="5400000">
              <a:off x="281936" y="2713940"/>
              <a:ext cx="3528063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Impact" panose="020B0806030902050204" pitchFamily="34" charset="0"/>
                </a:rPr>
                <a:t>BIVARIATE ANALYSIS</a:t>
              </a:r>
              <a:endParaRPr lang="en-IN" sz="40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A8BDB67-0C24-27C2-7D82-25D119938F2B}"/>
                </a:ext>
              </a:extLst>
            </p:cNvPr>
            <p:cNvSpPr txBox="1"/>
            <p:nvPr/>
          </p:nvSpPr>
          <p:spPr>
            <a:xfrm>
              <a:off x="-2228852" y="288189"/>
              <a:ext cx="3528063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Impact" panose="020B0806030902050204" pitchFamily="34" charset="0"/>
                </a:rPr>
                <a:t>CORRELATION HEATMAP</a:t>
              </a:r>
              <a:endParaRPr lang="en-IN" sz="40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977F3CC-EF80-3B14-20E3-8B401A321C72}"/>
                </a:ext>
              </a:extLst>
            </p:cNvPr>
            <p:cNvSpPr txBox="1"/>
            <p:nvPr/>
          </p:nvSpPr>
          <p:spPr>
            <a:xfrm rot="16200000">
              <a:off x="-4739642" y="2713940"/>
              <a:ext cx="3528063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Impact" panose="020B0806030902050204" pitchFamily="34" charset="0"/>
                </a:rPr>
                <a:t>BUDGET VS GROSS</a:t>
              </a:r>
              <a:endParaRPr lang="en-IN" sz="40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85ACFA6-F3ED-0517-58F0-BBD026B8C9CA}"/>
                </a:ext>
              </a:extLst>
            </p:cNvPr>
            <p:cNvSpPr txBox="1"/>
            <p:nvPr/>
          </p:nvSpPr>
          <p:spPr>
            <a:xfrm flipV="1">
              <a:off x="-2228852" y="5139691"/>
              <a:ext cx="3528063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Impact" panose="020B0806030902050204" pitchFamily="34" charset="0"/>
                </a:rPr>
                <a:t>RATING VS VOTES</a:t>
              </a:r>
              <a:endParaRPr lang="en-IN" sz="40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E0207C9E-45CC-FD68-E226-004118F1B8F5}"/>
              </a:ext>
            </a:extLst>
          </p:cNvPr>
          <p:cNvSpPr txBox="1"/>
          <p:nvPr/>
        </p:nvSpPr>
        <p:spPr>
          <a:xfrm>
            <a:off x="4080896" y="1611627"/>
            <a:ext cx="6472804" cy="3200876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Montserrat" pitchFamily="2" charset="0"/>
              </a:rPr>
              <a:t>Bivariate Analysis</a:t>
            </a:r>
          </a:p>
          <a:p>
            <a:pPr algn="r"/>
            <a:endParaRPr lang="en-US" sz="3200" dirty="0">
              <a:solidFill>
                <a:schemeClr val="bg1"/>
              </a:solidFill>
              <a:latin typeface="Montserra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effectLst/>
                <a:latin typeface="Candara" panose="020E0502030303020204" pitchFamily="34" charset="0"/>
              </a:rPr>
              <a:t>Bivariate analysis examines the relationship between two variables to identify patterns, correlations, and dependencies. The objective is to: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ndara" panose="020E0502030303020204" pitchFamily="34" charset="0"/>
              </a:rPr>
              <a:t>Understand how one variable influence another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ndara" panose="020E0502030303020204" pitchFamily="34" charset="0"/>
              </a:rPr>
              <a:t>Detect positive, negative or no correlation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ndara" panose="020E0502030303020204" pitchFamily="34" charset="0"/>
              </a:rPr>
              <a:t>Support feature selection for model building.</a:t>
            </a:r>
          </a:p>
        </p:txBody>
      </p:sp>
      <p:sp useBgFill="1">
        <p:nvSpPr>
          <p:cNvPr id="13" name="Oval 12">
            <a:extLst>
              <a:ext uri="{FF2B5EF4-FFF2-40B4-BE49-F238E27FC236}">
                <a16:creationId xmlns:a16="http://schemas.microsoft.com/office/drawing/2014/main" id="{D638473D-E80C-5224-B825-8A7DCE134692}"/>
              </a:ext>
            </a:extLst>
          </p:cNvPr>
          <p:cNvSpPr/>
          <p:nvPr/>
        </p:nvSpPr>
        <p:spPr>
          <a:xfrm>
            <a:off x="-1866902" y="2026919"/>
            <a:ext cx="2804162" cy="2804162"/>
          </a:xfrm>
          <a:prstGeom prst="ellipse">
            <a:avLst/>
          </a:prstGeom>
          <a:ln>
            <a:solidFill>
              <a:schemeClr val="bg1"/>
            </a:solidFill>
          </a:ln>
          <a:effectLst>
            <a:outerShdw blurRad="152400" dist="38100" sx="103000" sy="103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3DE86FB-4B1D-7C03-293B-3BF57BE5271E}"/>
              </a:ext>
            </a:extLst>
          </p:cNvPr>
          <p:cNvGrpSpPr/>
          <p:nvPr/>
        </p:nvGrpSpPr>
        <p:grpSpPr>
          <a:xfrm>
            <a:off x="4080896" y="6997348"/>
            <a:ext cx="7332270" cy="5398204"/>
            <a:chOff x="4080896" y="475302"/>
            <a:chExt cx="7332270" cy="5398204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87BCAF0-7B99-86BD-D997-3D43314FE168}"/>
                </a:ext>
              </a:extLst>
            </p:cNvPr>
            <p:cNvSpPr txBox="1"/>
            <p:nvPr/>
          </p:nvSpPr>
          <p:spPr>
            <a:xfrm>
              <a:off x="4231200" y="475302"/>
              <a:ext cx="6472804" cy="584775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  <a:latin typeface="Montserrat" pitchFamily="2" charset="0"/>
                </a:rPr>
                <a:t>Ratings vs Votes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1AE441F-9A7E-CE83-345D-1E5B81147ED7}"/>
                </a:ext>
              </a:extLst>
            </p:cNvPr>
            <p:cNvSpPr txBox="1"/>
            <p:nvPr/>
          </p:nvSpPr>
          <p:spPr>
            <a:xfrm>
              <a:off x="4080896" y="1261850"/>
              <a:ext cx="2740376" cy="3016210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Slight upward trend between votes and ratings, which tells there is a weak positive correlation between ratings and votes.</a:t>
              </a:r>
            </a:p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Most movies are clustered in the lower vote range.</a:t>
              </a:r>
            </a:p>
          </p:txBody>
        </p: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88E232CA-D390-D8FD-0A83-031EAA8017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21272" y="1261850"/>
              <a:ext cx="4591894" cy="3055666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F909B31-D8C6-C3CA-9F2B-86068186859C}"/>
                </a:ext>
              </a:extLst>
            </p:cNvPr>
            <p:cNvSpPr txBox="1"/>
            <p:nvPr/>
          </p:nvSpPr>
          <p:spPr>
            <a:xfrm>
              <a:off x="4080896" y="4519289"/>
              <a:ext cx="7181965" cy="1354217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Popular movies tend to have better ratings, as high-vote movies generally have ratings above 7.</a:t>
              </a:r>
            </a:p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However, high ratings also present in low-votes movies, indicating less popular movies can also have high ratings.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17528443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94CC87B-2165-EE83-958E-FD9DDA5D5F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tx1">
                  <a:alpha val="20000"/>
                </a:schemeClr>
              </a:gs>
              <a:gs pos="100000">
                <a:schemeClr val="tx1">
                  <a:alpha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C584444-C5F6-9F23-9A3D-4C3EF549CD61}"/>
              </a:ext>
            </a:extLst>
          </p:cNvPr>
          <p:cNvGrpSpPr/>
          <p:nvPr/>
        </p:nvGrpSpPr>
        <p:grpSpPr>
          <a:xfrm rot="16200000">
            <a:off x="-4198620" y="-358140"/>
            <a:ext cx="7467600" cy="7467600"/>
            <a:chOff x="-4198620" y="-358140"/>
            <a:chExt cx="7467600" cy="7467600"/>
          </a:xfrm>
        </p:grpSpPr>
        <p:sp useBgFill="1">
          <p:nvSpPr>
            <p:cNvPr id="2" name="Flowchart: Summing Junction 1">
              <a:extLst>
                <a:ext uri="{FF2B5EF4-FFF2-40B4-BE49-F238E27FC236}">
                  <a16:creationId xmlns:a16="http://schemas.microsoft.com/office/drawing/2014/main" id="{1148F9FB-C97F-B63B-9523-EF248E0F01E3}"/>
                </a:ext>
              </a:extLst>
            </p:cNvPr>
            <p:cNvSpPr/>
            <p:nvPr/>
          </p:nvSpPr>
          <p:spPr>
            <a:xfrm>
              <a:off x="-4198620" y="-358140"/>
              <a:ext cx="7467600" cy="7467600"/>
            </a:xfrm>
            <a:prstGeom prst="flowChartSummingJunction">
              <a:avLst/>
            </a:prstGeom>
            <a:ln>
              <a:solidFill>
                <a:schemeClr val="bg1"/>
              </a:solidFill>
            </a:ln>
            <a:effectLst>
              <a:outerShdw blurRad="152400" dist="38100" sx="103000" sy="1030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3D766B8-AC31-2D33-0245-0282E259A1B2}"/>
                </a:ext>
              </a:extLst>
            </p:cNvPr>
            <p:cNvSpPr txBox="1"/>
            <p:nvPr/>
          </p:nvSpPr>
          <p:spPr>
            <a:xfrm rot="5400000">
              <a:off x="281936" y="2713940"/>
              <a:ext cx="3528063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Impact" panose="020B0806030902050204" pitchFamily="34" charset="0"/>
                </a:rPr>
                <a:t>BIVARIATE ANALYSIS</a:t>
              </a:r>
              <a:endParaRPr lang="en-IN" sz="40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A8BDB67-0C24-27C2-7D82-25D119938F2B}"/>
                </a:ext>
              </a:extLst>
            </p:cNvPr>
            <p:cNvSpPr txBox="1"/>
            <p:nvPr/>
          </p:nvSpPr>
          <p:spPr>
            <a:xfrm>
              <a:off x="-2228852" y="288189"/>
              <a:ext cx="3528063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Impact" panose="020B0806030902050204" pitchFamily="34" charset="0"/>
                </a:rPr>
                <a:t>CORRELATION HEATMAP</a:t>
              </a:r>
              <a:endParaRPr lang="en-IN" sz="40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977F3CC-EF80-3B14-20E3-8B401A321C72}"/>
                </a:ext>
              </a:extLst>
            </p:cNvPr>
            <p:cNvSpPr txBox="1"/>
            <p:nvPr/>
          </p:nvSpPr>
          <p:spPr>
            <a:xfrm rot="16200000">
              <a:off x="-4739642" y="2713940"/>
              <a:ext cx="3528063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Impact" panose="020B0806030902050204" pitchFamily="34" charset="0"/>
                </a:rPr>
                <a:t>BUDGET VS GROSS</a:t>
              </a:r>
              <a:endParaRPr lang="en-IN" sz="40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85ACFA6-F3ED-0517-58F0-BBD026B8C9CA}"/>
                </a:ext>
              </a:extLst>
            </p:cNvPr>
            <p:cNvSpPr txBox="1"/>
            <p:nvPr/>
          </p:nvSpPr>
          <p:spPr>
            <a:xfrm flipV="1">
              <a:off x="-2228852" y="5139691"/>
              <a:ext cx="3528063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Impact" panose="020B0806030902050204" pitchFamily="34" charset="0"/>
                </a:rPr>
                <a:t>RATING VS VOTES</a:t>
              </a:r>
              <a:endParaRPr lang="en-IN" sz="40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E0207C9E-45CC-FD68-E226-004118F1B8F5}"/>
              </a:ext>
            </a:extLst>
          </p:cNvPr>
          <p:cNvSpPr txBox="1"/>
          <p:nvPr/>
        </p:nvSpPr>
        <p:spPr>
          <a:xfrm>
            <a:off x="4080896" y="-3246123"/>
            <a:ext cx="6472804" cy="3200876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Montserrat" pitchFamily="2" charset="0"/>
              </a:rPr>
              <a:t>Bivariate Analysis</a:t>
            </a:r>
          </a:p>
          <a:p>
            <a:pPr algn="r"/>
            <a:endParaRPr lang="en-US" sz="3200" dirty="0">
              <a:solidFill>
                <a:schemeClr val="bg1"/>
              </a:solidFill>
              <a:latin typeface="Montserra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effectLst/>
                <a:latin typeface="Candara" panose="020E0502030303020204" pitchFamily="34" charset="0"/>
              </a:rPr>
              <a:t>Bivariate analysis examines the relationship between two variables to identify patterns, correlations, and dependencies. The objective is to: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ndara" panose="020E0502030303020204" pitchFamily="34" charset="0"/>
              </a:rPr>
              <a:t>Understand how one variable influence another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ndara" panose="020E0502030303020204" pitchFamily="34" charset="0"/>
              </a:rPr>
              <a:t>Detect positive, negative or no correlation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ndara" panose="020E0502030303020204" pitchFamily="34" charset="0"/>
              </a:rPr>
              <a:t>Support feature selection for model building.</a:t>
            </a:r>
          </a:p>
        </p:txBody>
      </p:sp>
      <p:sp useBgFill="1">
        <p:nvSpPr>
          <p:cNvPr id="13" name="Oval 12">
            <a:extLst>
              <a:ext uri="{FF2B5EF4-FFF2-40B4-BE49-F238E27FC236}">
                <a16:creationId xmlns:a16="http://schemas.microsoft.com/office/drawing/2014/main" id="{D638473D-E80C-5224-B825-8A7DCE134692}"/>
              </a:ext>
            </a:extLst>
          </p:cNvPr>
          <p:cNvSpPr/>
          <p:nvPr/>
        </p:nvSpPr>
        <p:spPr>
          <a:xfrm rot="2700000">
            <a:off x="-1866902" y="2026919"/>
            <a:ext cx="2804162" cy="2804162"/>
          </a:xfrm>
          <a:prstGeom prst="ellipse">
            <a:avLst/>
          </a:prstGeom>
          <a:ln>
            <a:solidFill>
              <a:schemeClr val="bg1"/>
            </a:solidFill>
          </a:ln>
          <a:effectLst>
            <a:outerShdw blurRad="152400" dist="38100" sx="103000" sy="103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4A30822-4CA5-3FEB-2CA0-AF569B0DF052}"/>
              </a:ext>
            </a:extLst>
          </p:cNvPr>
          <p:cNvGrpSpPr/>
          <p:nvPr/>
        </p:nvGrpSpPr>
        <p:grpSpPr>
          <a:xfrm>
            <a:off x="4080896" y="729898"/>
            <a:ext cx="7332270" cy="5398204"/>
            <a:chOff x="4080896" y="475302"/>
            <a:chExt cx="7332270" cy="539820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E2626C4-1349-39FB-04B1-5F73A2260FA9}"/>
                </a:ext>
              </a:extLst>
            </p:cNvPr>
            <p:cNvSpPr txBox="1"/>
            <p:nvPr/>
          </p:nvSpPr>
          <p:spPr>
            <a:xfrm>
              <a:off x="4231200" y="475302"/>
              <a:ext cx="6472804" cy="584775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  <a:latin typeface="Montserrat" pitchFamily="2" charset="0"/>
                </a:rPr>
                <a:t>Ratings vs Votes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7A10E50-19EC-3F09-49A6-29ADF2B61C50}"/>
                </a:ext>
              </a:extLst>
            </p:cNvPr>
            <p:cNvSpPr txBox="1"/>
            <p:nvPr/>
          </p:nvSpPr>
          <p:spPr>
            <a:xfrm>
              <a:off x="4080896" y="1261850"/>
              <a:ext cx="2740376" cy="3016210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Slight upward trend between votes and ratings, which tells there is a weak positive correlation between ratings and votes.</a:t>
              </a:r>
            </a:p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Most movies are clustered in the lower vote range.</a:t>
              </a: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6385A4AC-9C3F-8951-4226-038AC04487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21272" y="1261850"/>
              <a:ext cx="4591894" cy="3055666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15D66EC-4067-D4D7-4745-8780B4908B88}"/>
                </a:ext>
              </a:extLst>
            </p:cNvPr>
            <p:cNvSpPr txBox="1"/>
            <p:nvPr/>
          </p:nvSpPr>
          <p:spPr>
            <a:xfrm>
              <a:off x="4080896" y="4519289"/>
              <a:ext cx="7181965" cy="1354217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Popular movies tend to have better ratings, as high-vote movies generally have ratings above 7.</a:t>
              </a:r>
            </a:p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However, high ratings also present in low-votes movies, indicating less popular movies can also have high ratings.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F78A98E-4E47-2A22-BD6E-0F5471BEDEE0}"/>
              </a:ext>
            </a:extLst>
          </p:cNvPr>
          <p:cNvGrpSpPr/>
          <p:nvPr/>
        </p:nvGrpSpPr>
        <p:grpSpPr>
          <a:xfrm>
            <a:off x="4080896" y="7012200"/>
            <a:ext cx="7441646" cy="4690318"/>
            <a:chOff x="4080896" y="729898"/>
            <a:chExt cx="7441646" cy="4690318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6293CECA-1E8E-9724-639B-B607BABFE3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648" y="1524840"/>
              <a:ext cx="4591894" cy="3038877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E65FA1C-CAD4-46E9-87B5-34ECA4F88250}"/>
                </a:ext>
              </a:extLst>
            </p:cNvPr>
            <p:cNvSpPr txBox="1"/>
            <p:nvPr/>
          </p:nvSpPr>
          <p:spPr>
            <a:xfrm>
              <a:off x="4231200" y="729898"/>
              <a:ext cx="6472804" cy="584775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  <a:latin typeface="Montserrat" pitchFamily="2" charset="0"/>
                </a:rPr>
                <a:t>Budget vs Gross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8B4EAC5-BF77-BC64-D9BD-D6906D0303DA}"/>
                </a:ext>
              </a:extLst>
            </p:cNvPr>
            <p:cNvSpPr txBox="1"/>
            <p:nvPr/>
          </p:nvSpPr>
          <p:spPr>
            <a:xfrm>
              <a:off x="4080896" y="1516446"/>
              <a:ext cx="2740376" cy="3170099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There is a positive relation between budget and gross.</a:t>
              </a:r>
            </a:p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Higher budget movies tends to generate higher revenue.</a:t>
              </a:r>
            </a:p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Significant spread indicates high budget does not always guarantee success.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B9BAB4F-4167-890C-9EC4-C8E7E92A92D4}"/>
                </a:ext>
              </a:extLst>
            </p:cNvPr>
            <p:cNvSpPr txBox="1"/>
            <p:nvPr/>
          </p:nvSpPr>
          <p:spPr>
            <a:xfrm>
              <a:off x="4080896" y="4773885"/>
              <a:ext cx="7181965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Presence of outliers indicates there are some blockbuster or underperforming movies with very high budget.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650509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94CC87B-2165-EE83-958E-FD9DDA5D5F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tx1">
                  <a:alpha val="20000"/>
                </a:schemeClr>
              </a:gs>
              <a:gs pos="100000">
                <a:schemeClr val="tx1">
                  <a:alpha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C584444-C5F6-9F23-9A3D-4C3EF549CD61}"/>
              </a:ext>
            </a:extLst>
          </p:cNvPr>
          <p:cNvGrpSpPr/>
          <p:nvPr/>
        </p:nvGrpSpPr>
        <p:grpSpPr>
          <a:xfrm rot="10800000">
            <a:off x="-4198620" y="-358140"/>
            <a:ext cx="7467600" cy="7467600"/>
            <a:chOff x="-4198620" y="-358140"/>
            <a:chExt cx="7467600" cy="7467600"/>
          </a:xfrm>
        </p:grpSpPr>
        <p:sp useBgFill="1">
          <p:nvSpPr>
            <p:cNvPr id="2" name="Flowchart: Summing Junction 1">
              <a:extLst>
                <a:ext uri="{FF2B5EF4-FFF2-40B4-BE49-F238E27FC236}">
                  <a16:creationId xmlns:a16="http://schemas.microsoft.com/office/drawing/2014/main" id="{1148F9FB-C97F-B63B-9523-EF248E0F01E3}"/>
                </a:ext>
              </a:extLst>
            </p:cNvPr>
            <p:cNvSpPr/>
            <p:nvPr/>
          </p:nvSpPr>
          <p:spPr>
            <a:xfrm>
              <a:off x="-4198620" y="-358140"/>
              <a:ext cx="7467600" cy="7467600"/>
            </a:xfrm>
            <a:prstGeom prst="flowChartSummingJunction">
              <a:avLst/>
            </a:prstGeom>
            <a:ln>
              <a:solidFill>
                <a:schemeClr val="bg1"/>
              </a:solidFill>
            </a:ln>
            <a:effectLst>
              <a:outerShdw blurRad="152400" dist="38100" sx="103000" sy="1030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3D766B8-AC31-2D33-0245-0282E259A1B2}"/>
                </a:ext>
              </a:extLst>
            </p:cNvPr>
            <p:cNvSpPr txBox="1"/>
            <p:nvPr/>
          </p:nvSpPr>
          <p:spPr>
            <a:xfrm rot="5400000">
              <a:off x="281936" y="2713940"/>
              <a:ext cx="3528063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Impact" panose="020B0806030902050204" pitchFamily="34" charset="0"/>
                </a:rPr>
                <a:t>BIVARIATE ANALYSIS</a:t>
              </a:r>
              <a:endParaRPr lang="en-IN" sz="40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A8BDB67-0C24-27C2-7D82-25D119938F2B}"/>
                </a:ext>
              </a:extLst>
            </p:cNvPr>
            <p:cNvSpPr txBox="1"/>
            <p:nvPr/>
          </p:nvSpPr>
          <p:spPr>
            <a:xfrm>
              <a:off x="-2228852" y="288189"/>
              <a:ext cx="3528063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Impact" panose="020B0806030902050204" pitchFamily="34" charset="0"/>
                </a:rPr>
                <a:t>CORRELATION HEATMAP</a:t>
              </a:r>
              <a:endParaRPr lang="en-IN" sz="40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977F3CC-EF80-3B14-20E3-8B401A321C72}"/>
                </a:ext>
              </a:extLst>
            </p:cNvPr>
            <p:cNvSpPr txBox="1"/>
            <p:nvPr/>
          </p:nvSpPr>
          <p:spPr>
            <a:xfrm rot="16200000">
              <a:off x="-4739642" y="2713940"/>
              <a:ext cx="3528063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Impact" panose="020B0806030902050204" pitchFamily="34" charset="0"/>
                </a:rPr>
                <a:t>BUDGET VS GROSS</a:t>
              </a:r>
              <a:endParaRPr lang="en-IN" sz="40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85ACFA6-F3ED-0517-58F0-BBD026B8C9CA}"/>
                </a:ext>
              </a:extLst>
            </p:cNvPr>
            <p:cNvSpPr txBox="1"/>
            <p:nvPr/>
          </p:nvSpPr>
          <p:spPr>
            <a:xfrm flipV="1">
              <a:off x="-2228852" y="5139691"/>
              <a:ext cx="3528063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Impact" panose="020B0806030902050204" pitchFamily="34" charset="0"/>
                </a:rPr>
                <a:t>RATING VS VOTES</a:t>
              </a:r>
              <a:endParaRPr lang="en-IN" sz="40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endParaRPr>
            </a:p>
          </p:txBody>
        </p:sp>
      </p:grpSp>
      <p:sp useBgFill="1">
        <p:nvSpPr>
          <p:cNvPr id="13" name="Oval 12">
            <a:extLst>
              <a:ext uri="{FF2B5EF4-FFF2-40B4-BE49-F238E27FC236}">
                <a16:creationId xmlns:a16="http://schemas.microsoft.com/office/drawing/2014/main" id="{D638473D-E80C-5224-B825-8A7DCE134692}"/>
              </a:ext>
            </a:extLst>
          </p:cNvPr>
          <p:cNvSpPr/>
          <p:nvPr/>
        </p:nvSpPr>
        <p:spPr>
          <a:xfrm rot="5400000">
            <a:off x="-1866902" y="2026919"/>
            <a:ext cx="2804162" cy="2804162"/>
          </a:xfrm>
          <a:prstGeom prst="ellipse">
            <a:avLst/>
          </a:prstGeom>
          <a:ln>
            <a:solidFill>
              <a:schemeClr val="bg1"/>
            </a:solidFill>
          </a:ln>
          <a:effectLst>
            <a:outerShdw blurRad="152400" dist="38100" sx="103000" sy="103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E347515-6641-E9D6-BC03-DCDCD85D6EA3}"/>
              </a:ext>
            </a:extLst>
          </p:cNvPr>
          <p:cNvGrpSpPr/>
          <p:nvPr/>
        </p:nvGrpSpPr>
        <p:grpSpPr>
          <a:xfrm>
            <a:off x="4080896" y="1030500"/>
            <a:ext cx="7441646" cy="4690318"/>
            <a:chOff x="4080896" y="729898"/>
            <a:chExt cx="7441646" cy="4690318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E2190ED-F4D1-1E58-B08B-8A09BAEDF1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648" y="1524840"/>
              <a:ext cx="4591894" cy="3038877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EAC50F4-DB35-419C-30BB-AF63515C4FCE}"/>
                </a:ext>
              </a:extLst>
            </p:cNvPr>
            <p:cNvSpPr txBox="1"/>
            <p:nvPr/>
          </p:nvSpPr>
          <p:spPr>
            <a:xfrm>
              <a:off x="4231200" y="729898"/>
              <a:ext cx="6472804" cy="584775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  <a:latin typeface="Montserrat" pitchFamily="2" charset="0"/>
                </a:rPr>
                <a:t>Budget vs Gross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0859B84-ECE3-89D5-9F9C-397D97DB64F2}"/>
                </a:ext>
              </a:extLst>
            </p:cNvPr>
            <p:cNvSpPr txBox="1"/>
            <p:nvPr/>
          </p:nvSpPr>
          <p:spPr>
            <a:xfrm>
              <a:off x="4080896" y="1516446"/>
              <a:ext cx="2740376" cy="3170099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There is a positive relation between budget and gross.</a:t>
              </a:r>
            </a:p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Higher budget movies tends to generate higher revenue.</a:t>
              </a:r>
            </a:p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Significant spread indicates high budget does not always guarantee success.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9E430E1-0914-00FD-3FFA-F16A5240BA4B}"/>
                </a:ext>
              </a:extLst>
            </p:cNvPr>
            <p:cNvSpPr txBox="1"/>
            <p:nvPr/>
          </p:nvSpPr>
          <p:spPr>
            <a:xfrm>
              <a:off x="4080896" y="4773885"/>
              <a:ext cx="7181965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Presence of outliers indicates there are some blockbuster or underperforming movies with very high budget.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4A75459-9F5C-4E09-8761-212409865472}"/>
              </a:ext>
            </a:extLst>
          </p:cNvPr>
          <p:cNvGrpSpPr/>
          <p:nvPr/>
        </p:nvGrpSpPr>
        <p:grpSpPr>
          <a:xfrm>
            <a:off x="4080896" y="-5547077"/>
            <a:ext cx="7332270" cy="5398204"/>
            <a:chOff x="4080896" y="475302"/>
            <a:chExt cx="7332270" cy="5398204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90F2224-96F5-DAEB-CB28-48C19178BAFA}"/>
                </a:ext>
              </a:extLst>
            </p:cNvPr>
            <p:cNvSpPr txBox="1"/>
            <p:nvPr/>
          </p:nvSpPr>
          <p:spPr>
            <a:xfrm>
              <a:off x="4231200" y="475302"/>
              <a:ext cx="6472804" cy="584775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  <a:latin typeface="Montserrat" pitchFamily="2" charset="0"/>
                </a:rPr>
                <a:t>Ratings vs Votes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53AAF51-CBE3-875E-EBAC-70190E7BD1AE}"/>
                </a:ext>
              </a:extLst>
            </p:cNvPr>
            <p:cNvSpPr txBox="1"/>
            <p:nvPr/>
          </p:nvSpPr>
          <p:spPr>
            <a:xfrm>
              <a:off x="4080896" y="1261850"/>
              <a:ext cx="2740376" cy="3016210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Slight upward trend between votes and ratings, which tells there is a weak positive correlation between ratings and votes.</a:t>
              </a:r>
            </a:p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Most movies are clustered in the lower vote range.</a:t>
              </a:r>
            </a:p>
          </p:txBody>
        </p: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A30BBCC1-E206-CC09-494B-921CC5213B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21272" y="1261850"/>
              <a:ext cx="4591894" cy="3055666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1E9C358-57AA-263E-0FFA-6A91161FB67C}"/>
                </a:ext>
              </a:extLst>
            </p:cNvPr>
            <p:cNvSpPr txBox="1"/>
            <p:nvPr/>
          </p:nvSpPr>
          <p:spPr>
            <a:xfrm>
              <a:off x="4080896" y="4519289"/>
              <a:ext cx="7181965" cy="1354217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Popular movies tend to have better ratings, as high-vote movies generally have ratings above 7.</a:t>
              </a:r>
            </a:p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However, high ratings also present in low-votes movies, indicating less popular movies can also have high ratings.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3758FCD-2C5C-3C12-91F4-67C0DA258C6D}"/>
              </a:ext>
            </a:extLst>
          </p:cNvPr>
          <p:cNvGrpSpPr/>
          <p:nvPr/>
        </p:nvGrpSpPr>
        <p:grpSpPr>
          <a:xfrm>
            <a:off x="4080896" y="7044192"/>
            <a:ext cx="7622997" cy="5266416"/>
            <a:chOff x="4080896" y="1030500"/>
            <a:chExt cx="7622997" cy="5266416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127DADA-9351-D015-0345-D9C22F125FAF}"/>
                </a:ext>
              </a:extLst>
            </p:cNvPr>
            <p:cNvSpPr txBox="1"/>
            <p:nvPr/>
          </p:nvSpPr>
          <p:spPr>
            <a:xfrm>
              <a:off x="4231200" y="1030500"/>
              <a:ext cx="6472804" cy="584775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  <a:latin typeface="Montserrat" pitchFamily="2" charset="0"/>
                </a:rPr>
                <a:t>Correlation Heatmap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0A73321-A2A3-10BC-66A6-EE23D1A73EAB}"/>
                </a:ext>
              </a:extLst>
            </p:cNvPr>
            <p:cNvSpPr txBox="1"/>
            <p:nvPr/>
          </p:nvSpPr>
          <p:spPr>
            <a:xfrm>
              <a:off x="4080896" y="1817048"/>
              <a:ext cx="2740376" cy="3354765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Strong positive correlation between:</a:t>
              </a:r>
            </a:p>
            <a:p>
              <a:pPr marL="800100" lvl="1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Gross  &amp; Profit</a:t>
              </a:r>
            </a:p>
            <a:p>
              <a:pPr marL="800100" lvl="1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Watchlist &amp; Votes</a:t>
              </a:r>
            </a:p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Moderate positive correlation between:</a:t>
              </a:r>
            </a:p>
            <a:p>
              <a:pPr marL="800100" lvl="1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Votes &amp; Reviews</a:t>
              </a:r>
            </a:p>
            <a:p>
              <a:pPr marL="800100" lvl="1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Rating &amp; </a:t>
              </a:r>
              <a:r>
                <a:rPr lang="en-US" sz="1600" dirty="0" err="1">
                  <a:solidFill>
                    <a:schemeClr val="bg1"/>
                  </a:solidFill>
                  <a:latin typeface="Candara Light" panose="020E0502030303020204" pitchFamily="34" charset="0"/>
                </a:rPr>
                <a:t>Metascore</a:t>
              </a:r>
              <a:endParaRPr lang="en-US" sz="1600" dirty="0">
                <a:solidFill>
                  <a:schemeClr val="bg1"/>
                </a:solidFill>
                <a:latin typeface="Candara Light" panose="020E0502030303020204" pitchFamily="34" charset="0"/>
              </a:endParaRPr>
            </a:p>
            <a:p>
              <a:pPr marL="800100" lvl="1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Votes &amp; Gross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47BA5CE-8898-57DE-30E0-F263C37ED563}"/>
                </a:ext>
              </a:extLst>
            </p:cNvPr>
            <p:cNvSpPr txBox="1"/>
            <p:nvPr/>
          </p:nvSpPr>
          <p:spPr>
            <a:xfrm>
              <a:off x="4080897" y="5373586"/>
              <a:ext cx="6623108" cy="923330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Ratings have weak correlation with financial metrics except </a:t>
              </a:r>
              <a:r>
                <a:rPr lang="en-US" dirty="0" err="1">
                  <a:solidFill>
                    <a:schemeClr val="bg1"/>
                  </a:solidFill>
                  <a:latin typeface="Candara" panose="020E0502030303020204" pitchFamily="34" charset="0"/>
                </a:rPr>
                <a:t>metascore</a:t>
              </a: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, indicating critically successful movies not always financially successful.</a:t>
              </a:r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79352D3E-87AC-1294-7074-4FFC8B46F62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67601" y="1454709"/>
              <a:ext cx="4236292" cy="40413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2500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94CC87B-2165-EE83-958E-FD9DDA5D5F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tx1">
                  <a:alpha val="20000"/>
                </a:schemeClr>
              </a:gs>
              <a:gs pos="100000">
                <a:schemeClr val="tx1">
                  <a:alpha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C584444-C5F6-9F23-9A3D-4C3EF549CD61}"/>
              </a:ext>
            </a:extLst>
          </p:cNvPr>
          <p:cNvGrpSpPr/>
          <p:nvPr/>
        </p:nvGrpSpPr>
        <p:grpSpPr>
          <a:xfrm rot="5400000">
            <a:off x="-4198620" y="-358140"/>
            <a:ext cx="7467600" cy="7467600"/>
            <a:chOff x="-4198620" y="-358140"/>
            <a:chExt cx="7467600" cy="7467600"/>
          </a:xfrm>
        </p:grpSpPr>
        <p:sp useBgFill="1">
          <p:nvSpPr>
            <p:cNvPr id="2" name="Flowchart: Summing Junction 1">
              <a:extLst>
                <a:ext uri="{FF2B5EF4-FFF2-40B4-BE49-F238E27FC236}">
                  <a16:creationId xmlns:a16="http://schemas.microsoft.com/office/drawing/2014/main" id="{1148F9FB-C97F-B63B-9523-EF248E0F01E3}"/>
                </a:ext>
              </a:extLst>
            </p:cNvPr>
            <p:cNvSpPr/>
            <p:nvPr/>
          </p:nvSpPr>
          <p:spPr>
            <a:xfrm>
              <a:off x="-4198620" y="-358140"/>
              <a:ext cx="7467600" cy="7467600"/>
            </a:xfrm>
            <a:prstGeom prst="flowChartSummingJunction">
              <a:avLst/>
            </a:prstGeom>
            <a:ln>
              <a:solidFill>
                <a:schemeClr val="bg1"/>
              </a:solidFill>
            </a:ln>
            <a:effectLst>
              <a:outerShdw blurRad="152400" dist="38100" sx="103000" sy="1030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3D766B8-AC31-2D33-0245-0282E259A1B2}"/>
                </a:ext>
              </a:extLst>
            </p:cNvPr>
            <p:cNvSpPr txBox="1"/>
            <p:nvPr/>
          </p:nvSpPr>
          <p:spPr>
            <a:xfrm rot="5400000">
              <a:off x="281936" y="2713940"/>
              <a:ext cx="3528063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Impact" panose="020B0806030902050204" pitchFamily="34" charset="0"/>
                </a:rPr>
                <a:t>BIVARIATE ANALYSIS</a:t>
              </a:r>
              <a:endParaRPr lang="en-IN" sz="40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A8BDB67-0C24-27C2-7D82-25D119938F2B}"/>
                </a:ext>
              </a:extLst>
            </p:cNvPr>
            <p:cNvSpPr txBox="1"/>
            <p:nvPr/>
          </p:nvSpPr>
          <p:spPr>
            <a:xfrm>
              <a:off x="-2228852" y="288189"/>
              <a:ext cx="3528063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Impact" panose="020B0806030902050204" pitchFamily="34" charset="0"/>
                </a:rPr>
                <a:t>CORRELATION HEATMAP</a:t>
              </a:r>
              <a:endParaRPr lang="en-IN" sz="40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977F3CC-EF80-3B14-20E3-8B401A321C72}"/>
                </a:ext>
              </a:extLst>
            </p:cNvPr>
            <p:cNvSpPr txBox="1"/>
            <p:nvPr/>
          </p:nvSpPr>
          <p:spPr>
            <a:xfrm rot="16200000">
              <a:off x="-4739642" y="2713940"/>
              <a:ext cx="3528063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Impact" panose="020B0806030902050204" pitchFamily="34" charset="0"/>
                </a:rPr>
                <a:t>BUDGET VS GROSS</a:t>
              </a:r>
              <a:endParaRPr lang="en-IN" sz="40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85ACFA6-F3ED-0517-58F0-BBD026B8C9CA}"/>
                </a:ext>
              </a:extLst>
            </p:cNvPr>
            <p:cNvSpPr txBox="1"/>
            <p:nvPr/>
          </p:nvSpPr>
          <p:spPr>
            <a:xfrm flipV="1">
              <a:off x="-2228852" y="5139691"/>
              <a:ext cx="3528063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Impact" panose="020B0806030902050204" pitchFamily="34" charset="0"/>
                </a:rPr>
                <a:t>RATING VS VOTES</a:t>
              </a:r>
              <a:endParaRPr lang="en-IN" sz="40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endParaRPr>
            </a:p>
          </p:txBody>
        </p:sp>
      </p:grpSp>
      <p:sp useBgFill="1">
        <p:nvSpPr>
          <p:cNvPr id="13" name="Oval 12">
            <a:extLst>
              <a:ext uri="{FF2B5EF4-FFF2-40B4-BE49-F238E27FC236}">
                <a16:creationId xmlns:a16="http://schemas.microsoft.com/office/drawing/2014/main" id="{D638473D-E80C-5224-B825-8A7DCE134692}"/>
              </a:ext>
            </a:extLst>
          </p:cNvPr>
          <p:cNvSpPr/>
          <p:nvPr/>
        </p:nvSpPr>
        <p:spPr>
          <a:xfrm rot="8100000">
            <a:off x="-1866902" y="2026919"/>
            <a:ext cx="2804162" cy="2804162"/>
          </a:xfrm>
          <a:prstGeom prst="ellipse">
            <a:avLst/>
          </a:prstGeom>
          <a:ln>
            <a:solidFill>
              <a:schemeClr val="bg1"/>
            </a:solidFill>
          </a:ln>
          <a:effectLst>
            <a:outerShdw blurRad="152400" dist="38100" sx="103000" sy="103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1457627-FB2D-604A-331D-2B85D6309886}"/>
              </a:ext>
            </a:extLst>
          </p:cNvPr>
          <p:cNvGrpSpPr/>
          <p:nvPr/>
        </p:nvGrpSpPr>
        <p:grpSpPr>
          <a:xfrm>
            <a:off x="4080896" y="795792"/>
            <a:ext cx="7622997" cy="5266416"/>
            <a:chOff x="4080896" y="1030500"/>
            <a:chExt cx="7622997" cy="5266416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EAC50F4-DB35-419C-30BB-AF63515C4FCE}"/>
                </a:ext>
              </a:extLst>
            </p:cNvPr>
            <p:cNvSpPr txBox="1"/>
            <p:nvPr/>
          </p:nvSpPr>
          <p:spPr>
            <a:xfrm>
              <a:off x="4231200" y="1030500"/>
              <a:ext cx="6472804" cy="584775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  <a:latin typeface="Montserrat" pitchFamily="2" charset="0"/>
                </a:rPr>
                <a:t>Correlation Heatmap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0859B84-ECE3-89D5-9F9C-397D97DB64F2}"/>
                </a:ext>
              </a:extLst>
            </p:cNvPr>
            <p:cNvSpPr txBox="1"/>
            <p:nvPr/>
          </p:nvSpPr>
          <p:spPr>
            <a:xfrm>
              <a:off x="4080896" y="1817048"/>
              <a:ext cx="2740376" cy="3354765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Strong positive correlation between:</a:t>
              </a:r>
            </a:p>
            <a:p>
              <a:pPr marL="800100" lvl="1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Gross  &amp; Profit</a:t>
              </a:r>
            </a:p>
            <a:p>
              <a:pPr marL="800100" lvl="1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Watchlist &amp; Votes</a:t>
              </a:r>
            </a:p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Moderate positive correlation between:</a:t>
              </a:r>
            </a:p>
            <a:p>
              <a:pPr marL="800100" lvl="1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Votes &amp; Reviews</a:t>
              </a:r>
            </a:p>
            <a:p>
              <a:pPr marL="800100" lvl="1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Rating &amp; </a:t>
              </a:r>
              <a:r>
                <a:rPr lang="en-US" sz="1600" dirty="0" err="1">
                  <a:solidFill>
                    <a:schemeClr val="bg1"/>
                  </a:solidFill>
                  <a:latin typeface="Candara Light" panose="020E0502030303020204" pitchFamily="34" charset="0"/>
                </a:rPr>
                <a:t>Metascore</a:t>
              </a:r>
              <a:endParaRPr lang="en-US" sz="1600" dirty="0">
                <a:solidFill>
                  <a:schemeClr val="bg1"/>
                </a:solidFill>
                <a:latin typeface="Candara Light" panose="020E0502030303020204" pitchFamily="34" charset="0"/>
              </a:endParaRPr>
            </a:p>
            <a:p>
              <a:pPr marL="800100" lvl="1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Votes &amp; Gross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9E430E1-0914-00FD-3FFA-F16A5240BA4B}"/>
                </a:ext>
              </a:extLst>
            </p:cNvPr>
            <p:cNvSpPr txBox="1"/>
            <p:nvPr/>
          </p:nvSpPr>
          <p:spPr>
            <a:xfrm>
              <a:off x="4080897" y="5373586"/>
              <a:ext cx="6623108" cy="923330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Ratings have weak correlation with financial metrics except </a:t>
              </a:r>
              <a:r>
                <a:rPr lang="en-US" dirty="0" err="1">
                  <a:solidFill>
                    <a:schemeClr val="bg1"/>
                  </a:solidFill>
                  <a:latin typeface="Candara" panose="020E0502030303020204" pitchFamily="34" charset="0"/>
                </a:rPr>
                <a:t>metascore</a:t>
              </a: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, indicating critically successful movies not always financially successful.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759B329B-F349-C27C-0350-9FF9DC1DC6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67601" y="1454709"/>
              <a:ext cx="4236292" cy="4041347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DCA3841-EB30-1559-0712-60AEA5894E96}"/>
              </a:ext>
            </a:extLst>
          </p:cNvPr>
          <p:cNvGrpSpPr/>
          <p:nvPr/>
        </p:nvGrpSpPr>
        <p:grpSpPr>
          <a:xfrm>
            <a:off x="4080896" y="-4862300"/>
            <a:ext cx="7441646" cy="4690318"/>
            <a:chOff x="4080896" y="729898"/>
            <a:chExt cx="7441646" cy="4690318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5C4F6631-575A-13D9-920E-13F56BF56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648" y="1524840"/>
              <a:ext cx="4591894" cy="3038877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D967D4D-488A-3D88-E451-DF64E5BD68E3}"/>
                </a:ext>
              </a:extLst>
            </p:cNvPr>
            <p:cNvSpPr txBox="1"/>
            <p:nvPr/>
          </p:nvSpPr>
          <p:spPr>
            <a:xfrm>
              <a:off x="4231200" y="729898"/>
              <a:ext cx="6472804" cy="584775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  <a:latin typeface="Montserrat" pitchFamily="2" charset="0"/>
                </a:rPr>
                <a:t>Budget vs Gross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80CD177-93BD-4955-30EE-2511A580430C}"/>
                </a:ext>
              </a:extLst>
            </p:cNvPr>
            <p:cNvSpPr txBox="1"/>
            <p:nvPr/>
          </p:nvSpPr>
          <p:spPr>
            <a:xfrm>
              <a:off x="4080896" y="1516446"/>
              <a:ext cx="2740376" cy="3170099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There is a positive relation between budget and gross.</a:t>
              </a:r>
            </a:p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Higher budget movies tends to generate higher revenue.</a:t>
              </a:r>
            </a:p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Significant spread indicates high budget does not always guarantee success.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098C5E6-2567-7716-CD38-8E20F47D4763}"/>
                </a:ext>
              </a:extLst>
            </p:cNvPr>
            <p:cNvSpPr txBox="1"/>
            <p:nvPr/>
          </p:nvSpPr>
          <p:spPr>
            <a:xfrm>
              <a:off x="4080896" y="4773885"/>
              <a:ext cx="7181965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marL="342900" indent="-34290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  <a:latin typeface="Candara" panose="020E0502030303020204" pitchFamily="34" charset="0"/>
                </a:rPr>
                <a:t>Presence of outliers indicates there are some blockbuster or underperforming movies with very high budget.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579088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enreGroup">
            <a:extLst>
              <a:ext uri="{FF2B5EF4-FFF2-40B4-BE49-F238E27FC236}">
                <a16:creationId xmlns:a16="http://schemas.microsoft.com/office/drawing/2014/main" id="{F4835296-BC33-95BA-7921-5C2EDE1A66CA}"/>
              </a:ext>
            </a:extLst>
          </p:cNvPr>
          <p:cNvGrpSpPr/>
          <p:nvPr/>
        </p:nvGrpSpPr>
        <p:grpSpPr>
          <a:xfrm>
            <a:off x="1059180" y="1155920"/>
            <a:ext cx="688120" cy="688120"/>
            <a:chOff x="1291650" y="1523447"/>
            <a:chExt cx="908106" cy="908106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1C8877BE-426A-03AD-99D4-85EC7DDB0A51}"/>
                </a:ext>
              </a:extLst>
            </p:cNvPr>
            <p:cNvSpPr/>
            <p:nvPr/>
          </p:nvSpPr>
          <p:spPr>
            <a:xfrm>
              <a:off x="1291650" y="1523447"/>
              <a:ext cx="908106" cy="90810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41F763AD-FE66-3134-7E72-78F01C444C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72681" y="1704478"/>
              <a:ext cx="546044" cy="546044"/>
            </a:xfrm>
            <a:prstGeom prst="rect">
              <a:avLst/>
            </a:prstGeom>
            <a:noFill/>
          </p:spPr>
        </p:pic>
      </p:grpSp>
      <p:grpSp>
        <p:nvGrpSpPr>
          <p:cNvPr id="39" name="PredictionGroup">
            <a:extLst>
              <a:ext uri="{FF2B5EF4-FFF2-40B4-BE49-F238E27FC236}">
                <a16:creationId xmlns:a16="http://schemas.microsoft.com/office/drawing/2014/main" id="{CC6F9C4F-0EDB-1953-7E4E-1A838F60BD24}"/>
              </a:ext>
            </a:extLst>
          </p:cNvPr>
          <p:cNvGrpSpPr/>
          <p:nvPr/>
        </p:nvGrpSpPr>
        <p:grpSpPr>
          <a:xfrm>
            <a:off x="98679" y="2740880"/>
            <a:ext cx="688120" cy="688120"/>
            <a:chOff x="1270054" y="2679920"/>
            <a:chExt cx="688120" cy="68812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90977EB-9F40-80FA-3D3F-5094DFC0AB17}"/>
                </a:ext>
              </a:extLst>
            </p:cNvPr>
            <p:cNvSpPr/>
            <p:nvPr/>
          </p:nvSpPr>
          <p:spPr>
            <a:xfrm>
              <a:off x="1270054" y="2679920"/>
              <a:ext cx="688120" cy="6881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C0D2A5C2-B10C-4716-00A1-24AAA95FD6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23614" y="2833480"/>
              <a:ext cx="381000" cy="381000"/>
            </a:xfrm>
            <a:prstGeom prst="rect">
              <a:avLst/>
            </a:prstGeom>
          </p:spPr>
        </p:pic>
      </p:grpSp>
      <p:grpSp>
        <p:nvGrpSpPr>
          <p:cNvPr id="45" name="RecommedGroup">
            <a:extLst>
              <a:ext uri="{FF2B5EF4-FFF2-40B4-BE49-F238E27FC236}">
                <a16:creationId xmlns:a16="http://schemas.microsoft.com/office/drawing/2014/main" id="{346C7459-A937-5053-7B85-4033ECF1A46F}"/>
              </a:ext>
            </a:extLst>
          </p:cNvPr>
          <p:cNvGrpSpPr/>
          <p:nvPr/>
        </p:nvGrpSpPr>
        <p:grpSpPr>
          <a:xfrm>
            <a:off x="98679" y="4325840"/>
            <a:ext cx="688120" cy="688120"/>
            <a:chOff x="1291920" y="4082000"/>
            <a:chExt cx="688120" cy="68812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CD1D5E4E-7836-88DD-A915-D540BBC5F4C0}"/>
                </a:ext>
              </a:extLst>
            </p:cNvPr>
            <p:cNvSpPr/>
            <p:nvPr/>
          </p:nvSpPr>
          <p:spPr>
            <a:xfrm>
              <a:off x="1291920" y="4082000"/>
              <a:ext cx="688120" cy="6881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1D79C1E6-C54B-3500-E562-E8BA84BDDD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34308" y="4187727"/>
              <a:ext cx="425230" cy="425230"/>
            </a:xfrm>
            <a:prstGeom prst="rect">
              <a:avLst/>
            </a:prstGeom>
          </p:spPr>
        </p:pic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94F318E5-8F3B-9D40-E06A-5A6443306048}"/>
              </a:ext>
            </a:extLst>
          </p:cNvPr>
          <p:cNvSpPr txBox="1"/>
          <p:nvPr/>
        </p:nvSpPr>
        <p:spPr>
          <a:xfrm>
            <a:off x="2781300" y="371032"/>
            <a:ext cx="8305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accent4"/>
                </a:solidFill>
                <a:latin typeface="Montserrat" pitchFamily="2" charset="0"/>
              </a:rPr>
              <a:t>GENRE</a:t>
            </a:r>
            <a:r>
              <a:rPr lang="en-US" sz="4800" dirty="0">
                <a:latin typeface="Montserrat" pitchFamily="2" charset="0"/>
              </a:rPr>
              <a:t> </a:t>
            </a:r>
            <a:r>
              <a:rPr lang="en-US" sz="4800" dirty="0">
                <a:solidFill>
                  <a:schemeClr val="accent4"/>
                </a:solidFill>
                <a:latin typeface="Montserrat" pitchFamily="2" charset="0"/>
              </a:rPr>
              <a:t>TREND</a:t>
            </a:r>
            <a:r>
              <a:rPr lang="en-US" sz="4800" dirty="0">
                <a:latin typeface="Montserrat" pitchFamily="2" charset="0"/>
              </a:rPr>
              <a:t> </a:t>
            </a:r>
            <a:r>
              <a:rPr lang="en-US" sz="4800" dirty="0">
                <a:solidFill>
                  <a:srgbClr val="2D2D2D"/>
                </a:solidFill>
                <a:latin typeface="Montserrat" pitchFamily="2" charset="0"/>
              </a:rPr>
              <a:t>ANALYSIS</a:t>
            </a:r>
            <a:endParaRPr lang="en-IN" sz="4800" dirty="0">
              <a:solidFill>
                <a:srgbClr val="2D2D2D"/>
              </a:solidFill>
              <a:latin typeface="Montserrat" pitchFamily="2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6ECFC89-7667-34F5-3550-FB3E245037DC}"/>
              </a:ext>
            </a:extLst>
          </p:cNvPr>
          <p:cNvSpPr txBox="1"/>
          <p:nvPr/>
        </p:nvSpPr>
        <p:spPr>
          <a:xfrm>
            <a:off x="2781300" y="1499980"/>
            <a:ext cx="5268844" cy="218521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sz="1600" dirty="0">
                <a:latin typeface="Candara Light" panose="020E0502030303020204" pitchFamily="34" charset="0"/>
              </a:rPr>
              <a:t>The objective of this analysis is to analyze how audience preferences for genres evolved over time and to identify: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Candara Light" panose="020E0502030303020204" pitchFamily="34" charset="0"/>
              </a:rPr>
              <a:t>Most popular genres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Candara Light" panose="020E0502030303020204" pitchFamily="34" charset="0"/>
              </a:rPr>
              <a:t>Highest quality genres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Candara Light" panose="020E0502030303020204" pitchFamily="34" charset="0"/>
              </a:rPr>
              <a:t>Most profitable genres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Candara Light" panose="020E0502030303020204" pitchFamily="34" charset="0"/>
              </a:rPr>
              <a:t>Forecast future trend using Power BI</a:t>
            </a: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0B7F2AAF-74BD-697F-7654-1D823B0226C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333" b="90000" l="10000" r="90000">
                        <a14:foregroundMark x1="44479" y1="88796" x2="44297" y2="88472"/>
                        <a14:foregroundMark x1="50156" y1="90000" x2="50547" y2="89583"/>
                        <a14:foregroundMark x1="54297" y1="10000" x2="55990" y2="10926"/>
                        <a14:foregroundMark x1="60365" y1="9815" x2="63724" y2="8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7756" y="4325840"/>
            <a:ext cx="4499191" cy="2530795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FD80F12F-5C0E-E73D-3295-B0A9D282EC43}"/>
              </a:ext>
            </a:extLst>
          </p:cNvPr>
          <p:cNvSpPr/>
          <p:nvPr/>
        </p:nvSpPr>
        <p:spPr>
          <a:xfrm>
            <a:off x="9768840" y="1328957"/>
            <a:ext cx="1828800" cy="1030166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accent4"/>
                </a:solidFill>
              </a:rPr>
              <a:t>5631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Total Movies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3A8882E2-36FF-1CF5-2550-13E7E650E6EA}"/>
              </a:ext>
            </a:extLst>
          </p:cNvPr>
          <p:cNvSpPr/>
          <p:nvPr/>
        </p:nvSpPr>
        <p:spPr>
          <a:xfrm>
            <a:off x="7833360" y="2663199"/>
            <a:ext cx="1828800" cy="1030166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accent4"/>
                </a:solidFill>
              </a:rPr>
              <a:t>2bn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Total Votes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ABFDEAC5-ED1D-8F91-CCAC-2E3346AA53D3}"/>
              </a:ext>
            </a:extLst>
          </p:cNvPr>
          <p:cNvSpPr/>
          <p:nvPr/>
        </p:nvSpPr>
        <p:spPr>
          <a:xfrm>
            <a:off x="9768840" y="4001677"/>
            <a:ext cx="1828800" cy="1030166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accent4"/>
                </a:solidFill>
              </a:rPr>
              <a:t>6.23</a:t>
            </a:r>
          </a:p>
          <a:p>
            <a:pPr algn="ctr"/>
            <a:r>
              <a:rPr lang="en-US" dirty="0" err="1">
                <a:solidFill>
                  <a:schemeClr val="bg1"/>
                </a:solidFill>
              </a:rPr>
              <a:t>Avg.Rating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8D9E5B0C-BE49-C24D-7687-4F24ED1980F1}"/>
              </a:ext>
            </a:extLst>
          </p:cNvPr>
          <p:cNvSpPr/>
          <p:nvPr/>
        </p:nvSpPr>
        <p:spPr>
          <a:xfrm>
            <a:off x="7833360" y="5295422"/>
            <a:ext cx="1828800" cy="1030166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accent4"/>
                </a:solidFill>
              </a:rPr>
              <a:t>Drama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Top Genre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9ED86CBD-0B21-A26F-B8DE-CD055A5A5B1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940" y="3862136"/>
            <a:ext cx="5227391" cy="3381469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4C30B0EC-63E7-5E5A-0A5E-55688CF19F05}"/>
              </a:ext>
            </a:extLst>
          </p:cNvPr>
          <p:cNvSpPr txBox="1"/>
          <p:nvPr/>
        </p:nvSpPr>
        <p:spPr>
          <a:xfrm>
            <a:off x="12414856" y="371032"/>
            <a:ext cx="8305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accent4"/>
                </a:solidFill>
                <a:latin typeface="Montserrat" pitchFamily="2" charset="0"/>
              </a:rPr>
              <a:t>Top </a:t>
            </a:r>
            <a:r>
              <a:rPr lang="en-US" sz="4800" dirty="0">
                <a:solidFill>
                  <a:srgbClr val="2D2D2D"/>
                </a:solidFill>
                <a:latin typeface="Montserrat" pitchFamily="2" charset="0"/>
              </a:rPr>
              <a:t>Genres</a:t>
            </a:r>
            <a:endParaRPr lang="en-IN" sz="4800" dirty="0">
              <a:solidFill>
                <a:srgbClr val="2D2D2D"/>
              </a:solidFill>
              <a:latin typeface="Montserrat" pitchFamily="2" charset="0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8C47927-C74A-DCCA-2956-03A5AA6EA599}"/>
              </a:ext>
            </a:extLst>
          </p:cNvPr>
          <p:cNvSpPr/>
          <p:nvPr/>
        </p:nvSpPr>
        <p:spPr>
          <a:xfrm>
            <a:off x="0" y="-4095750"/>
            <a:ext cx="1059180" cy="10953750"/>
          </a:xfrm>
          <a:custGeom>
            <a:avLst/>
            <a:gdLst>
              <a:gd name="connsiteX0" fmla="*/ 0 w 1059180"/>
              <a:gd name="connsiteY0" fmla="*/ 0 h 10953750"/>
              <a:gd name="connsiteX1" fmla="*/ 1059180 w 1059180"/>
              <a:gd name="connsiteY1" fmla="*/ 0 h 10953750"/>
              <a:gd name="connsiteX2" fmla="*/ 1059180 w 1059180"/>
              <a:gd name="connsiteY2" fmla="*/ 4095750 h 10953750"/>
              <a:gd name="connsiteX3" fmla="*/ 1059180 w 1059180"/>
              <a:gd name="connsiteY3" fmla="*/ 4732823 h 10953750"/>
              <a:gd name="connsiteX4" fmla="*/ 822011 w 1059180"/>
              <a:gd name="connsiteY4" fmla="*/ 5352335 h 10953750"/>
              <a:gd name="connsiteX5" fmla="*/ 822011 w 1059180"/>
              <a:gd name="connsiteY5" fmla="*/ 5826673 h 10953750"/>
              <a:gd name="connsiteX6" fmla="*/ 1059180 w 1059180"/>
              <a:gd name="connsiteY6" fmla="*/ 6446185 h 10953750"/>
              <a:gd name="connsiteX7" fmla="*/ 1059180 w 1059180"/>
              <a:gd name="connsiteY7" fmla="*/ 10953750 h 10953750"/>
              <a:gd name="connsiteX8" fmla="*/ 0 w 1059180"/>
              <a:gd name="connsiteY8" fmla="*/ 10953750 h 10953750"/>
              <a:gd name="connsiteX9" fmla="*/ 0 w 1059180"/>
              <a:gd name="connsiteY9" fmla="*/ 4095750 h 10953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59180" h="10953750">
                <a:moveTo>
                  <a:pt x="0" y="0"/>
                </a:moveTo>
                <a:lnTo>
                  <a:pt x="1059180" y="0"/>
                </a:lnTo>
                <a:lnTo>
                  <a:pt x="1059180" y="4095750"/>
                </a:lnTo>
                <a:lnTo>
                  <a:pt x="1059180" y="4732823"/>
                </a:lnTo>
                <a:cubicBezTo>
                  <a:pt x="1043847" y="5003051"/>
                  <a:pt x="964792" y="5209555"/>
                  <a:pt x="822011" y="5352335"/>
                </a:cubicBezTo>
                <a:cubicBezTo>
                  <a:pt x="691027" y="5483320"/>
                  <a:pt x="691027" y="5695688"/>
                  <a:pt x="822011" y="5826673"/>
                </a:cubicBezTo>
                <a:cubicBezTo>
                  <a:pt x="964792" y="5969453"/>
                  <a:pt x="1043847" y="6175957"/>
                  <a:pt x="1059180" y="6446185"/>
                </a:cubicBezTo>
                <a:lnTo>
                  <a:pt x="1059180" y="10953750"/>
                </a:lnTo>
                <a:lnTo>
                  <a:pt x="0" y="10953750"/>
                </a:lnTo>
                <a:lnTo>
                  <a:pt x="0" y="409575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>
            <a:outerShdw blurRad="190500" dist="190500" sx="103000" sy="103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pic>
        <p:nvPicPr>
          <p:cNvPr id="49" name="Recommendation">
            <a:extLst>
              <a:ext uri="{FF2B5EF4-FFF2-40B4-BE49-F238E27FC236}">
                <a16:creationId xmlns:a16="http://schemas.microsoft.com/office/drawing/2014/main" id="{E50AB85D-DFC1-798A-BAC5-F29DA399E1E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08" y="4407278"/>
            <a:ext cx="473808" cy="473808"/>
          </a:xfrm>
          <a:prstGeom prst="rect">
            <a:avLst/>
          </a:prstGeom>
        </p:spPr>
      </p:pic>
      <p:pic>
        <p:nvPicPr>
          <p:cNvPr id="51" name="Prediction">
            <a:extLst>
              <a:ext uri="{FF2B5EF4-FFF2-40B4-BE49-F238E27FC236}">
                <a16:creationId xmlns:a16="http://schemas.microsoft.com/office/drawing/2014/main" id="{63957637-1A62-802B-D047-08989894D63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08" y="2848036"/>
            <a:ext cx="473808" cy="473808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4BB59E83-2877-2EFD-D05E-55821B7A019B}"/>
              </a:ext>
            </a:extLst>
          </p:cNvPr>
          <p:cNvSpPr txBox="1"/>
          <p:nvPr/>
        </p:nvSpPr>
        <p:spPr>
          <a:xfrm>
            <a:off x="12414855" y="1466856"/>
            <a:ext cx="6569968" cy="236988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Candara" panose="020E0502030303020204" pitchFamily="34" charset="0"/>
              </a:rPr>
              <a:t>Drama</a:t>
            </a:r>
            <a:r>
              <a:rPr lang="en-US" sz="1600" dirty="0">
                <a:latin typeface="Candara Light" panose="020E0502030303020204" pitchFamily="34" charset="0"/>
              </a:rPr>
              <a:t> is the most popular genre, contributing highest share (~18% of votes) followed by Action &amp; Adventure, which indicates strong audience preference for </a:t>
            </a:r>
            <a:r>
              <a:rPr lang="en-US" sz="1600" dirty="0">
                <a:latin typeface="Candara" panose="020E0502030303020204" pitchFamily="34" charset="0"/>
              </a:rPr>
              <a:t>storytelling-driven</a:t>
            </a:r>
            <a:r>
              <a:rPr lang="en-US" sz="1600" dirty="0">
                <a:latin typeface="Candara Light" panose="020E0502030303020204" pitchFamily="34" charset="0"/>
              </a:rPr>
              <a:t> and </a:t>
            </a:r>
            <a:r>
              <a:rPr lang="en-US" sz="1600" dirty="0">
                <a:latin typeface="Candara" panose="020E0502030303020204" pitchFamily="34" charset="0"/>
              </a:rPr>
              <a:t>high-engagement</a:t>
            </a:r>
            <a:r>
              <a:rPr lang="en-US" sz="1600" b="1" dirty="0">
                <a:solidFill>
                  <a:srgbClr val="C00000"/>
                </a:solidFill>
                <a:latin typeface="Candara Light" panose="020E0502030303020204" pitchFamily="34" charset="0"/>
              </a:rPr>
              <a:t> </a:t>
            </a:r>
            <a:r>
              <a:rPr lang="en-US" sz="1600" dirty="0">
                <a:latin typeface="Candara Light" panose="020E0502030303020204" pitchFamily="34" charset="0"/>
              </a:rPr>
              <a:t>content.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Candara" panose="020E0502030303020204" pitchFamily="34" charset="0"/>
              </a:rPr>
              <a:t>Documentary</a:t>
            </a:r>
            <a:r>
              <a:rPr lang="en-US" sz="1600" dirty="0">
                <a:latin typeface="Candara Light" panose="020E0502030303020204" pitchFamily="34" charset="0"/>
              </a:rPr>
              <a:t> ranks highest in average rating (~8.0) followed by Biography and History, which indicates that documentary and biopic films have </a:t>
            </a:r>
            <a:r>
              <a:rPr lang="en-US" sz="1600" dirty="0">
                <a:latin typeface="Candara" panose="020E0502030303020204" pitchFamily="34" charset="0"/>
              </a:rPr>
              <a:t>less audience but they love it </a:t>
            </a:r>
            <a:r>
              <a:rPr lang="en-US" sz="1600" dirty="0">
                <a:latin typeface="Candara Light" panose="020E0502030303020204" pitchFamily="34" charset="0"/>
              </a:rPr>
              <a:t>(higher avg. ratings).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Candara" panose="020E0502030303020204" pitchFamily="34" charset="0"/>
              </a:rPr>
              <a:t>Adventure</a:t>
            </a:r>
            <a:r>
              <a:rPr lang="en-US" sz="1600" dirty="0">
                <a:latin typeface="Candara Light" panose="020E0502030303020204" pitchFamily="34" charset="0"/>
              </a:rPr>
              <a:t> and </a:t>
            </a:r>
            <a:r>
              <a:rPr lang="en-US" sz="1600" dirty="0">
                <a:latin typeface="Candara" panose="020E0502030303020204" pitchFamily="34" charset="0"/>
              </a:rPr>
              <a:t>Action</a:t>
            </a:r>
            <a:r>
              <a:rPr lang="en-US" sz="1600" dirty="0">
                <a:latin typeface="Candara Light" panose="020E0502030303020204" pitchFamily="34" charset="0"/>
              </a:rPr>
              <a:t> dominate in terms of total gross revenue, which indicates </a:t>
            </a:r>
            <a:r>
              <a:rPr lang="en-US" sz="1600" dirty="0">
                <a:latin typeface="Candara" panose="020E0502030303020204" pitchFamily="34" charset="0"/>
              </a:rPr>
              <a:t>high-budget</a:t>
            </a:r>
            <a:r>
              <a:rPr lang="en-US" sz="1600" dirty="0">
                <a:latin typeface="Candara Light" panose="020E0502030303020204" pitchFamily="34" charset="0"/>
              </a:rPr>
              <a:t> and </a:t>
            </a:r>
            <a:r>
              <a:rPr lang="en-US" sz="1600" dirty="0">
                <a:latin typeface="Candara" panose="020E0502030303020204" pitchFamily="34" charset="0"/>
              </a:rPr>
              <a:t>large-scale</a:t>
            </a:r>
            <a:r>
              <a:rPr lang="en-US" sz="1600" dirty="0">
                <a:solidFill>
                  <a:srgbClr val="C00000"/>
                </a:solidFill>
                <a:latin typeface="Candara" panose="020E0502030303020204" pitchFamily="34" charset="0"/>
              </a:rPr>
              <a:t> </a:t>
            </a:r>
            <a:r>
              <a:rPr lang="en-US" sz="1600" dirty="0">
                <a:latin typeface="Candara" panose="020E0502030303020204" pitchFamily="34" charset="0"/>
              </a:rPr>
              <a:t>genres</a:t>
            </a:r>
            <a:r>
              <a:rPr lang="en-US" sz="1600" dirty="0">
                <a:solidFill>
                  <a:srgbClr val="C00000"/>
                </a:solidFill>
                <a:latin typeface="Candara" panose="020E0502030303020204" pitchFamily="34" charset="0"/>
              </a:rPr>
              <a:t> </a:t>
            </a:r>
            <a:r>
              <a:rPr lang="en-US" sz="1600" dirty="0">
                <a:latin typeface="Candara" panose="020E0502030303020204" pitchFamily="34" charset="0"/>
              </a:rPr>
              <a:t>drive box office success</a:t>
            </a:r>
            <a:r>
              <a:rPr lang="en-US" sz="1600" dirty="0">
                <a:latin typeface="Candara Light" panose="020E0502030303020204" pitchFamily="34" charset="0"/>
              </a:rPr>
              <a:t>.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8E218E6C-FA38-A776-EB74-ACC23BB1A689}"/>
              </a:ext>
            </a:extLst>
          </p:cNvPr>
          <p:cNvSpPr/>
          <p:nvPr/>
        </p:nvSpPr>
        <p:spPr>
          <a:xfrm>
            <a:off x="19110029" y="1466859"/>
            <a:ext cx="2733260" cy="1854985"/>
          </a:xfrm>
          <a:prstGeom prst="roundRect">
            <a:avLst/>
          </a:prstGeom>
          <a:blipFill>
            <a:blip r:embed="rId11"/>
            <a:stretch>
              <a:fillRect/>
            </a:stretch>
          </a:blipFill>
          <a:effectLst>
            <a:outerShdw blurRad="152400" dist="254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C89DFBAE-E980-E121-0312-4FF8C57E9F01}"/>
              </a:ext>
            </a:extLst>
          </p:cNvPr>
          <p:cNvSpPr/>
          <p:nvPr/>
        </p:nvSpPr>
        <p:spPr>
          <a:xfrm>
            <a:off x="22335941" y="1466856"/>
            <a:ext cx="2733260" cy="1854985"/>
          </a:xfrm>
          <a:prstGeom prst="roundRect">
            <a:avLst/>
          </a:prstGeom>
          <a:blipFill>
            <a:blip r:embed="rId12"/>
            <a:stretch>
              <a:fillRect/>
            </a:stretch>
          </a:blipFill>
          <a:effectLst>
            <a:outerShdw blurRad="152400" dist="254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EAA7123C-C17B-DB4F-FAF1-BE1460E9EA02}"/>
              </a:ext>
            </a:extLst>
          </p:cNvPr>
          <p:cNvSpPr/>
          <p:nvPr/>
        </p:nvSpPr>
        <p:spPr>
          <a:xfrm>
            <a:off x="25561853" y="1466856"/>
            <a:ext cx="2733260" cy="1854985"/>
          </a:xfrm>
          <a:prstGeom prst="roundRect">
            <a:avLst/>
          </a:prstGeom>
          <a:blipFill>
            <a:blip r:embed="rId13"/>
            <a:stretch>
              <a:fillRect/>
            </a:stretch>
          </a:blipFill>
          <a:effectLst>
            <a:outerShdw blurRad="152400" dist="254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5241080"/>
      </p:ext>
    </p:extLst>
  </p:cSld>
  <p:clrMapOvr>
    <a:masterClrMapping/>
  </p:clrMapOvr>
  <p:transition spd="slow"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61" grpId="0" animBg="1"/>
      <p:bldP spid="62" grpId="0" animBg="1"/>
      <p:bldP spid="6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enreGroup">
            <a:extLst>
              <a:ext uri="{FF2B5EF4-FFF2-40B4-BE49-F238E27FC236}">
                <a16:creationId xmlns:a16="http://schemas.microsoft.com/office/drawing/2014/main" id="{F4835296-BC33-95BA-7921-5C2EDE1A66CA}"/>
              </a:ext>
            </a:extLst>
          </p:cNvPr>
          <p:cNvGrpSpPr/>
          <p:nvPr/>
        </p:nvGrpSpPr>
        <p:grpSpPr>
          <a:xfrm>
            <a:off x="1059180" y="1155920"/>
            <a:ext cx="688120" cy="688120"/>
            <a:chOff x="1291650" y="1523447"/>
            <a:chExt cx="908106" cy="908106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1C8877BE-426A-03AD-99D4-85EC7DDB0A51}"/>
                </a:ext>
              </a:extLst>
            </p:cNvPr>
            <p:cNvSpPr/>
            <p:nvPr/>
          </p:nvSpPr>
          <p:spPr>
            <a:xfrm>
              <a:off x="1291650" y="1523447"/>
              <a:ext cx="908106" cy="90810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41F763AD-FE66-3134-7E72-78F01C444C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72681" y="1704478"/>
              <a:ext cx="546044" cy="546044"/>
            </a:xfrm>
            <a:prstGeom prst="rect">
              <a:avLst/>
            </a:prstGeom>
            <a:noFill/>
          </p:spPr>
        </p:pic>
      </p:grpSp>
      <p:grpSp>
        <p:nvGrpSpPr>
          <p:cNvPr id="39" name="PredictionGroup">
            <a:extLst>
              <a:ext uri="{FF2B5EF4-FFF2-40B4-BE49-F238E27FC236}">
                <a16:creationId xmlns:a16="http://schemas.microsoft.com/office/drawing/2014/main" id="{CC6F9C4F-0EDB-1953-7E4E-1A838F60BD24}"/>
              </a:ext>
            </a:extLst>
          </p:cNvPr>
          <p:cNvGrpSpPr/>
          <p:nvPr/>
        </p:nvGrpSpPr>
        <p:grpSpPr>
          <a:xfrm>
            <a:off x="98679" y="2740880"/>
            <a:ext cx="688120" cy="688120"/>
            <a:chOff x="1270054" y="2679920"/>
            <a:chExt cx="688120" cy="68812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90977EB-9F40-80FA-3D3F-5094DFC0AB17}"/>
                </a:ext>
              </a:extLst>
            </p:cNvPr>
            <p:cNvSpPr/>
            <p:nvPr/>
          </p:nvSpPr>
          <p:spPr>
            <a:xfrm>
              <a:off x="1270054" y="2679920"/>
              <a:ext cx="688120" cy="6881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C0D2A5C2-B10C-4716-00A1-24AAA95FD6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23614" y="2833480"/>
              <a:ext cx="381000" cy="381000"/>
            </a:xfrm>
            <a:prstGeom prst="rect">
              <a:avLst/>
            </a:prstGeom>
          </p:spPr>
        </p:pic>
      </p:grpSp>
      <p:grpSp>
        <p:nvGrpSpPr>
          <p:cNvPr id="45" name="RecommedGroup">
            <a:extLst>
              <a:ext uri="{FF2B5EF4-FFF2-40B4-BE49-F238E27FC236}">
                <a16:creationId xmlns:a16="http://schemas.microsoft.com/office/drawing/2014/main" id="{346C7459-A937-5053-7B85-4033ECF1A46F}"/>
              </a:ext>
            </a:extLst>
          </p:cNvPr>
          <p:cNvGrpSpPr/>
          <p:nvPr/>
        </p:nvGrpSpPr>
        <p:grpSpPr>
          <a:xfrm>
            <a:off x="98679" y="4325840"/>
            <a:ext cx="688120" cy="688120"/>
            <a:chOff x="1291920" y="4082000"/>
            <a:chExt cx="688120" cy="68812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CD1D5E4E-7836-88DD-A915-D540BBC5F4C0}"/>
                </a:ext>
              </a:extLst>
            </p:cNvPr>
            <p:cNvSpPr/>
            <p:nvPr/>
          </p:nvSpPr>
          <p:spPr>
            <a:xfrm>
              <a:off x="1291920" y="4082000"/>
              <a:ext cx="688120" cy="6881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1D79C1E6-C54B-3500-E562-E8BA84BDDD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34308" y="4187727"/>
              <a:ext cx="425230" cy="425230"/>
            </a:xfrm>
            <a:prstGeom prst="rect">
              <a:avLst/>
            </a:prstGeom>
          </p:spPr>
        </p:pic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94F318E5-8F3B-9D40-E06A-5A6443306048}"/>
              </a:ext>
            </a:extLst>
          </p:cNvPr>
          <p:cNvSpPr txBox="1"/>
          <p:nvPr/>
        </p:nvSpPr>
        <p:spPr>
          <a:xfrm>
            <a:off x="-8960766" y="371032"/>
            <a:ext cx="8305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accent4"/>
                </a:solidFill>
                <a:latin typeface="Montserrat" pitchFamily="2" charset="0"/>
              </a:rPr>
              <a:t>GENRE</a:t>
            </a:r>
            <a:r>
              <a:rPr lang="en-US" sz="4800" dirty="0">
                <a:latin typeface="Montserrat" pitchFamily="2" charset="0"/>
              </a:rPr>
              <a:t> </a:t>
            </a:r>
            <a:r>
              <a:rPr lang="en-US" sz="4800" dirty="0">
                <a:solidFill>
                  <a:schemeClr val="accent4"/>
                </a:solidFill>
                <a:latin typeface="Montserrat" pitchFamily="2" charset="0"/>
              </a:rPr>
              <a:t>TREND</a:t>
            </a:r>
            <a:r>
              <a:rPr lang="en-US" sz="4800" dirty="0">
                <a:latin typeface="Montserrat" pitchFamily="2" charset="0"/>
              </a:rPr>
              <a:t> ANALYSIS</a:t>
            </a:r>
            <a:endParaRPr lang="en-IN" sz="4800" dirty="0">
              <a:latin typeface="Montserrat" pitchFamily="2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6ECFC89-7667-34F5-3550-FB3E245037DC}"/>
              </a:ext>
            </a:extLst>
          </p:cNvPr>
          <p:cNvSpPr txBox="1"/>
          <p:nvPr/>
        </p:nvSpPr>
        <p:spPr>
          <a:xfrm>
            <a:off x="-8960766" y="1499980"/>
            <a:ext cx="5268844" cy="218521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sz="1600" dirty="0">
                <a:latin typeface="Candara Light" panose="020E0502030303020204" pitchFamily="34" charset="0"/>
              </a:rPr>
              <a:t>The objective of this analysis is to analyze how audience preferences for genres evolved over time and to identify: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Candara Light" panose="020E0502030303020204" pitchFamily="34" charset="0"/>
              </a:rPr>
              <a:t>Most popular genres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Candara Light" panose="020E0502030303020204" pitchFamily="34" charset="0"/>
              </a:rPr>
              <a:t>Highest quality genres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Candara Light" panose="020E0502030303020204" pitchFamily="34" charset="0"/>
              </a:rPr>
              <a:t>Most profitable genres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Candara Light" panose="020E0502030303020204" pitchFamily="34" charset="0"/>
              </a:rPr>
              <a:t>Forecast future trend using Power BI</a:t>
            </a: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0B7F2AAF-74BD-697F-7654-1D823B0226C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333" b="90000" l="10000" r="90000">
                        <a14:foregroundMark x1="44479" y1="88796" x2="44297" y2="88472"/>
                        <a14:foregroundMark x1="50156" y1="90000" x2="50547" y2="89583"/>
                        <a14:foregroundMark x1="54297" y1="10000" x2="55990" y2="10926"/>
                        <a14:foregroundMark x1="60365" y1="9815" x2="63724" y2="8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958" y="4302892"/>
            <a:ext cx="4499191" cy="2530795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FD80F12F-5C0E-E73D-3295-B0A9D282EC43}"/>
              </a:ext>
            </a:extLst>
          </p:cNvPr>
          <p:cNvSpPr/>
          <p:nvPr/>
        </p:nvSpPr>
        <p:spPr>
          <a:xfrm>
            <a:off x="-1973226" y="1328957"/>
            <a:ext cx="1828800" cy="1030166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accent4"/>
                </a:solidFill>
              </a:rPr>
              <a:t>5631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Total Movies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3A8882E2-36FF-1CF5-2550-13E7E650E6EA}"/>
              </a:ext>
            </a:extLst>
          </p:cNvPr>
          <p:cNvSpPr/>
          <p:nvPr/>
        </p:nvSpPr>
        <p:spPr>
          <a:xfrm>
            <a:off x="-3908706" y="2663199"/>
            <a:ext cx="1828800" cy="1030166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accent4"/>
                </a:solidFill>
              </a:rPr>
              <a:t>2bn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Total Votes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ABFDEAC5-ED1D-8F91-CCAC-2E3346AA53D3}"/>
              </a:ext>
            </a:extLst>
          </p:cNvPr>
          <p:cNvSpPr/>
          <p:nvPr/>
        </p:nvSpPr>
        <p:spPr>
          <a:xfrm>
            <a:off x="-1973226" y="4001677"/>
            <a:ext cx="1828800" cy="1030166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accent4"/>
                </a:solidFill>
              </a:rPr>
              <a:t>6.23</a:t>
            </a:r>
          </a:p>
          <a:p>
            <a:pPr algn="ctr"/>
            <a:r>
              <a:rPr lang="en-US" dirty="0" err="1">
                <a:solidFill>
                  <a:schemeClr val="bg1"/>
                </a:solidFill>
              </a:rPr>
              <a:t>Avg.Rating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8D9E5B0C-BE49-C24D-7687-4F24ED1980F1}"/>
              </a:ext>
            </a:extLst>
          </p:cNvPr>
          <p:cNvSpPr/>
          <p:nvPr/>
        </p:nvSpPr>
        <p:spPr>
          <a:xfrm>
            <a:off x="-3908706" y="5295422"/>
            <a:ext cx="1828800" cy="1030166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accent4"/>
                </a:solidFill>
              </a:rPr>
              <a:t>Drama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Top Genre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C30B0EC-63E7-5E5A-0A5E-55688CF19F05}"/>
              </a:ext>
            </a:extLst>
          </p:cNvPr>
          <p:cNvSpPr txBox="1"/>
          <p:nvPr/>
        </p:nvSpPr>
        <p:spPr>
          <a:xfrm>
            <a:off x="2433100" y="371032"/>
            <a:ext cx="8305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accent4"/>
                </a:solidFill>
                <a:latin typeface="Montserrat" pitchFamily="2" charset="0"/>
              </a:rPr>
              <a:t>Top </a:t>
            </a:r>
            <a:r>
              <a:rPr lang="en-US" sz="4800" dirty="0">
                <a:solidFill>
                  <a:srgbClr val="2D2D2D"/>
                </a:solidFill>
                <a:latin typeface="Montserrat" pitchFamily="2" charset="0"/>
              </a:rPr>
              <a:t>Genres</a:t>
            </a:r>
            <a:endParaRPr lang="en-IN" sz="4800" dirty="0">
              <a:solidFill>
                <a:srgbClr val="2D2D2D"/>
              </a:solidFill>
              <a:latin typeface="Montserrat" pitchFamily="2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DDB7330-5887-23F3-C056-A86F2FCA20DE}"/>
              </a:ext>
            </a:extLst>
          </p:cNvPr>
          <p:cNvSpPr txBox="1"/>
          <p:nvPr/>
        </p:nvSpPr>
        <p:spPr>
          <a:xfrm>
            <a:off x="2433100" y="3757154"/>
            <a:ext cx="6569968" cy="236988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Candara" panose="020E0502030303020204" pitchFamily="34" charset="0"/>
              </a:rPr>
              <a:t>Drama</a:t>
            </a:r>
            <a:r>
              <a:rPr lang="en-US" sz="1600" dirty="0">
                <a:latin typeface="Candara Light" panose="020E0502030303020204" pitchFamily="34" charset="0"/>
              </a:rPr>
              <a:t> is the most popular genre, contributing highest share (~18% of votes) followed by Action &amp; Adventure, which indicates strong audience preference for </a:t>
            </a:r>
            <a:r>
              <a:rPr lang="en-US" sz="1600" dirty="0">
                <a:latin typeface="Candara" panose="020E0502030303020204" pitchFamily="34" charset="0"/>
              </a:rPr>
              <a:t>storytelling-driven</a:t>
            </a:r>
            <a:r>
              <a:rPr lang="en-US" sz="1600" dirty="0">
                <a:latin typeface="Candara Light" panose="020E0502030303020204" pitchFamily="34" charset="0"/>
              </a:rPr>
              <a:t> and </a:t>
            </a:r>
            <a:r>
              <a:rPr lang="en-US" sz="1600" dirty="0">
                <a:latin typeface="Candara" panose="020E0502030303020204" pitchFamily="34" charset="0"/>
              </a:rPr>
              <a:t>high-engagement</a:t>
            </a:r>
            <a:r>
              <a:rPr lang="en-US" sz="1600" b="1" dirty="0">
                <a:solidFill>
                  <a:srgbClr val="C00000"/>
                </a:solidFill>
                <a:latin typeface="Candara Light" panose="020E0502030303020204" pitchFamily="34" charset="0"/>
              </a:rPr>
              <a:t> </a:t>
            </a:r>
            <a:r>
              <a:rPr lang="en-US" sz="1600" dirty="0">
                <a:latin typeface="Candara Light" panose="020E0502030303020204" pitchFamily="34" charset="0"/>
              </a:rPr>
              <a:t>content.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Candara" panose="020E0502030303020204" pitchFamily="34" charset="0"/>
              </a:rPr>
              <a:t>Documentary</a:t>
            </a:r>
            <a:r>
              <a:rPr lang="en-US" sz="1600" dirty="0">
                <a:latin typeface="Candara Light" panose="020E0502030303020204" pitchFamily="34" charset="0"/>
              </a:rPr>
              <a:t> ranks highest in average rating (~8.0) followed by Biography and History, which indicates that documentary and biopic films have </a:t>
            </a:r>
            <a:r>
              <a:rPr lang="en-US" sz="1600" dirty="0">
                <a:latin typeface="Candara" panose="020E0502030303020204" pitchFamily="34" charset="0"/>
              </a:rPr>
              <a:t>less audience but they love it </a:t>
            </a:r>
            <a:r>
              <a:rPr lang="en-US" sz="1600" dirty="0">
                <a:latin typeface="Candara Light" panose="020E0502030303020204" pitchFamily="34" charset="0"/>
              </a:rPr>
              <a:t>(higher avg. ratings).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Candara" panose="020E0502030303020204" pitchFamily="34" charset="0"/>
              </a:rPr>
              <a:t>Adventure</a:t>
            </a:r>
            <a:r>
              <a:rPr lang="en-US" sz="1600" dirty="0">
                <a:latin typeface="Candara Light" panose="020E0502030303020204" pitchFamily="34" charset="0"/>
              </a:rPr>
              <a:t> and </a:t>
            </a:r>
            <a:r>
              <a:rPr lang="en-US" sz="1600" dirty="0">
                <a:latin typeface="Candara" panose="020E0502030303020204" pitchFamily="34" charset="0"/>
              </a:rPr>
              <a:t>Action</a:t>
            </a:r>
            <a:r>
              <a:rPr lang="en-US" sz="1600" dirty="0">
                <a:latin typeface="Candara Light" panose="020E0502030303020204" pitchFamily="34" charset="0"/>
              </a:rPr>
              <a:t> dominate in terms of total gross revenue, which indicates </a:t>
            </a:r>
            <a:r>
              <a:rPr lang="en-US" sz="1600" dirty="0">
                <a:latin typeface="Candara" panose="020E0502030303020204" pitchFamily="34" charset="0"/>
              </a:rPr>
              <a:t>high-budget</a:t>
            </a:r>
            <a:r>
              <a:rPr lang="en-US" sz="1600" dirty="0">
                <a:latin typeface="Candara Light" panose="020E0502030303020204" pitchFamily="34" charset="0"/>
              </a:rPr>
              <a:t> and </a:t>
            </a:r>
            <a:r>
              <a:rPr lang="en-US" sz="1600" dirty="0">
                <a:latin typeface="Candara" panose="020E0502030303020204" pitchFamily="34" charset="0"/>
              </a:rPr>
              <a:t>large-scale</a:t>
            </a:r>
            <a:r>
              <a:rPr lang="en-US" sz="1600" dirty="0">
                <a:solidFill>
                  <a:srgbClr val="C00000"/>
                </a:solidFill>
                <a:latin typeface="Candara" panose="020E0502030303020204" pitchFamily="34" charset="0"/>
              </a:rPr>
              <a:t> </a:t>
            </a:r>
            <a:r>
              <a:rPr lang="en-US" sz="1600" dirty="0">
                <a:latin typeface="Candara" panose="020E0502030303020204" pitchFamily="34" charset="0"/>
              </a:rPr>
              <a:t>genres</a:t>
            </a:r>
            <a:r>
              <a:rPr lang="en-US" sz="1600" dirty="0">
                <a:solidFill>
                  <a:srgbClr val="C00000"/>
                </a:solidFill>
                <a:latin typeface="Candara" panose="020E0502030303020204" pitchFamily="34" charset="0"/>
              </a:rPr>
              <a:t> </a:t>
            </a:r>
            <a:r>
              <a:rPr lang="en-US" sz="1600" dirty="0">
                <a:latin typeface="Candara" panose="020E0502030303020204" pitchFamily="34" charset="0"/>
              </a:rPr>
              <a:t>drive box office success</a:t>
            </a:r>
            <a:r>
              <a:rPr lang="en-US" sz="1600" dirty="0">
                <a:latin typeface="Candara Light" panose="020E0502030303020204" pitchFamily="34" charset="0"/>
              </a:rPr>
              <a:t>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BD9F573-5EE6-5E96-8837-BC5701CEC889}"/>
              </a:ext>
            </a:extLst>
          </p:cNvPr>
          <p:cNvSpPr/>
          <p:nvPr/>
        </p:nvSpPr>
        <p:spPr>
          <a:xfrm>
            <a:off x="2433100" y="1466859"/>
            <a:ext cx="2733260" cy="1854985"/>
          </a:xfrm>
          <a:prstGeom prst="roundRect">
            <a:avLst/>
          </a:prstGeom>
          <a:blipFill>
            <a:blip r:embed="rId8"/>
            <a:stretch>
              <a:fillRect/>
            </a:stretch>
          </a:blipFill>
          <a:effectLst>
            <a:outerShdw blurRad="152400" dist="254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BAEAF6A-30DD-E4BA-B098-72FC5F0AB55F}"/>
              </a:ext>
            </a:extLst>
          </p:cNvPr>
          <p:cNvSpPr/>
          <p:nvPr/>
        </p:nvSpPr>
        <p:spPr>
          <a:xfrm>
            <a:off x="5659012" y="1466856"/>
            <a:ext cx="2733260" cy="1854985"/>
          </a:xfrm>
          <a:prstGeom prst="roundRect">
            <a:avLst/>
          </a:prstGeom>
          <a:blipFill>
            <a:blip r:embed="rId9"/>
            <a:stretch>
              <a:fillRect/>
            </a:stretch>
          </a:blipFill>
          <a:effectLst>
            <a:outerShdw blurRad="152400" dist="254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555E89D-F9F9-6492-6447-CE4921C3B5B0}"/>
              </a:ext>
            </a:extLst>
          </p:cNvPr>
          <p:cNvSpPr/>
          <p:nvPr/>
        </p:nvSpPr>
        <p:spPr>
          <a:xfrm>
            <a:off x="8884924" y="1466856"/>
            <a:ext cx="2733260" cy="1854985"/>
          </a:xfrm>
          <a:prstGeom prst="roundRect">
            <a:avLst/>
          </a:prstGeom>
          <a:blipFill>
            <a:blip r:embed="rId10"/>
            <a:stretch>
              <a:fillRect/>
            </a:stretch>
          </a:blipFill>
          <a:effectLst>
            <a:outerShdw blurRad="152400" dist="254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E760C2-33E0-6183-9047-21BF37A0841E}"/>
              </a:ext>
            </a:extLst>
          </p:cNvPr>
          <p:cNvSpPr txBox="1"/>
          <p:nvPr/>
        </p:nvSpPr>
        <p:spPr>
          <a:xfrm>
            <a:off x="12669300" y="371032"/>
            <a:ext cx="8305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accent4"/>
                </a:solidFill>
                <a:latin typeface="Montserrat" pitchFamily="2" charset="0"/>
              </a:rPr>
              <a:t>Future </a:t>
            </a:r>
            <a:r>
              <a:rPr lang="en-US" sz="4800" dirty="0">
                <a:solidFill>
                  <a:srgbClr val="2D2D2D"/>
                </a:solidFill>
                <a:latin typeface="Montserrat" pitchFamily="2" charset="0"/>
              </a:rPr>
              <a:t>Trends</a:t>
            </a:r>
            <a:endParaRPr lang="en-IN" sz="4800" dirty="0">
              <a:solidFill>
                <a:srgbClr val="2D2D2D"/>
              </a:solidFill>
              <a:latin typeface="Montserrat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C33A2B-CAF1-AE64-790D-1AC7A3CC5D07}"/>
              </a:ext>
            </a:extLst>
          </p:cNvPr>
          <p:cNvSpPr txBox="1"/>
          <p:nvPr/>
        </p:nvSpPr>
        <p:spPr>
          <a:xfrm>
            <a:off x="12669300" y="1560054"/>
            <a:ext cx="6569968" cy="212365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Candara Light" panose="020E0502030303020204" pitchFamily="34" charset="0"/>
              </a:rPr>
              <a:t>Audience interest shows a steady rise from early 2000s, peaking around the late 2010s.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Candara Light" panose="020E0502030303020204" pitchFamily="34" charset="0"/>
              </a:rPr>
              <a:t>A noticeable decline after 2020, possibly due to external factors (</a:t>
            </a:r>
            <a:r>
              <a:rPr lang="en-US" sz="1600" dirty="0" err="1">
                <a:latin typeface="Candara Light" panose="020E0502030303020204" pitchFamily="34" charset="0"/>
              </a:rPr>
              <a:t>e.g</a:t>
            </a:r>
            <a:r>
              <a:rPr lang="en-US" sz="1600" dirty="0">
                <a:latin typeface="Candara Light" panose="020E0502030303020204" pitchFamily="34" charset="0"/>
              </a:rPr>
              <a:t>, industry shifts, streaming impact due to corona as mostly audience started watching shows over movies).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Candara Light" panose="020E0502030303020204" pitchFamily="34" charset="0"/>
              </a:rPr>
              <a:t>This analysis indicates that genre popularity is dynamic and influenced by changing viewing patterns.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02B5709-1ADE-41D5-F849-7F8E905677F2}"/>
              </a:ext>
            </a:extLst>
          </p:cNvPr>
          <p:cNvSpPr/>
          <p:nvPr/>
        </p:nvSpPr>
        <p:spPr>
          <a:xfrm>
            <a:off x="24449915" y="1466858"/>
            <a:ext cx="3462128" cy="1854985"/>
          </a:xfrm>
          <a:prstGeom prst="roundRect">
            <a:avLst/>
          </a:prstGeom>
          <a:blipFill>
            <a:blip r:embed="rId11"/>
            <a:stretch>
              <a:fillRect/>
            </a:stretch>
          </a:blipFill>
          <a:effectLst>
            <a:outerShdw blurRad="152400" dist="254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E97E96A-6AD7-3269-E5BD-E2683FC67C0E}"/>
              </a:ext>
            </a:extLst>
          </p:cNvPr>
          <p:cNvSpPr/>
          <p:nvPr/>
        </p:nvSpPr>
        <p:spPr>
          <a:xfrm>
            <a:off x="19787290" y="1466858"/>
            <a:ext cx="3462128" cy="1854985"/>
          </a:xfrm>
          <a:prstGeom prst="roundRect">
            <a:avLst/>
          </a:prstGeom>
          <a:blipFill>
            <a:blip r:embed="rId12"/>
            <a:stretch>
              <a:fillRect/>
            </a:stretch>
          </a:blipFill>
          <a:effectLst>
            <a:outerShdw blurRad="152400" dist="254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EDCA9FA-18B1-58F3-DAA1-A2FDAF184B6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91086" y="4030024"/>
            <a:ext cx="5637114" cy="2818557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8C47927-C74A-DCCA-2956-03A5AA6EA599}"/>
              </a:ext>
            </a:extLst>
          </p:cNvPr>
          <p:cNvSpPr/>
          <p:nvPr/>
        </p:nvSpPr>
        <p:spPr>
          <a:xfrm>
            <a:off x="0" y="-4095750"/>
            <a:ext cx="1059180" cy="10953750"/>
          </a:xfrm>
          <a:custGeom>
            <a:avLst/>
            <a:gdLst>
              <a:gd name="connsiteX0" fmla="*/ 0 w 1059180"/>
              <a:gd name="connsiteY0" fmla="*/ 0 h 10953750"/>
              <a:gd name="connsiteX1" fmla="*/ 1059180 w 1059180"/>
              <a:gd name="connsiteY1" fmla="*/ 0 h 10953750"/>
              <a:gd name="connsiteX2" fmla="*/ 1059180 w 1059180"/>
              <a:gd name="connsiteY2" fmla="*/ 4095750 h 10953750"/>
              <a:gd name="connsiteX3" fmla="*/ 1059180 w 1059180"/>
              <a:gd name="connsiteY3" fmla="*/ 4732823 h 10953750"/>
              <a:gd name="connsiteX4" fmla="*/ 822011 w 1059180"/>
              <a:gd name="connsiteY4" fmla="*/ 5352335 h 10953750"/>
              <a:gd name="connsiteX5" fmla="*/ 822011 w 1059180"/>
              <a:gd name="connsiteY5" fmla="*/ 5826673 h 10953750"/>
              <a:gd name="connsiteX6" fmla="*/ 1059180 w 1059180"/>
              <a:gd name="connsiteY6" fmla="*/ 6446185 h 10953750"/>
              <a:gd name="connsiteX7" fmla="*/ 1059180 w 1059180"/>
              <a:gd name="connsiteY7" fmla="*/ 10953750 h 10953750"/>
              <a:gd name="connsiteX8" fmla="*/ 0 w 1059180"/>
              <a:gd name="connsiteY8" fmla="*/ 10953750 h 10953750"/>
              <a:gd name="connsiteX9" fmla="*/ 0 w 1059180"/>
              <a:gd name="connsiteY9" fmla="*/ 4095750 h 10953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59180" h="10953750">
                <a:moveTo>
                  <a:pt x="0" y="0"/>
                </a:moveTo>
                <a:lnTo>
                  <a:pt x="1059180" y="0"/>
                </a:lnTo>
                <a:lnTo>
                  <a:pt x="1059180" y="4095750"/>
                </a:lnTo>
                <a:lnTo>
                  <a:pt x="1059180" y="4732823"/>
                </a:lnTo>
                <a:cubicBezTo>
                  <a:pt x="1043847" y="5003051"/>
                  <a:pt x="964792" y="5209555"/>
                  <a:pt x="822011" y="5352335"/>
                </a:cubicBezTo>
                <a:cubicBezTo>
                  <a:pt x="691027" y="5483320"/>
                  <a:pt x="691027" y="5695688"/>
                  <a:pt x="822011" y="5826673"/>
                </a:cubicBezTo>
                <a:cubicBezTo>
                  <a:pt x="964792" y="5969453"/>
                  <a:pt x="1043847" y="6175957"/>
                  <a:pt x="1059180" y="6446185"/>
                </a:cubicBezTo>
                <a:lnTo>
                  <a:pt x="1059180" y="10953750"/>
                </a:lnTo>
                <a:lnTo>
                  <a:pt x="0" y="10953750"/>
                </a:lnTo>
                <a:lnTo>
                  <a:pt x="0" y="409575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>
            <a:outerShdw blurRad="190500" dist="190500" sx="103000" sy="103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pic>
        <p:nvPicPr>
          <p:cNvPr id="49" name="Recommendation">
            <a:extLst>
              <a:ext uri="{FF2B5EF4-FFF2-40B4-BE49-F238E27FC236}">
                <a16:creationId xmlns:a16="http://schemas.microsoft.com/office/drawing/2014/main" id="{E50AB85D-DFC1-798A-BAC5-F29DA399E1E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08" y="4407278"/>
            <a:ext cx="473808" cy="473808"/>
          </a:xfrm>
          <a:prstGeom prst="rect">
            <a:avLst/>
          </a:prstGeom>
        </p:spPr>
      </p:pic>
      <p:pic>
        <p:nvPicPr>
          <p:cNvPr id="51" name="Prediction">
            <a:extLst>
              <a:ext uri="{FF2B5EF4-FFF2-40B4-BE49-F238E27FC236}">
                <a16:creationId xmlns:a16="http://schemas.microsoft.com/office/drawing/2014/main" id="{63957637-1A62-802B-D047-08989894D63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08" y="2848036"/>
            <a:ext cx="473808" cy="47380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2DD94F7-FA5A-7FCA-049E-716E521082C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99060" y="3862136"/>
            <a:ext cx="5227391" cy="3381469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307097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enreGroup">
            <a:extLst>
              <a:ext uri="{FF2B5EF4-FFF2-40B4-BE49-F238E27FC236}">
                <a16:creationId xmlns:a16="http://schemas.microsoft.com/office/drawing/2014/main" id="{F4835296-BC33-95BA-7921-5C2EDE1A66CA}"/>
              </a:ext>
            </a:extLst>
          </p:cNvPr>
          <p:cNvGrpSpPr/>
          <p:nvPr/>
        </p:nvGrpSpPr>
        <p:grpSpPr>
          <a:xfrm>
            <a:off x="1059180" y="1155920"/>
            <a:ext cx="688120" cy="688120"/>
            <a:chOff x="1291650" y="1523447"/>
            <a:chExt cx="908106" cy="908106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1C8877BE-426A-03AD-99D4-85EC7DDB0A51}"/>
                </a:ext>
              </a:extLst>
            </p:cNvPr>
            <p:cNvSpPr/>
            <p:nvPr/>
          </p:nvSpPr>
          <p:spPr>
            <a:xfrm>
              <a:off x="1291650" y="1523447"/>
              <a:ext cx="908106" cy="90810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41F763AD-FE66-3134-7E72-78F01C444C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72681" y="1704478"/>
              <a:ext cx="546044" cy="546044"/>
            </a:xfrm>
            <a:prstGeom prst="rect">
              <a:avLst/>
            </a:prstGeom>
            <a:noFill/>
          </p:spPr>
        </p:pic>
      </p:grpSp>
      <p:grpSp>
        <p:nvGrpSpPr>
          <p:cNvPr id="39" name="PredictionGroup">
            <a:extLst>
              <a:ext uri="{FF2B5EF4-FFF2-40B4-BE49-F238E27FC236}">
                <a16:creationId xmlns:a16="http://schemas.microsoft.com/office/drawing/2014/main" id="{CC6F9C4F-0EDB-1953-7E4E-1A838F60BD24}"/>
              </a:ext>
            </a:extLst>
          </p:cNvPr>
          <p:cNvGrpSpPr/>
          <p:nvPr/>
        </p:nvGrpSpPr>
        <p:grpSpPr>
          <a:xfrm>
            <a:off x="98679" y="2740880"/>
            <a:ext cx="688120" cy="688120"/>
            <a:chOff x="1270054" y="2679920"/>
            <a:chExt cx="688120" cy="68812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90977EB-9F40-80FA-3D3F-5094DFC0AB17}"/>
                </a:ext>
              </a:extLst>
            </p:cNvPr>
            <p:cNvSpPr/>
            <p:nvPr/>
          </p:nvSpPr>
          <p:spPr>
            <a:xfrm>
              <a:off x="1270054" y="2679920"/>
              <a:ext cx="688120" cy="6881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C0D2A5C2-B10C-4716-00A1-24AAA95FD6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23614" y="2833480"/>
              <a:ext cx="381000" cy="381000"/>
            </a:xfrm>
            <a:prstGeom prst="rect">
              <a:avLst/>
            </a:prstGeom>
          </p:spPr>
        </p:pic>
      </p:grpSp>
      <p:grpSp>
        <p:nvGrpSpPr>
          <p:cNvPr id="45" name="RecommedGroup">
            <a:extLst>
              <a:ext uri="{FF2B5EF4-FFF2-40B4-BE49-F238E27FC236}">
                <a16:creationId xmlns:a16="http://schemas.microsoft.com/office/drawing/2014/main" id="{346C7459-A937-5053-7B85-4033ECF1A46F}"/>
              </a:ext>
            </a:extLst>
          </p:cNvPr>
          <p:cNvGrpSpPr/>
          <p:nvPr/>
        </p:nvGrpSpPr>
        <p:grpSpPr>
          <a:xfrm>
            <a:off x="98679" y="4325840"/>
            <a:ext cx="688120" cy="688120"/>
            <a:chOff x="1291920" y="4082000"/>
            <a:chExt cx="688120" cy="68812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CD1D5E4E-7836-88DD-A915-D540BBC5F4C0}"/>
                </a:ext>
              </a:extLst>
            </p:cNvPr>
            <p:cNvSpPr/>
            <p:nvPr/>
          </p:nvSpPr>
          <p:spPr>
            <a:xfrm>
              <a:off x="1291920" y="4082000"/>
              <a:ext cx="688120" cy="6881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1D79C1E6-C54B-3500-E562-E8BA84BDDD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34308" y="4187727"/>
              <a:ext cx="425230" cy="425230"/>
            </a:xfrm>
            <a:prstGeom prst="rect">
              <a:avLst/>
            </a:prstGeom>
          </p:spPr>
        </p:pic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4C30B0EC-63E7-5E5A-0A5E-55688CF19F05}"/>
              </a:ext>
            </a:extLst>
          </p:cNvPr>
          <p:cNvSpPr txBox="1"/>
          <p:nvPr/>
        </p:nvSpPr>
        <p:spPr>
          <a:xfrm>
            <a:off x="2433100" y="371032"/>
            <a:ext cx="8305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accent4"/>
                </a:solidFill>
                <a:latin typeface="Montserrat" pitchFamily="2" charset="0"/>
              </a:rPr>
              <a:t>Future </a:t>
            </a:r>
            <a:r>
              <a:rPr lang="en-US" sz="4800" dirty="0">
                <a:solidFill>
                  <a:srgbClr val="2D2D2D"/>
                </a:solidFill>
                <a:latin typeface="Montserrat" pitchFamily="2" charset="0"/>
              </a:rPr>
              <a:t>Trends</a:t>
            </a:r>
            <a:endParaRPr lang="en-IN" sz="4800" dirty="0">
              <a:solidFill>
                <a:srgbClr val="2D2D2D"/>
              </a:solidFill>
              <a:latin typeface="Montserrat" pitchFamily="2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DDB7330-5887-23F3-C056-A86F2FCA20DE}"/>
              </a:ext>
            </a:extLst>
          </p:cNvPr>
          <p:cNvSpPr txBox="1"/>
          <p:nvPr/>
        </p:nvSpPr>
        <p:spPr>
          <a:xfrm>
            <a:off x="2433100" y="3757154"/>
            <a:ext cx="6569968" cy="212365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Candara Light" panose="020E0502030303020204" pitchFamily="34" charset="0"/>
              </a:rPr>
              <a:t>Audience interest shows a steady rise from early 2000s, peaking around the late 2010s.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Candara Light" panose="020E0502030303020204" pitchFamily="34" charset="0"/>
              </a:rPr>
              <a:t>A noticeable decline after 2020, possibly due to external factors (</a:t>
            </a:r>
            <a:r>
              <a:rPr lang="en-US" sz="1600" dirty="0" err="1">
                <a:latin typeface="Candara Light" panose="020E0502030303020204" pitchFamily="34" charset="0"/>
              </a:rPr>
              <a:t>e.g</a:t>
            </a:r>
            <a:r>
              <a:rPr lang="en-US" sz="1600" dirty="0">
                <a:latin typeface="Candara Light" panose="020E0502030303020204" pitchFamily="34" charset="0"/>
              </a:rPr>
              <a:t>, industry shifts, streaming impact due to corona as mostly audience started watching shows over movies).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Candara Light" panose="020E0502030303020204" pitchFamily="34" charset="0"/>
              </a:rPr>
              <a:t>This analysis indicates that genre popularity is dynamic and influenced by changing viewing patterns.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BAEAF6A-30DD-E4BA-B098-72FC5F0AB55F}"/>
              </a:ext>
            </a:extLst>
          </p:cNvPr>
          <p:cNvSpPr/>
          <p:nvPr/>
        </p:nvSpPr>
        <p:spPr>
          <a:xfrm>
            <a:off x="7533515" y="1466858"/>
            <a:ext cx="3462128" cy="1854985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effectLst>
            <a:outerShdw blurRad="152400" dist="254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3EF0386-5D90-6DB3-09EA-B11225407CB3}"/>
              </a:ext>
            </a:extLst>
          </p:cNvPr>
          <p:cNvSpPr/>
          <p:nvPr/>
        </p:nvSpPr>
        <p:spPr>
          <a:xfrm>
            <a:off x="2870890" y="1466858"/>
            <a:ext cx="3462128" cy="1854985"/>
          </a:xfrm>
          <a:prstGeom prst="roundRect">
            <a:avLst/>
          </a:prstGeom>
          <a:blipFill>
            <a:blip r:embed="rId7"/>
            <a:stretch>
              <a:fillRect/>
            </a:stretch>
          </a:blipFill>
          <a:effectLst>
            <a:outerShdw blurRad="152400" dist="254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79C42ED-216D-6EC2-7DDE-35BEA964356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4886" y="4030024"/>
            <a:ext cx="5637114" cy="281855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4EC95E9-7CCB-FAB5-4B6C-0EDE07B2BCE4}"/>
              </a:ext>
            </a:extLst>
          </p:cNvPr>
          <p:cNvSpPr txBox="1"/>
          <p:nvPr/>
        </p:nvSpPr>
        <p:spPr>
          <a:xfrm>
            <a:off x="-10241500" y="371032"/>
            <a:ext cx="8305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accent4"/>
                </a:solidFill>
                <a:latin typeface="Montserrat" pitchFamily="2" charset="0"/>
              </a:rPr>
              <a:t>Top </a:t>
            </a:r>
            <a:r>
              <a:rPr lang="en-US" sz="4800" dirty="0">
                <a:solidFill>
                  <a:srgbClr val="2D2D2D"/>
                </a:solidFill>
                <a:latin typeface="Montserrat" pitchFamily="2" charset="0"/>
              </a:rPr>
              <a:t>Genres</a:t>
            </a:r>
            <a:endParaRPr lang="en-IN" sz="4800" dirty="0">
              <a:solidFill>
                <a:srgbClr val="2D2D2D"/>
              </a:solidFill>
              <a:latin typeface="Montserrat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75386D-D5E7-2298-8C96-451B05399F14}"/>
              </a:ext>
            </a:extLst>
          </p:cNvPr>
          <p:cNvSpPr txBox="1"/>
          <p:nvPr/>
        </p:nvSpPr>
        <p:spPr>
          <a:xfrm>
            <a:off x="-10241500" y="3757154"/>
            <a:ext cx="6569968" cy="236988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Candara" panose="020E0502030303020204" pitchFamily="34" charset="0"/>
              </a:rPr>
              <a:t>Drama</a:t>
            </a:r>
            <a:r>
              <a:rPr lang="en-US" sz="1600" dirty="0">
                <a:latin typeface="Candara Light" panose="020E0502030303020204" pitchFamily="34" charset="0"/>
              </a:rPr>
              <a:t> is the most popular genre, contributing highest share (~18% of votes) followed by Action &amp; Adventure, which indicates strong audience preference for </a:t>
            </a:r>
            <a:r>
              <a:rPr lang="en-US" sz="1600" dirty="0">
                <a:latin typeface="Candara" panose="020E0502030303020204" pitchFamily="34" charset="0"/>
              </a:rPr>
              <a:t>storytelling-driven</a:t>
            </a:r>
            <a:r>
              <a:rPr lang="en-US" sz="1600" dirty="0">
                <a:latin typeface="Candara Light" panose="020E0502030303020204" pitchFamily="34" charset="0"/>
              </a:rPr>
              <a:t> and </a:t>
            </a:r>
            <a:r>
              <a:rPr lang="en-US" sz="1600" dirty="0">
                <a:latin typeface="Candara" panose="020E0502030303020204" pitchFamily="34" charset="0"/>
              </a:rPr>
              <a:t>high-engagement</a:t>
            </a:r>
            <a:r>
              <a:rPr lang="en-US" sz="1600" b="1" dirty="0">
                <a:solidFill>
                  <a:srgbClr val="C00000"/>
                </a:solidFill>
                <a:latin typeface="Candara Light" panose="020E0502030303020204" pitchFamily="34" charset="0"/>
              </a:rPr>
              <a:t> </a:t>
            </a:r>
            <a:r>
              <a:rPr lang="en-US" sz="1600" dirty="0">
                <a:latin typeface="Candara Light" panose="020E0502030303020204" pitchFamily="34" charset="0"/>
              </a:rPr>
              <a:t>content.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Candara" panose="020E0502030303020204" pitchFamily="34" charset="0"/>
              </a:rPr>
              <a:t>Documentary</a:t>
            </a:r>
            <a:r>
              <a:rPr lang="en-US" sz="1600" dirty="0">
                <a:latin typeface="Candara Light" panose="020E0502030303020204" pitchFamily="34" charset="0"/>
              </a:rPr>
              <a:t> ranks highest in average rating (~8.0) followed by Biography and History, which indicates that documentary and biopic films have </a:t>
            </a:r>
            <a:r>
              <a:rPr lang="en-US" sz="1600" dirty="0">
                <a:latin typeface="Candara" panose="020E0502030303020204" pitchFamily="34" charset="0"/>
              </a:rPr>
              <a:t>less audience but they love it </a:t>
            </a:r>
            <a:r>
              <a:rPr lang="en-US" sz="1600" dirty="0">
                <a:latin typeface="Candara Light" panose="020E0502030303020204" pitchFamily="34" charset="0"/>
              </a:rPr>
              <a:t>(higher avg. ratings).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Candara" panose="020E0502030303020204" pitchFamily="34" charset="0"/>
              </a:rPr>
              <a:t>Adventure</a:t>
            </a:r>
            <a:r>
              <a:rPr lang="en-US" sz="1600" dirty="0">
                <a:latin typeface="Candara Light" panose="020E0502030303020204" pitchFamily="34" charset="0"/>
              </a:rPr>
              <a:t> and </a:t>
            </a:r>
            <a:r>
              <a:rPr lang="en-US" sz="1600" dirty="0">
                <a:latin typeface="Candara" panose="020E0502030303020204" pitchFamily="34" charset="0"/>
              </a:rPr>
              <a:t>Action</a:t>
            </a:r>
            <a:r>
              <a:rPr lang="en-US" sz="1600" dirty="0">
                <a:latin typeface="Candara Light" panose="020E0502030303020204" pitchFamily="34" charset="0"/>
              </a:rPr>
              <a:t> dominate in terms of total gross revenue, which indicates </a:t>
            </a:r>
            <a:r>
              <a:rPr lang="en-US" sz="1600" dirty="0">
                <a:latin typeface="Candara" panose="020E0502030303020204" pitchFamily="34" charset="0"/>
              </a:rPr>
              <a:t>high-budget</a:t>
            </a:r>
            <a:r>
              <a:rPr lang="en-US" sz="1600" dirty="0">
                <a:latin typeface="Candara Light" panose="020E0502030303020204" pitchFamily="34" charset="0"/>
              </a:rPr>
              <a:t> and </a:t>
            </a:r>
            <a:r>
              <a:rPr lang="en-US" sz="1600" dirty="0">
                <a:latin typeface="Candara" panose="020E0502030303020204" pitchFamily="34" charset="0"/>
              </a:rPr>
              <a:t>large-scale</a:t>
            </a:r>
            <a:r>
              <a:rPr lang="en-US" sz="1600" dirty="0">
                <a:solidFill>
                  <a:srgbClr val="C00000"/>
                </a:solidFill>
                <a:latin typeface="Candara" panose="020E0502030303020204" pitchFamily="34" charset="0"/>
              </a:rPr>
              <a:t> </a:t>
            </a:r>
            <a:r>
              <a:rPr lang="en-US" sz="1600" dirty="0">
                <a:latin typeface="Candara" panose="020E0502030303020204" pitchFamily="34" charset="0"/>
              </a:rPr>
              <a:t>genres</a:t>
            </a:r>
            <a:r>
              <a:rPr lang="en-US" sz="1600" dirty="0">
                <a:solidFill>
                  <a:srgbClr val="C00000"/>
                </a:solidFill>
                <a:latin typeface="Candara" panose="020E0502030303020204" pitchFamily="34" charset="0"/>
              </a:rPr>
              <a:t> </a:t>
            </a:r>
            <a:r>
              <a:rPr lang="en-US" sz="1600" dirty="0">
                <a:latin typeface="Candara" panose="020E0502030303020204" pitchFamily="34" charset="0"/>
              </a:rPr>
              <a:t>drive box office success</a:t>
            </a:r>
            <a:r>
              <a:rPr lang="en-US" sz="1600" dirty="0">
                <a:latin typeface="Candara Light" panose="020E0502030303020204" pitchFamily="34" charset="0"/>
              </a:rPr>
              <a:t>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1A32D7B-A765-FACF-8322-69E74E20C663}"/>
              </a:ext>
            </a:extLst>
          </p:cNvPr>
          <p:cNvSpPr/>
          <p:nvPr/>
        </p:nvSpPr>
        <p:spPr>
          <a:xfrm>
            <a:off x="-10241500" y="1466859"/>
            <a:ext cx="2733260" cy="1854985"/>
          </a:xfrm>
          <a:prstGeom prst="roundRect">
            <a:avLst/>
          </a:prstGeom>
          <a:blipFill>
            <a:blip r:embed="rId9"/>
            <a:stretch>
              <a:fillRect/>
            </a:stretch>
          </a:blipFill>
          <a:effectLst>
            <a:outerShdw blurRad="152400" dist="254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1713950-5E4F-4AE8-ED18-594038AE8739}"/>
              </a:ext>
            </a:extLst>
          </p:cNvPr>
          <p:cNvSpPr/>
          <p:nvPr/>
        </p:nvSpPr>
        <p:spPr>
          <a:xfrm>
            <a:off x="-7015588" y="1466856"/>
            <a:ext cx="2733260" cy="1854985"/>
          </a:xfrm>
          <a:prstGeom prst="roundRect">
            <a:avLst/>
          </a:prstGeom>
          <a:blipFill>
            <a:blip r:embed="rId10"/>
            <a:stretch>
              <a:fillRect/>
            </a:stretch>
          </a:blipFill>
          <a:effectLst>
            <a:outerShdw blurRad="152400" dist="254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07A371D-E916-A64C-8F77-5DC025D72598}"/>
              </a:ext>
            </a:extLst>
          </p:cNvPr>
          <p:cNvSpPr/>
          <p:nvPr/>
        </p:nvSpPr>
        <p:spPr>
          <a:xfrm>
            <a:off x="-3789676" y="1466856"/>
            <a:ext cx="2733260" cy="1854985"/>
          </a:xfrm>
          <a:prstGeom prst="roundRect">
            <a:avLst/>
          </a:prstGeom>
          <a:blipFill>
            <a:blip r:embed="rId11"/>
            <a:stretch>
              <a:fillRect/>
            </a:stretch>
          </a:blipFill>
          <a:effectLst>
            <a:outerShdw blurRad="152400" dist="254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8C47927-C74A-DCCA-2956-03A5AA6EA599}"/>
              </a:ext>
            </a:extLst>
          </p:cNvPr>
          <p:cNvSpPr/>
          <p:nvPr/>
        </p:nvSpPr>
        <p:spPr>
          <a:xfrm>
            <a:off x="0" y="-4095750"/>
            <a:ext cx="1059180" cy="10953750"/>
          </a:xfrm>
          <a:custGeom>
            <a:avLst/>
            <a:gdLst>
              <a:gd name="connsiteX0" fmla="*/ 0 w 1059180"/>
              <a:gd name="connsiteY0" fmla="*/ 0 h 10953750"/>
              <a:gd name="connsiteX1" fmla="*/ 1059180 w 1059180"/>
              <a:gd name="connsiteY1" fmla="*/ 0 h 10953750"/>
              <a:gd name="connsiteX2" fmla="*/ 1059180 w 1059180"/>
              <a:gd name="connsiteY2" fmla="*/ 4095750 h 10953750"/>
              <a:gd name="connsiteX3" fmla="*/ 1059180 w 1059180"/>
              <a:gd name="connsiteY3" fmla="*/ 4732823 h 10953750"/>
              <a:gd name="connsiteX4" fmla="*/ 822011 w 1059180"/>
              <a:gd name="connsiteY4" fmla="*/ 5352335 h 10953750"/>
              <a:gd name="connsiteX5" fmla="*/ 822011 w 1059180"/>
              <a:gd name="connsiteY5" fmla="*/ 5826673 h 10953750"/>
              <a:gd name="connsiteX6" fmla="*/ 1059180 w 1059180"/>
              <a:gd name="connsiteY6" fmla="*/ 6446185 h 10953750"/>
              <a:gd name="connsiteX7" fmla="*/ 1059180 w 1059180"/>
              <a:gd name="connsiteY7" fmla="*/ 10953750 h 10953750"/>
              <a:gd name="connsiteX8" fmla="*/ 0 w 1059180"/>
              <a:gd name="connsiteY8" fmla="*/ 10953750 h 10953750"/>
              <a:gd name="connsiteX9" fmla="*/ 0 w 1059180"/>
              <a:gd name="connsiteY9" fmla="*/ 4095750 h 10953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59180" h="10953750">
                <a:moveTo>
                  <a:pt x="0" y="0"/>
                </a:moveTo>
                <a:lnTo>
                  <a:pt x="1059180" y="0"/>
                </a:lnTo>
                <a:lnTo>
                  <a:pt x="1059180" y="4095750"/>
                </a:lnTo>
                <a:lnTo>
                  <a:pt x="1059180" y="4732823"/>
                </a:lnTo>
                <a:cubicBezTo>
                  <a:pt x="1043847" y="5003051"/>
                  <a:pt x="964792" y="5209555"/>
                  <a:pt x="822011" y="5352335"/>
                </a:cubicBezTo>
                <a:cubicBezTo>
                  <a:pt x="691027" y="5483320"/>
                  <a:pt x="691027" y="5695688"/>
                  <a:pt x="822011" y="5826673"/>
                </a:cubicBezTo>
                <a:cubicBezTo>
                  <a:pt x="964792" y="5969453"/>
                  <a:pt x="1043847" y="6175957"/>
                  <a:pt x="1059180" y="6446185"/>
                </a:cubicBezTo>
                <a:lnTo>
                  <a:pt x="1059180" y="10953750"/>
                </a:lnTo>
                <a:lnTo>
                  <a:pt x="0" y="10953750"/>
                </a:lnTo>
                <a:lnTo>
                  <a:pt x="0" y="409575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>
            <a:outerShdw blurRad="190500" dist="190500" sx="103000" sy="103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pic>
        <p:nvPicPr>
          <p:cNvPr id="49" name="Recommendation">
            <a:extLst>
              <a:ext uri="{FF2B5EF4-FFF2-40B4-BE49-F238E27FC236}">
                <a16:creationId xmlns:a16="http://schemas.microsoft.com/office/drawing/2014/main" id="{E50AB85D-DFC1-798A-BAC5-F29DA399E1E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08" y="4407278"/>
            <a:ext cx="473808" cy="473808"/>
          </a:xfrm>
          <a:prstGeom prst="rect">
            <a:avLst/>
          </a:prstGeom>
        </p:spPr>
      </p:pic>
      <p:pic>
        <p:nvPicPr>
          <p:cNvPr id="51" name="Prediction">
            <a:extLst>
              <a:ext uri="{FF2B5EF4-FFF2-40B4-BE49-F238E27FC236}">
                <a16:creationId xmlns:a16="http://schemas.microsoft.com/office/drawing/2014/main" id="{63957637-1A62-802B-D047-08989894D63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08" y="2848036"/>
            <a:ext cx="473808" cy="47380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BB07E82-435F-CB9D-69B9-1813558BFA8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8333" b="90000" l="10000" r="90000">
                        <a14:foregroundMark x1="44479" y1="88796" x2="44297" y2="88472"/>
                        <a14:foregroundMark x1="50156" y1="90000" x2="50547" y2="89583"/>
                        <a14:foregroundMark x1="54297" y1="10000" x2="55990" y2="10926"/>
                        <a14:foregroundMark x1="60365" y1="9815" x2="63724" y2="8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32942" y="4302892"/>
            <a:ext cx="4499191" cy="2530795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458896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enreGroup">
            <a:extLst>
              <a:ext uri="{FF2B5EF4-FFF2-40B4-BE49-F238E27FC236}">
                <a16:creationId xmlns:a16="http://schemas.microsoft.com/office/drawing/2014/main" id="{F4835296-BC33-95BA-7921-5C2EDE1A66CA}"/>
              </a:ext>
            </a:extLst>
          </p:cNvPr>
          <p:cNvGrpSpPr/>
          <p:nvPr/>
        </p:nvGrpSpPr>
        <p:grpSpPr>
          <a:xfrm>
            <a:off x="144780" y="1155920"/>
            <a:ext cx="688120" cy="688120"/>
            <a:chOff x="1291650" y="1523447"/>
            <a:chExt cx="908106" cy="908106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1C8877BE-426A-03AD-99D4-85EC7DDB0A51}"/>
                </a:ext>
              </a:extLst>
            </p:cNvPr>
            <p:cNvSpPr/>
            <p:nvPr/>
          </p:nvSpPr>
          <p:spPr>
            <a:xfrm>
              <a:off x="1291650" y="1523447"/>
              <a:ext cx="908106" cy="90810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41F763AD-FE66-3134-7E72-78F01C444C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72681" y="1704478"/>
              <a:ext cx="546044" cy="546044"/>
            </a:xfrm>
            <a:prstGeom prst="rect">
              <a:avLst/>
            </a:prstGeom>
            <a:noFill/>
          </p:spPr>
        </p:pic>
      </p:grpSp>
      <p:grpSp>
        <p:nvGrpSpPr>
          <p:cNvPr id="39" name="PredictionGroup">
            <a:extLst>
              <a:ext uri="{FF2B5EF4-FFF2-40B4-BE49-F238E27FC236}">
                <a16:creationId xmlns:a16="http://schemas.microsoft.com/office/drawing/2014/main" id="{CC6F9C4F-0EDB-1953-7E4E-1A838F60BD24}"/>
              </a:ext>
            </a:extLst>
          </p:cNvPr>
          <p:cNvGrpSpPr/>
          <p:nvPr/>
        </p:nvGrpSpPr>
        <p:grpSpPr>
          <a:xfrm>
            <a:off x="1060704" y="2740880"/>
            <a:ext cx="688120" cy="688120"/>
            <a:chOff x="1270054" y="2679920"/>
            <a:chExt cx="688120" cy="68812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90977EB-9F40-80FA-3D3F-5094DFC0AB17}"/>
                </a:ext>
              </a:extLst>
            </p:cNvPr>
            <p:cNvSpPr/>
            <p:nvPr/>
          </p:nvSpPr>
          <p:spPr>
            <a:xfrm>
              <a:off x="1270054" y="2679920"/>
              <a:ext cx="688120" cy="6881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C0D2A5C2-B10C-4716-00A1-24AAA95FD6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23614" y="2833480"/>
              <a:ext cx="381000" cy="381000"/>
            </a:xfrm>
            <a:prstGeom prst="rect">
              <a:avLst/>
            </a:prstGeom>
          </p:spPr>
        </p:pic>
      </p:grpSp>
      <p:grpSp>
        <p:nvGrpSpPr>
          <p:cNvPr id="45" name="RecommedGroup">
            <a:extLst>
              <a:ext uri="{FF2B5EF4-FFF2-40B4-BE49-F238E27FC236}">
                <a16:creationId xmlns:a16="http://schemas.microsoft.com/office/drawing/2014/main" id="{346C7459-A937-5053-7B85-4033ECF1A46F}"/>
              </a:ext>
            </a:extLst>
          </p:cNvPr>
          <p:cNvGrpSpPr/>
          <p:nvPr/>
        </p:nvGrpSpPr>
        <p:grpSpPr>
          <a:xfrm>
            <a:off x="146304" y="4325840"/>
            <a:ext cx="688120" cy="688120"/>
            <a:chOff x="1291920" y="4082000"/>
            <a:chExt cx="688120" cy="68812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CD1D5E4E-7836-88DD-A915-D540BBC5F4C0}"/>
                </a:ext>
              </a:extLst>
            </p:cNvPr>
            <p:cNvSpPr/>
            <p:nvPr/>
          </p:nvSpPr>
          <p:spPr>
            <a:xfrm>
              <a:off x="1291920" y="4082000"/>
              <a:ext cx="688120" cy="6881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1D79C1E6-C54B-3500-E562-E8BA84BDDD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34308" y="4187727"/>
              <a:ext cx="425230" cy="425230"/>
            </a:xfrm>
            <a:prstGeom prst="rect">
              <a:avLst/>
            </a:prstGeom>
          </p:spPr>
        </p:pic>
      </p:grp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8C47927-C74A-DCCA-2956-03A5AA6EA599}"/>
              </a:ext>
            </a:extLst>
          </p:cNvPr>
          <p:cNvSpPr/>
          <p:nvPr/>
        </p:nvSpPr>
        <p:spPr>
          <a:xfrm>
            <a:off x="0" y="-2524125"/>
            <a:ext cx="1059180" cy="10953750"/>
          </a:xfrm>
          <a:custGeom>
            <a:avLst/>
            <a:gdLst>
              <a:gd name="connsiteX0" fmla="*/ 0 w 1059180"/>
              <a:gd name="connsiteY0" fmla="*/ 0 h 10953750"/>
              <a:gd name="connsiteX1" fmla="*/ 1059180 w 1059180"/>
              <a:gd name="connsiteY1" fmla="*/ 0 h 10953750"/>
              <a:gd name="connsiteX2" fmla="*/ 1059180 w 1059180"/>
              <a:gd name="connsiteY2" fmla="*/ 4095750 h 10953750"/>
              <a:gd name="connsiteX3" fmla="*/ 1059180 w 1059180"/>
              <a:gd name="connsiteY3" fmla="*/ 4732823 h 10953750"/>
              <a:gd name="connsiteX4" fmla="*/ 822011 w 1059180"/>
              <a:gd name="connsiteY4" fmla="*/ 5352335 h 10953750"/>
              <a:gd name="connsiteX5" fmla="*/ 822011 w 1059180"/>
              <a:gd name="connsiteY5" fmla="*/ 5826673 h 10953750"/>
              <a:gd name="connsiteX6" fmla="*/ 1059180 w 1059180"/>
              <a:gd name="connsiteY6" fmla="*/ 6446185 h 10953750"/>
              <a:gd name="connsiteX7" fmla="*/ 1059180 w 1059180"/>
              <a:gd name="connsiteY7" fmla="*/ 10953750 h 10953750"/>
              <a:gd name="connsiteX8" fmla="*/ 0 w 1059180"/>
              <a:gd name="connsiteY8" fmla="*/ 10953750 h 10953750"/>
              <a:gd name="connsiteX9" fmla="*/ 0 w 1059180"/>
              <a:gd name="connsiteY9" fmla="*/ 4095750 h 10953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59180" h="10953750">
                <a:moveTo>
                  <a:pt x="0" y="0"/>
                </a:moveTo>
                <a:lnTo>
                  <a:pt x="1059180" y="0"/>
                </a:lnTo>
                <a:lnTo>
                  <a:pt x="1059180" y="4095750"/>
                </a:lnTo>
                <a:lnTo>
                  <a:pt x="1059180" y="4732823"/>
                </a:lnTo>
                <a:cubicBezTo>
                  <a:pt x="1043847" y="5003051"/>
                  <a:pt x="964792" y="5209555"/>
                  <a:pt x="822011" y="5352335"/>
                </a:cubicBezTo>
                <a:cubicBezTo>
                  <a:pt x="691027" y="5483320"/>
                  <a:pt x="691027" y="5695688"/>
                  <a:pt x="822011" y="5826673"/>
                </a:cubicBezTo>
                <a:cubicBezTo>
                  <a:pt x="964792" y="5969453"/>
                  <a:pt x="1043847" y="6175957"/>
                  <a:pt x="1059180" y="6446185"/>
                </a:cubicBezTo>
                <a:lnTo>
                  <a:pt x="1059180" y="10953750"/>
                </a:lnTo>
                <a:lnTo>
                  <a:pt x="0" y="10953750"/>
                </a:lnTo>
                <a:lnTo>
                  <a:pt x="0" y="409575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>
            <a:outerShdw blurRad="190500" dist="190500" sx="103000" sy="103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pic>
        <p:nvPicPr>
          <p:cNvPr id="49" name="Recommendation">
            <a:extLst>
              <a:ext uri="{FF2B5EF4-FFF2-40B4-BE49-F238E27FC236}">
                <a16:creationId xmlns:a16="http://schemas.microsoft.com/office/drawing/2014/main" id="{E50AB85D-DFC1-798A-BAC5-F29DA399E1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08" y="4407278"/>
            <a:ext cx="473808" cy="473808"/>
          </a:xfrm>
          <a:prstGeom prst="rect">
            <a:avLst/>
          </a:prstGeom>
        </p:spPr>
      </p:pic>
      <p:pic>
        <p:nvPicPr>
          <p:cNvPr id="55" name="Genre">
            <a:extLst>
              <a:ext uri="{FF2B5EF4-FFF2-40B4-BE49-F238E27FC236}">
                <a16:creationId xmlns:a16="http://schemas.microsoft.com/office/drawing/2014/main" id="{5F75BBD9-9632-CC7A-6FC4-37EA2B0B586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08" y="1198634"/>
            <a:ext cx="482430" cy="482430"/>
          </a:xfrm>
          <a:prstGeom prst="rect">
            <a:avLst/>
          </a:prstGeom>
        </p:spPr>
      </p:pic>
      <p:grpSp>
        <p:nvGrpSpPr>
          <p:cNvPr id="108" name="Content1">
            <a:extLst>
              <a:ext uri="{FF2B5EF4-FFF2-40B4-BE49-F238E27FC236}">
                <a16:creationId xmlns:a16="http://schemas.microsoft.com/office/drawing/2014/main" id="{D53DF961-A55B-B22E-333B-D31545DE160B}"/>
              </a:ext>
            </a:extLst>
          </p:cNvPr>
          <p:cNvGrpSpPr/>
          <p:nvPr/>
        </p:nvGrpSpPr>
        <p:grpSpPr>
          <a:xfrm>
            <a:off x="2781300" y="2914561"/>
            <a:ext cx="2449009" cy="5092978"/>
            <a:chOff x="2781300" y="3228061"/>
            <a:chExt cx="2449009" cy="5092978"/>
          </a:xfrm>
        </p:grpSpPr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CBF5189D-052E-E304-3F8B-5BA51F055D1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81300" y="6103619"/>
              <a:ext cx="2217420" cy="2217420"/>
            </a:xfrm>
            <a:prstGeom prst="rect">
              <a:avLst/>
            </a:prstGeom>
          </p:spPr>
        </p:pic>
        <p:sp>
          <p:nvSpPr>
            <p:cNvPr id="56" name="Rectangle: Top Corners Rounded 55">
              <a:extLst>
                <a:ext uri="{FF2B5EF4-FFF2-40B4-BE49-F238E27FC236}">
                  <a16:creationId xmlns:a16="http://schemas.microsoft.com/office/drawing/2014/main" id="{0786EC6B-F627-DC57-FBB3-721DB5934782}"/>
                </a:ext>
              </a:extLst>
            </p:cNvPr>
            <p:cNvSpPr/>
            <p:nvPr/>
          </p:nvSpPr>
          <p:spPr>
            <a:xfrm rot="10800000">
              <a:off x="2827841" y="3228061"/>
              <a:ext cx="2402468" cy="2875558"/>
            </a:xfrm>
            <a:prstGeom prst="round2SameRect">
              <a:avLst/>
            </a:prstGeom>
            <a:solidFill>
              <a:srgbClr val="145865"/>
            </a:solidFill>
            <a:ln w="25400">
              <a:solidFill>
                <a:srgbClr val="A4E9E8"/>
              </a:solidFill>
            </a:ln>
            <a:effectLst>
              <a:outerShdw blurRad="190500" dist="63500" dir="2700000" sx="102000" sy="102000" algn="tl" rotWithShape="0">
                <a:srgbClr val="145865">
                  <a:alpha val="7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1A1D81D-9414-F5B3-7FAD-EF5DAF7111BA}"/>
                </a:ext>
              </a:extLst>
            </p:cNvPr>
            <p:cNvSpPr txBox="1"/>
            <p:nvPr/>
          </p:nvSpPr>
          <p:spPr>
            <a:xfrm>
              <a:off x="2876831" y="3645067"/>
              <a:ext cx="2304487" cy="2127828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285750" indent="-285750">
                <a:spcBef>
                  <a:spcPts val="1200"/>
                </a:spcBef>
                <a:buFont typeface="Wingdings" panose="05000000000000000000" pitchFamily="2" charset="2"/>
                <a:buChar char="ü"/>
              </a:pPr>
              <a:r>
                <a:rPr lang="en-US" sz="14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Dropped rows with null values in budget &amp; gross columns.</a:t>
              </a:r>
            </a:p>
            <a:p>
              <a:pPr marL="285750" indent="-285750">
                <a:spcBef>
                  <a:spcPts val="1200"/>
                </a:spcBef>
                <a:buFont typeface="Wingdings" panose="05000000000000000000" pitchFamily="2" charset="2"/>
                <a:buChar char="ü"/>
              </a:pPr>
              <a:r>
                <a:rPr lang="en-US" sz="14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Log transformation to reduce skewness.</a:t>
              </a:r>
            </a:p>
            <a:p>
              <a:pPr marL="285750" indent="-285750">
                <a:spcBef>
                  <a:spcPts val="1200"/>
                </a:spcBef>
                <a:buFont typeface="Wingdings" panose="05000000000000000000" pitchFamily="2" charset="2"/>
                <a:buChar char="ü"/>
              </a:pPr>
              <a:r>
                <a:rPr lang="en-US" sz="14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Categorical encoding using multi-label binarization.</a:t>
              </a:r>
            </a:p>
          </p:txBody>
        </p:sp>
      </p:grpSp>
      <p:grpSp>
        <p:nvGrpSpPr>
          <p:cNvPr id="110" name="Content2">
            <a:extLst>
              <a:ext uri="{FF2B5EF4-FFF2-40B4-BE49-F238E27FC236}">
                <a16:creationId xmlns:a16="http://schemas.microsoft.com/office/drawing/2014/main" id="{1BA63315-8625-5F24-268B-D194F4847F3A}"/>
              </a:ext>
            </a:extLst>
          </p:cNvPr>
          <p:cNvGrpSpPr/>
          <p:nvPr/>
        </p:nvGrpSpPr>
        <p:grpSpPr>
          <a:xfrm>
            <a:off x="6003734" y="2914562"/>
            <a:ext cx="2425738" cy="5092977"/>
            <a:chOff x="6003734" y="3228062"/>
            <a:chExt cx="2425738" cy="5092977"/>
          </a:xfrm>
        </p:grpSpPr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BF092455-C2BA-9680-D97F-2A0DD2F5DEB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03734" y="6103619"/>
              <a:ext cx="2217420" cy="2217420"/>
            </a:xfrm>
            <a:prstGeom prst="rect">
              <a:avLst/>
            </a:prstGeom>
          </p:spPr>
        </p:pic>
        <p:sp>
          <p:nvSpPr>
            <p:cNvPr id="63" name="Rectangle: Top Corners Rounded 62">
              <a:extLst>
                <a:ext uri="{FF2B5EF4-FFF2-40B4-BE49-F238E27FC236}">
                  <a16:creationId xmlns:a16="http://schemas.microsoft.com/office/drawing/2014/main" id="{FEB673DB-B4FE-B276-1A12-23267F963238}"/>
                </a:ext>
              </a:extLst>
            </p:cNvPr>
            <p:cNvSpPr/>
            <p:nvPr/>
          </p:nvSpPr>
          <p:spPr>
            <a:xfrm rot="10800000">
              <a:off x="6027004" y="3228062"/>
              <a:ext cx="2402468" cy="2875558"/>
            </a:xfrm>
            <a:prstGeom prst="round2SameRect">
              <a:avLst/>
            </a:prstGeom>
            <a:solidFill>
              <a:srgbClr val="145865"/>
            </a:solidFill>
            <a:ln w="25400">
              <a:solidFill>
                <a:srgbClr val="A4E9E8"/>
              </a:solidFill>
            </a:ln>
            <a:effectLst>
              <a:outerShdw blurRad="190500" dist="63500" dir="2700000" sx="102000" sy="102000" algn="tl" rotWithShape="0">
                <a:srgbClr val="145865">
                  <a:alpha val="7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413E672F-FB98-E4B5-5489-D567662C29BE}"/>
                </a:ext>
              </a:extLst>
            </p:cNvPr>
            <p:cNvSpPr txBox="1"/>
            <p:nvPr/>
          </p:nvSpPr>
          <p:spPr>
            <a:xfrm>
              <a:off x="6075994" y="3645068"/>
              <a:ext cx="2304487" cy="234369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285750" indent="-285750">
                <a:spcBef>
                  <a:spcPts val="1200"/>
                </a:spcBef>
                <a:buFont typeface="Wingdings" panose="05000000000000000000" pitchFamily="2" charset="2"/>
                <a:buChar char="ü"/>
              </a:pPr>
              <a:r>
                <a:rPr lang="en-US" sz="14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Redundant &amp; non-informative columns were removed.</a:t>
              </a:r>
            </a:p>
            <a:p>
              <a:pPr marL="285750" indent="-285750">
                <a:spcBef>
                  <a:spcPts val="1200"/>
                </a:spcBef>
                <a:buFont typeface="Wingdings" panose="05000000000000000000" pitchFamily="2" charset="2"/>
                <a:buChar char="ü"/>
              </a:pPr>
              <a:r>
                <a:rPr lang="en-US" sz="14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Only model-relevant numerical and encoded features were retained.</a:t>
              </a:r>
            </a:p>
            <a:p>
              <a:pPr marL="285750" indent="-285750">
                <a:spcBef>
                  <a:spcPts val="1200"/>
                </a:spcBef>
                <a:buFont typeface="Wingdings" panose="05000000000000000000" pitchFamily="2" charset="2"/>
                <a:buChar char="ü"/>
              </a:pPr>
              <a:r>
                <a:rPr lang="en-US" sz="14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Features like </a:t>
              </a:r>
              <a:r>
                <a:rPr lang="en-US" sz="1400" dirty="0" err="1">
                  <a:solidFill>
                    <a:schemeClr val="bg1"/>
                  </a:solidFill>
                  <a:latin typeface="Candara Light" panose="020E0502030303020204" pitchFamily="34" charset="0"/>
                </a:rPr>
                <a:t>metascore</a:t>
              </a:r>
              <a:r>
                <a:rPr lang="en-US" sz="14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, log value of votes, genre encoded, etc.</a:t>
              </a:r>
            </a:p>
          </p:txBody>
        </p:sp>
      </p:grpSp>
      <p:grpSp>
        <p:nvGrpSpPr>
          <p:cNvPr id="112" name="Content3">
            <a:extLst>
              <a:ext uri="{FF2B5EF4-FFF2-40B4-BE49-F238E27FC236}">
                <a16:creationId xmlns:a16="http://schemas.microsoft.com/office/drawing/2014/main" id="{33D95DDB-E706-986B-7272-5421F28AF041}"/>
              </a:ext>
            </a:extLst>
          </p:cNvPr>
          <p:cNvGrpSpPr/>
          <p:nvPr/>
        </p:nvGrpSpPr>
        <p:grpSpPr>
          <a:xfrm>
            <a:off x="9226167" y="2914562"/>
            <a:ext cx="2402469" cy="5092977"/>
            <a:chOff x="9226167" y="3228062"/>
            <a:chExt cx="2402469" cy="5092977"/>
          </a:xfrm>
        </p:grpSpPr>
        <p:pic>
          <p:nvPicPr>
            <p:cNvPr id="111" name="Picture 110">
              <a:extLst>
                <a:ext uri="{FF2B5EF4-FFF2-40B4-BE49-F238E27FC236}">
                  <a16:creationId xmlns:a16="http://schemas.microsoft.com/office/drawing/2014/main" id="{1AC08FF5-932E-447E-27E1-0DAB61B838E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26167" y="6103619"/>
              <a:ext cx="2217420" cy="2217420"/>
            </a:xfrm>
            <a:prstGeom prst="rect">
              <a:avLst/>
            </a:prstGeom>
          </p:spPr>
        </p:pic>
        <p:sp>
          <p:nvSpPr>
            <p:cNvPr id="66" name="Rectangle: Top Corners Rounded 65">
              <a:extLst>
                <a:ext uri="{FF2B5EF4-FFF2-40B4-BE49-F238E27FC236}">
                  <a16:creationId xmlns:a16="http://schemas.microsoft.com/office/drawing/2014/main" id="{DD641515-479C-24BA-12A5-C0B0FADB057F}"/>
                </a:ext>
              </a:extLst>
            </p:cNvPr>
            <p:cNvSpPr/>
            <p:nvPr/>
          </p:nvSpPr>
          <p:spPr>
            <a:xfrm rot="10800000">
              <a:off x="9226168" y="3228062"/>
              <a:ext cx="2402468" cy="2875558"/>
            </a:xfrm>
            <a:prstGeom prst="round2SameRect">
              <a:avLst/>
            </a:prstGeom>
            <a:solidFill>
              <a:srgbClr val="145865"/>
            </a:solidFill>
            <a:ln w="25400">
              <a:solidFill>
                <a:srgbClr val="A4E9E8"/>
              </a:solidFill>
            </a:ln>
            <a:effectLst>
              <a:outerShdw blurRad="190500" dist="63500" dir="2700000" sx="102000" sy="102000" algn="tl" rotWithShape="0">
                <a:srgbClr val="145865">
                  <a:alpha val="7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C2D5A73B-A1AD-3FBA-99AB-CD72F9F02C80}"/>
                </a:ext>
              </a:extLst>
            </p:cNvPr>
            <p:cNvSpPr txBox="1"/>
            <p:nvPr/>
          </p:nvSpPr>
          <p:spPr>
            <a:xfrm>
              <a:off x="9275157" y="3645068"/>
              <a:ext cx="2304487" cy="234369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285750" indent="-285750">
                <a:spcBef>
                  <a:spcPts val="1200"/>
                </a:spcBef>
                <a:buFont typeface="Wingdings" panose="05000000000000000000" pitchFamily="2" charset="2"/>
                <a:buChar char="ü"/>
              </a:pPr>
              <a:r>
                <a:rPr lang="en-US" sz="14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Linear Regression was used as a baseline model.</a:t>
              </a:r>
            </a:p>
            <a:p>
              <a:pPr marL="285750" indent="-285750">
                <a:spcBef>
                  <a:spcPts val="1200"/>
                </a:spcBef>
                <a:buFont typeface="Wingdings" panose="05000000000000000000" pitchFamily="2" charset="2"/>
                <a:buChar char="ü"/>
              </a:pPr>
              <a:r>
                <a:rPr lang="en-US" sz="14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Random Forest was used to capture non-linear relationships.</a:t>
              </a:r>
            </a:p>
            <a:p>
              <a:pPr marL="285750" indent="-285750">
                <a:spcBef>
                  <a:spcPts val="1200"/>
                </a:spcBef>
                <a:buFont typeface="Wingdings" panose="05000000000000000000" pitchFamily="2" charset="2"/>
                <a:buChar char="ü"/>
              </a:pPr>
              <a:r>
                <a:rPr lang="en-US" sz="1400" dirty="0" err="1">
                  <a:solidFill>
                    <a:schemeClr val="bg1"/>
                  </a:solidFill>
                  <a:latin typeface="Candara Light" panose="020E0502030303020204" pitchFamily="34" charset="0"/>
                </a:rPr>
                <a:t>GridSearchCV</a:t>
              </a:r>
              <a:r>
                <a:rPr lang="en-US" sz="14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 was applied to optimize Random Forest.</a:t>
              </a:r>
            </a:p>
          </p:txBody>
        </p:sp>
      </p:grpSp>
      <p:sp useBgFill="1">
        <p:nvSpPr>
          <p:cNvPr id="94" name="Rectangle 93">
            <a:extLst>
              <a:ext uri="{FF2B5EF4-FFF2-40B4-BE49-F238E27FC236}">
                <a16:creationId xmlns:a16="http://schemas.microsoft.com/office/drawing/2014/main" id="{6019F74D-F679-3BA5-2ABA-C77579BA5D5C}"/>
              </a:ext>
            </a:extLst>
          </p:cNvPr>
          <p:cNvSpPr/>
          <p:nvPr/>
        </p:nvSpPr>
        <p:spPr>
          <a:xfrm>
            <a:off x="1595264" y="-7395"/>
            <a:ext cx="10596736" cy="2352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B37C06-B68B-FAE7-FEBB-BB5DBAF8AC43}"/>
              </a:ext>
            </a:extLst>
          </p:cNvPr>
          <p:cNvSpPr txBox="1"/>
          <p:nvPr/>
        </p:nvSpPr>
        <p:spPr>
          <a:xfrm>
            <a:off x="2781300" y="371032"/>
            <a:ext cx="8305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008080"/>
                </a:solidFill>
                <a:latin typeface="Montserrat" pitchFamily="2" charset="0"/>
              </a:rPr>
              <a:t>Rating</a:t>
            </a:r>
            <a:r>
              <a:rPr lang="en-US" sz="4800" dirty="0">
                <a:solidFill>
                  <a:schemeClr val="accent4"/>
                </a:solidFill>
                <a:latin typeface="Montserrat" pitchFamily="2" charset="0"/>
              </a:rPr>
              <a:t> </a:t>
            </a:r>
            <a:r>
              <a:rPr lang="en-US" sz="4800" dirty="0">
                <a:solidFill>
                  <a:srgbClr val="2D2D2D"/>
                </a:solidFill>
                <a:latin typeface="Montserrat" pitchFamily="2" charset="0"/>
              </a:rPr>
              <a:t>Prediction</a:t>
            </a:r>
            <a:endParaRPr lang="en-IN" sz="4800" dirty="0">
              <a:solidFill>
                <a:srgbClr val="2D2D2D"/>
              </a:solidFill>
              <a:latin typeface="Montserrat" pitchFamily="2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CB01E27-938C-4F51-B3B5-FB84E110F6A4}"/>
              </a:ext>
            </a:extLst>
          </p:cNvPr>
          <p:cNvSpPr txBox="1"/>
          <p:nvPr/>
        </p:nvSpPr>
        <p:spPr>
          <a:xfrm>
            <a:off x="2781300" y="1261623"/>
            <a:ext cx="6569968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  <a:latin typeface="Candara Light" panose="020E0502030303020204" pitchFamily="34" charset="0"/>
              </a:rPr>
              <a:t>The primary goal is to develop a model that can accurately predict IMDb ratings and generalize well to new data.</a:t>
            </a:r>
            <a:endParaRPr lang="en-US" sz="1600" dirty="0">
              <a:latin typeface="Candara Light" panose="020E0502030303020204" pitchFamily="34" charset="0"/>
            </a:endParaRPr>
          </a:p>
        </p:txBody>
      </p:sp>
      <p:grpSp>
        <p:nvGrpSpPr>
          <p:cNvPr id="96" name="Top2">
            <a:extLst>
              <a:ext uri="{FF2B5EF4-FFF2-40B4-BE49-F238E27FC236}">
                <a16:creationId xmlns:a16="http://schemas.microsoft.com/office/drawing/2014/main" id="{27553BFB-0B1D-B89A-1D04-4F52EC2F3C97}"/>
              </a:ext>
            </a:extLst>
          </p:cNvPr>
          <p:cNvGrpSpPr/>
          <p:nvPr/>
        </p:nvGrpSpPr>
        <p:grpSpPr>
          <a:xfrm>
            <a:off x="5896042" y="2031161"/>
            <a:ext cx="2664392" cy="1150100"/>
            <a:chOff x="5931569" y="2007722"/>
            <a:chExt cx="2495550" cy="1077218"/>
          </a:xfrm>
        </p:grpSpPr>
        <p:sp>
          <p:nvSpPr>
            <p:cNvPr id="64" name="Flowchart: Document 63">
              <a:extLst>
                <a:ext uri="{FF2B5EF4-FFF2-40B4-BE49-F238E27FC236}">
                  <a16:creationId xmlns:a16="http://schemas.microsoft.com/office/drawing/2014/main" id="{3C062832-CE12-83BF-CDC0-7342F2CC0446}"/>
                </a:ext>
              </a:extLst>
            </p:cNvPr>
            <p:cNvSpPr/>
            <p:nvPr/>
          </p:nvSpPr>
          <p:spPr>
            <a:xfrm>
              <a:off x="5931569" y="2007722"/>
              <a:ext cx="2495550" cy="1077218"/>
            </a:xfrm>
            <a:prstGeom prst="flowChartDocument">
              <a:avLst/>
            </a:prstGeom>
            <a:gradFill flip="none" rotWithShape="1">
              <a:gsLst>
                <a:gs pos="0">
                  <a:srgbClr val="0F6067"/>
                </a:gs>
                <a:gs pos="48000">
                  <a:srgbClr val="4ED1C9"/>
                </a:gs>
                <a:gs pos="100000">
                  <a:srgbClr val="AFECE6"/>
                </a:gs>
              </a:gsLst>
              <a:lin ang="18900000" scaled="1"/>
              <a:tileRect/>
            </a:gradFill>
            <a:ln w="25400">
              <a:solidFill>
                <a:srgbClr val="A4E9E8"/>
              </a:solidFill>
            </a:ln>
            <a:effectLst>
              <a:outerShdw blurRad="190500" dist="63500" dir="2700000" sx="102000" sy="102000" algn="tl" rotWithShape="0">
                <a:schemeClr val="tx1">
                  <a:alpha val="5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00984889-9D04-CC8B-65FB-A4F72096EED1}"/>
                </a:ext>
              </a:extLst>
            </p:cNvPr>
            <p:cNvGrpSpPr/>
            <p:nvPr/>
          </p:nvGrpSpPr>
          <p:grpSpPr>
            <a:xfrm>
              <a:off x="6337879" y="2090935"/>
              <a:ext cx="1682927" cy="750569"/>
              <a:chOff x="3093173" y="2054544"/>
              <a:chExt cx="1682927" cy="750569"/>
            </a:xfrm>
          </p:grpSpPr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4FAFEBBA-F801-ABDA-974E-8C7F803D2FE4}"/>
                  </a:ext>
                </a:extLst>
              </p:cNvPr>
              <p:cNvSpPr txBox="1"/>
              <p:nvPr/>
            </p:nvSpPr>
            <p:spPr>
              <a:xfrm>
                <a:off x="3405047" y="2054544"/>
                <a:ext cx="1059180" cy="400110"/>
              </a:xfrm>
              <a:prstGeom prst="rect">
                <a:avLst/>
              </a:prstGeom>
              <a:noFill/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1200"/>
                  </a:spcBef>
                </a:pPr>
                <a:r>
                  <a:rPr lang="en-US" sz="2000" dirty="0">
                    <a:solidFill>
                      <a:schemeClr val="bg1"/>
                    </a:solidFill>
                    <a:latin typeface="Impact" panose="020B0806030902050204" pitchFamily="34" charset="0"/>
                  </a:rPr>
                  <a:t>FEATURE</a:t>
                </a: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68CDE52F-99BE-6611-44CD-A1DC72C4A117}"/>
                  </a:ext>
                </a:extLst>
              </p:cNvPr>
              <p:cNvSpPr txBox="1"/>
              <p:nvPr/>
            </p:nvSpPr>
            <p:spPr>
              <a:xfrm>
                <a:off x="3093173" y="2405003"/>
                <a:ext cx="1682927" cy="400110"/>
              </a:xfrm>
              <a:prstGeom prst="rect">
                <a:avLst/>
              </a:prstGeom>
              <a:noFill/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1200"/>
                  </a:spcBef>
                </a:pPr>
                <a:r>
                  <a:rPr lang="en-US" sz="2000" dirty="0">
                    <a:solidFill>
                      <a:schemeClr val="bg1"/>
                    </a:solidFill>
                    <a:latin typeface="Impact" panose="020B0806030902050204" pitchFamily="34" charset="0"/>
                  </a:rPr>
                  <a:t>SELECTION</a:t>
                </a:r>
              </a:p>
            </p:txBody>
          </p:sp>
        </p:grpSp>
      </p:grpSp>
      <p:grpSp>
        <p:nvGrpSpPr>
          <p:cNvPr id="97" name="Top3">
            <a:extLst>
              <a:ext uri="{FF2B5EF4-FFF2-40B4-BE49-F238E27FC236}">
                <a16:creationId xmlns:a16="http://schemas.microsoft.com/office/drawing/2014/main" id="{74429B3B-ADCA-CBB0-FD6A-7F5BF91704FB}"/>
              </a:ext>
            </a:extLst>
          </p:cNvPr>
          <p:cNvGrpSpPr/>
          <p:nvPr/>
        </p:nvGrpSpPr>
        <p:grpSpPr>
          <a:xfrm>
            <a:off x="9095206" y="2031161"/>
            <a:ext cx="2664392" cy="1150100"/>
            <a:chOff x="9179627" y="2007722"/>
            <a:chExt cx="2495550" cy="1077218"/>
          </a:xfrm>
        </p:grpSpPr>
        <p:sp>
          <p:nvSpPr>
            <p:cNvPr id="67" name="Flowchart: Document 66">
              <a:extLst>
                <a:ext uri="{FF2B5EF4-FFF2-40B4-BE49-F238E27FC236}">
                  <a16:creationId xmlns:a16="http://schemas.microsoft.com/office/drawing/2014/main" id="{D4DAC7BB-368A-B114-0AEE-D997D696330C}"/>
                </a:ext>
              </a:extLst>
            </p:cNvPr>
            <p:cNvSpPr/>
            <p:nvPr/>
          </p:nvSpPr>
          <p:spPr>
            <a:xfrm>
              <a:off x="9179627" y="2007722"/>
              <a:ext cx="2495550" cy="1077218"/>
            </a:xfrm>
            <a:prstGeom prst="flowChartDocument">
              <a:avLst/>
            </a:prstGeom>
            <a:gradFill flip="none" rotWithShape="1">
              <a:gsLst>
                <a:gs pos="0">
                  <a:srgbClr val="0F6067"/>
                </a:gs>
                <a:gs pos="48000">
                  <a:srgbClr val="4ED1C9"/>
                </a:gs>
                <a:gs pos="100000">
                  <a:srgbClr val="AFECE6"/>
                </a:gs>
              </a:gsLst>
              <a:lin ang="18900000" scaled="1"/>
              <a:tileRect/>
            </a:gradFill>
            <a:ln w="25400">
              <a:solidFill>
                <a:srgbClr val="A4E9E8"/>
              </a:solidFill>
            </a:ln>
            <a:effectLst>
              <a:outerShdw blurRad="190500" dist="63500" dir="2700000" sx="102000" sy="102000" algn="tl" rotWithShape="0">
                <a:schemeClr val="tx1">
                  <a:alpha val="5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EB939690-16D6-16F1-78F0-CA39235B9AF1}"/>
                </a:ext>
              </a:extLst>
            </p:cNvPr>
            <p:cNvGrpSpPr/>
            <p:nvPr/>
          </p:nvGrpSpPr>
          <p:grpSpPr>
            <a:xfrm>
              <a:off x="9585938" y="2079369"/>
              <a:ext cx="1682927" cy="750569"/>
              <a:chOff x="3093173" y="2054544"/>
              <a:chExt cx="1682927" cy="750569"/>
            </a:xfrm>
          </p:grpSpPr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2A76DA0E-9B3B-E4DD-C4E6-B2D95B5320F3}"/>
                  </a:ext>
                </a:extLst>
              </p:cNvPr>
              <p:cNvSpPr txBox="1"/>
              <p:nvPr/>
            </p:nvSpPr>
            <p:spPr>
              <a:xfrm>
                <a:off x="3405047" y="2054544"/>
                <a:ext cx="1059180" cy="400110"/>
              </a:xfrm>
              <a:prstGeom prst="rect">
                <a:avLst/>
              </a:prstGeom>
              <a:noFill/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1200"/>
                  </a:spcBef>
                </a:pPr>
                <a:r>
                  <a:rPr lang="en-US" sz="2000" dirty="0">
                    <a:solidFill>
                      <a:schemeClr val="bg1"/>
                    </a:solidFill>
                    <a:latin typeface="Impact" panose="020B0806030902050204" pitchFamily="34" charset="0"/>
                  </a:rPr>
                  <a:t>MODEL</a:t>
                </a:r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BA38ADBA-3F83-6C22-B729-2F630BD88E8E}"/>
                  </a:ext>
                </a:extLst>
              </p:cNvPr>
              <p:cNvSpPr txBox="1"/>
              <p:nvPr/>
            </p:nvSpPr>
            <p:spPr>
              <a:xfrm>
                <a:off x="3093173" y="2405003"/>
                <a:ext cx="1682927" cy="400110"/>
              </a:xfrm>
              <a:prstGeom prst="rect">
                <a:avLst/>
              </a:prstGeom>
              <a:noFill/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1200"/>
                  </a:spcBef>
                </a:pPr>
                <a:r>
                  <a:rPr lang="en-US" sz="2000" dirty="0">
                    <a:solidFill>
                      <a:schemeClr val="bg1"/>
                    </a:solidFill>
                    <a:latin typeface="Impact" panose="020B0806030902050204" pitchFamily="34" charset="0"/>
                  </a:rPr>
                  <a:t>SELECTION</a:t>
                </a:r>
              </a:p>
            </p:txBody>
          </p:sp>
        </p:grpSp>
      </p:grpSp>
      <p:grpSp>
        <p:nvGrpSpPr>
          <p:cNvPr id="95" name="Top1">
            <a:extLst>
              <a:ext uri="{FF2B5EF4-FFF2-40B4-BE49-F238E27FC236}">
                <a16:creationId xmlns:a16="http://schemas.microsoft.com/office/drawing/2014/main" id="{B58C5297-C5F2-7511-DA50-64D3FA34E364}"/>
              </a:ext>
            </a:extLst>
          </p:cNvPr>
          <p:cNvGrpSpPr/>
          <p:nvPr/>
        </p:nvGrpSpPr>
        <p:grpSpPr>
          <a:xfrm>
            <a:off x="2696879" y="2031161"/>
            <a:ext cx="2664392" cy="1150100"/>
            <a:chOff x="2781300" y="2007722"/>
            <a:chExt cx="2495550" cy="1077218"/>
          </a:xfrm>
        </p:grpSpPr>
        <p:sp>
          <p:nvSpPr>
            <p:cNvPr id="54" name="Flowchart: Document 53">
              <a:extLst>
                <a:ext uri="{FF2B5EF4-FFF2-40B4-BE49-F238E27FC236}">
                  <a16:creationId xmlns:a16="http://schemas.microsoft.com/office/drawing/2014/main" id="{09AB92CD-2930-7C07-0C79-2CB50CBCE2DF}"/>
                </a:ext>
              </a:extLst>
            </p:cNvPr>
            <p:cNvSpPr/>
            <p:nvPr/>
          </p:nvSpPr>
          <p:spPr>
            <a:xfrm>
              <a:off x="2781300" y="2007722"/>
              <a:ext cx="2495550" cy="1077218"/>
            </a:xfrm>
            <a:prstGeom prst="flowChartDocument">
              <a:avLst/>
            </a:prstGeom>
            <a:gradFill flip="none" rotWithShape="1">
              <a:gsLst>
                <a:gs pos="0">
                  <a:srgbClr val="0F6067"/>
                </a:gs>
                <a:gs pos="48000">
                  <a:srgbClr val="4ED1C9"/>
                </a:gs>
                <a:gs pos="100000">
                  <a:srgbClr val="AFECE6"/>
                </a:gs>
              </a:gsLst>
              <a:lin ang="18900000" scaled="1"/>
              <a:tileRect/>
            </a:gradFill>
            <a:ln w="25400">
              <a:solidFill>
                <a:srgbClr val="A4E9E8"/>
              </a:solidFill>
            </a:ln>
            <a:effectLst>
              <a:outerShdw blurRad="190500" dist="63500" dir="2700000" sx="102000" sy="102000" algn="tl" rotWithShape="0">
                <a:schemeClr val="tx1">
                  <a:alpha val="5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87AB794E-9E2B-37FF-7693-E2A20662F7CE}"/>
                </a:ext>
              </a:extLst>
            </p:cNvPr>
            <p:cNvGrpSpPr/>
            <p:nvPr/>
          </p:nvGrpSpPr>
          <p:grpSpPr>
            <a:xfrm>
              <a:off x="3187610" y="2066110"/>
              <a:ext cx="1682927" cy="750569"/>
              <a:chOff x="3093173" y="2054544"/>
              <a:chExt cx="1682927" cy="750569"/>
            </a:xfrm>
          </p:grpSpPr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DE15E795-A85C-8F31-690D-CEC2C859B482}"/>
                  </a:ext>
                </a:extLst>
              </p:cNvPr>
              <p:cNvSpPr txBox="1"/>
              <p:nvPr/>
            </p:nvSpPr>
            <p:spPr>
              <a:xfrm>
                <a:off x="3405047" y="2054544"/>
                <a:ext cx="1059180" cy="400110"/>
              </a:xfrm>
              <a:prstGeom prst="rect">
                <a:avLst/>
              </a:prstGeom>
              <a:noFill/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1200"/>
                  </a:spcBef>
                </a:pPr>
                <a:r>
                  <a:rPr lang="en-US" sz="2000" dirty="0">
                    <a:solidFill>
                      <a:schemeClr val="bg1"/>
                    </a:solidFill>
                    <a:latin typeface="Impact" panose="020B0806030902050204" pitchFamily="34" charset="0"/>
                  </a:rPr>
                  <a:t>FEATURE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203F6991-7764-991F-00E0-B88B0E2D53A0}"/>
                  </a:ext>
                </a:extLst>
              </p:cNvPr>
              <p:cNvSpPr txBox="1"/>
              <p:nvPr/>
            </p:nvSpPr>
            <p:spPr>
              <a:xfrm>
                <a:off x="3093173" y="2405003"/>
                <a:ext cx="1682927" cy="400110"/>
              </a:xfrm>
              <a:prstGeom prst="rect">
                <a:avLst/>
              </a:prstGeom>
              <a:noFill/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1200"/>
                  </a:spcBef>
                </a:pPr>
                <a:r>
                  <a:rPr lang="en-US" sz="2000" dirty="0">
                    <a:solidFill>
                      <a:schemeClr val="bg1"/>
                    </a:solidFill>
                    <a:latin typeface="Impact" panose="020B0806030902050204" pitchFamily="34" charset="0"/>
                  </a:rPr>
                  <a:t>ENGINEERING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030536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"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enreGroup">
            <a:extLst>
              <a:ext uri="{FF2B5EF4-FFF2-40B4-BE49-F238E27FC236}">
                <a16:creationId xmlns:a16="http://schemas.microsoft.com/office/drawing/2014/main" id="{F4835296-BC33-95BA-7921-5C2EDE1A66CA}"/>
              </a:ext>
            </a:extLst>
          </p:cNvPr>
          <p:cNvGrpSpPr/>
          <p:nvPr/>
        </p:nvGrpSpPr>
        <p:grpSpPr>
          <a:xfrm>
            <a:off x="144780" y="1155920"/>
            <a:ext cx="688120" cy="688120"/>
            <a:chOff x="1291650" y="1523447"/>
            <a:chExt cx="908106" cy="908106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1C8877BE-426A-03AD-99D4-85EC7DDB0A51}"/>
                </a:ext>
              </a:extLst>
            </p:cNvPr>
            <p:cNvSpPr/>
            <p:nvPr/>
          </p:nvSpPr>
          <p:spPr>
            <a:xfrm>
              <a:off x="1291650" y="1523447"/>
              <a:ext cx="908106" cy="90810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41F763AD-FE66-3134-7E72-78F01C444C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72681" y="1704478"/>
              <a:ext cx="546044" cy="546044"/>
            </a:xfrm>
            <a:prstGeom prst="rect">
              <a:avLst/>
            </a:prstGeom>
            <a:noFill/>
          </p:spPr>
        </p:pic>
      </p:grpSp>
      <p:grpSp>
        <p:nvGrpSpPr>
          <p:cNvPr id="39" name="PredictionGroup">
            <a:extLst>
              <a:ext uri="{FF2B5EF4-FFF2-40B4-BE49-F238E27FC236}">
                <a16:creationId xmlns:a16="http://schemas.microsoft.com/office/drawing/2014/main" id="{CC6F9C4F-0EDB-1953-7E4E-1A838F60BD24}"/>
              </a:ext>
            </a:extLst>
          </p:cNvPr>
          <p:cNvGrpSpPr/>
          <p:nvPr/>
        </p:nvGrpSpPr>
        <p:grpSpPr>
          <a:xfrm>
            <a:off x="1060704" y="2740880"/>
            <a:ext cx="688120" cy="688120"/>
            <a:chOff x="1270054" y="2679920"/>
            <a:chExt cx="688120" cy="68812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90977EB-9F40-80FA-3D3F-5094DFC0AB17}"/>
                </a:ext>
              </a:extLst>
            </p:cNvPr>
            <p:cNvSpPr/>
            <p:nvPr/>
          </p:nvSpPr>
          <p:spPr>
            <a:xfrm>
              <a:off x="1270054" y="2679920"/>
              <a:ext cx="688120" cy="6881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C0D2A5C2-B10C-4716-00A1-24AAA95FD6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23614" y="2833480"/>
              <a:ext cx="381000" cy="381000"/>
            </a:xfrm>
            <a:prstGeom prst="rect">
              <a:avLst/>
            </a:prstGeom>
          </p:spPr>
        </p:pic>
      </p:grpSp>
      <p:grpSp>
        <p:nvGrpSpPr>
          <p:cNvPr id="45" name="RecommedGroup">
            <a:extLst>
              <a:ext uri="{FF2B5EF4-FFF2-40B4-BE49-F238E27FC236}">
                <a16:creationId xmlns:a16="http://schemas.microsoft.com/office/drawing/2014/main" id="{346C7459-A937-5053-7B85-4033ECF1A46F}"/>
              </a:ext>
            </a:extLst>
          </p:cNvPr>
          <p:cNvGrpSpPr/>
          <p:nvPr/>
        </p:nvGrpSpPr>
        <p:grpSpPr>
          <a:xfrm>
            <a:off x="146304" y="4325840"/>
            <a:ext cx="688120" cy="688120"/>
            <a:chOff x="1291920" y="4082000"/>
            <a:chExt cx="688120" cy="68812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CD1D5E4E-7836-88DD-A915-D540BBC5F4C0}"/>
                </a:ext>
              </a:extLst>
            </p:cNvPr>
            <p:cNvSpPr/>
            <p:nvPr/>
          </p:nvSpPr>
          <p:spPr>
            <a:xfrm>
              <a:off x="1291920" y="4082000"/>
              <a:ext cx="688120" cy="6881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1D79C1E6-C54B-3500-E562-E8BA84BDDD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34308" y="4187727"/>
              <a:ext cx="425230" cy="425230"/>
            </a:xfrm>
            <a:prstGeom prst="rect">
              <a:avLst/>
            </a:prstGeom>
          </p:spPr>
        </p:pic>
      </p:grp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8C47927-C74A-DCCA-2956-03A5AA6EA599}"/>
              </a:ext>
            </a:extLst>
          </p:cNvPr>
          <p:cNvSpPr/>
          <p:nvPr/>
        </p:nvSpPr>
        <p:spPr>
          <a:xfrm>
            <a:off x="0" y="-2524125"/>
            <a:ext cx="1059180" cy="10953750"/>
          </a:xfrm>
          <a:custGeom>
            <a:avLst/>
            <a:gdLst>
              <a:gd name="connsiteX0" fmla="*/ 0 w 1059180"/>
              <a:gd name="connsiteY0" fmla="*/ 0 h 10953750"/>
              <a:gd name="connsiteX1" fmla="*/ 1059180 w 1059180"/>
              <a:gd name="connsiteY1" fmla="*/ 0 h 10953750"/>
              <a:gd name="connsiteX2" fmla="*/ 1059180 w 1059180"/>
              <a:gd name="connsiteY2" fmla="*/ 4095750 h 10953750"/>
              <a:gd name="connsiteX3" fmla="*/ 1059180 w 1059180"/>
              <a:gd name="connsiteY3" fmla="*/ 4732823 h 10953750"/>
              <a:gd name="connsiteX4" fmla="*/ 822011 w 1059180"/>
              <a:gd name="connsiteY4" fmla="*/ 5352335 h 10953750"/>
              <a:gd name="connsiteX5" fmla="*/ 822011 w 1059180"/>
              <a:gd name="connsiteY5" fmla="*/ 5826673 h 10953750"/>
              <a:gd name="connsiteX6" fmla="*/ 1059180 w 1059180"/>
              <a:gd name="connsiteY6" fmla="*/ 6446185 h 10953750"/>
              <a:gd name="connsiteX7" fmla="*/ 1059180 w 1059180"/>
              <a:gd name="connsiteY7" fmla="*/ 10953750 h 10953750"/>
              <a:gd name="connsiteX8" fmla="*/ 0 w 1059180"/>
              <a:gd name="connsiteY8" fmla="*/ 10953750 h 10953750"/>
              <a:gd name="connsiteX9" fmla="*/ 0 w 1059180"/>
              <a:gd name="connsiteY9" fmla="*/ 4095750 h 10953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59180" h="10953750">
                <a:moveTo>
                  <a:pt x="0" y="0"/>
                </a:moveTo>
                <a:lnTo>
                  <a:pt x="1059180" y="0"/>
                </a:lnTo>
                <a:lnTo>
                  <a:pt x="1059180" y="4095750"/>
                </a:lnTo>
                <a:lnTo>
                  <a:pt x="1059180" y="4732823"/>
                </a:lnTo>
                <a:cubicBezTo>
                  <a:pt x="1043847" y="5003051"/>
                  <a:pt x="964792" y="5209555"/>
                  <a:pt x="822011" y="5352335"/>
                </a:cubicBezTo>
                <a:cubicBezTo>
                  <a:pt x="691027" y="5483320"/>
                  <a:pt x="691027" y="5695688"/>
                  <a:pt x="822011" y="5826673"/>
                </a:cubicBezTo>
                <a:cubicBezTo>
                  <a:pt x="964792" y="5969453"/>
                  <a:pt x="1043847" y="6175957"/>
                  <a:pt x="1059180" y="6446185"/>
                </a:cubicBezTo>
                <a:lnTo>
                  <a:pt x="1059180" y="10953750"/>
                </a:lnTo>
                <a:lnTo>
                  <a:pt x="0" y="10953750"/>
                </a:lnTo>
                <a:lnTo>
                  <a:pt x="0" y="409575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>
            <a:outerShdw blurRad="190500" dist="190500" sx="103000" sy="103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pic>
        <p:nvPicPr>
          <p:cNvPr id="49" name="Recommendation">
            <a:extLst>
              <a:ext uri="{FF2B5EF4-FFF2-40B4-BE49-F238E27FC236}">
                <a16:creationId xmlns:a16="http://schemas.microsoft.com/office/drawing/2014/main" id="{E50AB85D-DFC1-798A-BAC5-F29DA399E1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08" y="4407278"/>
            <a:ext cx="473808" cy="473808"/>
          </a:xfrm>
          <a:prstGeom prst="rect">
            <a:avLst/>
          </a:prstGeom>
        </p:spPr>
      </p:pic>
      <p:pic>
        <p:nvPicPr>
          <p:cNvPr id="55" name="Genre">
            <a:extLst>
              <a:ext uri="{FF2B5EF4-FFF2-40B4-BE49-F238E27FC236}">
                <a16:creationId xmlns:a16="http://schemas.microsoft.com/office/drawing/2014/main" id="{5F75BBD9-9632-CC7A-6FC4-37EA2B0B586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08" y="1198634"/>
            <a:ext cx="482430" cy="482430"/>
          </a:xfrm>
          <a:prstGeom prst="rect">
            <a:avLst/>
          </a:prstGeom>
        </p:spPr>
      </p:pic>
      <p:grpSp>
        <p:nvGrpSpPr>
          <p:cNvPr id="108" name="Content1">
            <a:extLst>
              <a:ext uri="{FF2B5EF4-FFF2-40B4-BE49-F238E27FC236}">
                <a16:creationId xmlns:a16="http://schemas.microsoft.com/office/drawing/2014/main" id="{D53DF961-A55B-B22E-333B-D31545DE160B}"/>
              </a:ext>
            </a:extLst>
          </p:cNvPr>
          <p:cNvGrpSpPr/>
          <p:nvPr/>
        </p:nvGrpSpPr>
        <p:grpSpPr>
          <a:xfrm>
            <a:off x="2781300" y="2914561"/>
            <a:ext cx="2449009" cy="5092978"/>
            <a:chOff x="2781300" y="3228061"/>
            <a:chExt cx="2449009" cy="5092978"/>
          </a:xfrm>
        </p:grpSpPr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CBF5189D-052E-E304-3F8B-5BA51F055D1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81300" y="6103619"/>
              <a:ext cx="2217420" cy="2217420"/>
            </a:xfrm>
            <a:prstGeom prst="rect">
              <a:avLst/>
            </a:prstGeom>
          </p:spPr>
        </p:pic>
        <p:sp>
          <p:nvSpPr>
            <p:cNvPr id="56" name="Rectangle: Top Corners Rounded 55">
              <a:extLst>
                <a:ext uri="{FF2B5EF4-FFF2-40B4-BE49-F238E27FC236}">
                  <a16:creationId xmlns:a16="http://schemas.microsoft.com/office/drawing/2014/main" id="{0786EC6B-F627-DC57-FBB3-721DB5934782}"/>
                </a:ext>
              </a:extLst>
            </p:cNvPr>
            <p:cNvSpPr/>
            <p:nvPr/>
          </p:nvSpPr>
          <p:spPr>
            <a:xfrm rot="10800000">
              <a:off x="2827841" y="3228061"/>
              <a:ext cx="2402468" cy="2875558"/>
            </a:xfrm>
            <a:prstGeom prst="round2SameRect">
              <a:avLst/>
            </a:prstGeom>
            <a:solidFill>
              <a:srgbClr val="145865"/>
            </a:solidFill>
            <a:ln w="25400">
              <a:solidFill>
                <a:srgbClr val="A4E9E8"/>
              </a:solidFill>
            </a:ln>
            <a:effectLst>
              <a:outerShdw blurRad="190500" dist="63500" dir="2700000" sx="102000" sy="102000" algn="tl" rotWithShape="0">
                <a:srgbClr val="145865">
                  <a:alpha val="7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1A1D81D-9414-F5B3-7FAD-EF5DAF7111BA}"/>
                </a:ext>
              </a:extLst>
            </p:cNvPr>
            <p:cNvSpPr txBox="1"/>
            <p:nvPr/>
          </p:nvSpPr>
          <p:spPr>
            <a:xfrm>
              <a:off x="2876831" y="3645067"/>
              <a:ext cx="2304487" cy="215443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285750" indent="-285750">
                <a:spcBef>
                  <a:spcPts val="1200"/>
                </a:spcBef>
                <a:buFont typeface="Wingdings" panose="05000000000000000000" pitchFamily="2" charset="2"/>
                <a:buChar char="ü"/>
              </a:pPr>
              <a:r>
                <a:rPr lang="en-US" sz="14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Linear Regression Score:</a:t>
              </a:r>
            </a:p>
            <a:p>
              <a:pPr marL="742950" lvl="1" indent="-28575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Train: 0.917</a:t>
              </a:r>
            </a:p>
            <a:p>
              <a:pPr marL="742950" lvl="1" indent="-28575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Test: 0.921</a:t>
              </a:r>
            </a:p>
            <a:p>
              <a:pPr marL="285750" indent="-285750">
                <a:spcBef>
                  <a:spcPts val="1200"/>
                </a:spcBef>
                <a:buFont typeface="Wingdings" panose="05000000000000000000" pitchFamily="2" charset="2"/>
                <a:buChar char="ü"/>
              </a:pPr>
              <a:r>
                <a:rPr lang="en-US" sz="14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Random Forest Score:</a:t>
              </a:r>
            </a:p>
            <a:p>
              <a:pPr marL="742950" lvl="1" indent="-285750">
                <a:spcBef>
                  <a:spcPts val="1200"/>
                </a:spcBef>
                <a:buFont typeface="Wingdings" panose="05000000000000000000" pitchFamily="2" charset="2"/>
                <a:buChar char="ü"/>
              </a:pPr>
              <a:r>
                <a:rPr lang="en-US" sz="14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Train: 0.98</a:t>
              </a:r>
            </a:p>
            <a:p>
              <a:pPr marL="742950" lvl="1" indent="-285750">
                <a:spcBef>
                  <a:spcPts val="1200"/>
                </a:spcBef>
                <a:buFont typeface="Wingdings" panose="05000000000000000000" pitchFamily="2" charset="2"/>
                <a:buChar char="ü"/>
              </a:pPr>
              <a:r>
                <a:rPr lang="en-US" sz="14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Test: 0.921</a:t>
              </a:r>
            </a:p>
          </p:txBody>
        </p:sp>
      </p:grpSp>
      <p:grpSp>
        <p:nvGrpSpPr>
          <p:cNvPr id="110" name="Content2">
            <a:extLst>
              <a:ext uri="{FF2B5EF4-FFF2-40B4-BE49-F238E27FC236}">
                <a16:creationId xmlns:a16="http://schemas.microsoft.com/office/drawing/2014/main" id="{1BA63315-8625-5F24-268B-D194F4847F3A}"/>
              </a:ext>
            </a:extLst>
          </p:cNvPr>
          <p:cNvGrpSpPr/>
          <p:nvPr/>
        </p:nvGrpSpPr>
        <p:grpSpPr>
          <a:xfrm>
            <a:off x="6003734" y="2914562"/>
            <a:ext cx="2425738" cy="5092977"/>
            <a:chOff x="6003734" y="3228062"/>
            <a:chExt cx="2425738" cy="5092977"/>
          </a:xfrm>
        </p:grpSpPr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BF092455-C2BA-9680-D97F-2A0DD2F5DEB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03734" y="6103619"/>
              <a:ext cx="2217420" cy="2217420"/>
            </a:xfrm>
            <a:prstGeom prst="rect">
              <a:avLst/>
            </a:prstGeom>
          </p:spPr>
        </p:pic>
        <p:sp>
          <p:nvSpPr>
            <p:cNvPr id="63" name="Rectangle: Top Corners Rounded 62">
              <a:extLst>
                <a:ext uri="{FF2B5EF4-FFF2-40B4-BE49-F238E27FC236}">
                  <a16:creationId xmlns:a16="http://schemas.microsoft.com/office/drawing/2014/main" id="{FEB673DB-B4FE-B276-1A12-23267F963238}"/>
                </a:ext>
              </a:extLst>
            </p:cNvPr>
            <p:cNvSpPr/>
            <p:nvPr/>
          </p:nvSpPr>
          <p:spPr>
            <a:xfrm rot="10800000">
              <a:off x="6027004" y="3228062"/>
              <a:ext cx="2402468" cy="2875558"/>
            </a:xfrm>
            <a:prstGeom prst="round2SameRect">
              <a:avLst/>
            </a:prstGeom>
            <a:solidFill>
              <a:srgbClr val="145865"/>
            </a:solidFill>
            <a:ln w="25400">
              <a:solidFill>
                <a:srgbClr val="A4E9E8"/>
              </a:solidFill>
            </a:ln>
            <a:effectLst>
              <a:outerShdw blurRad="190500" dist="63500" dir="2700000" sx="102000" sy="102000" algn="tl" rotWithShape="0">
                <a:srgbClr val="145865">
                  <a:alpha val="7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413E672F-FB98-E4B5-5489-D567662C29BE}"/>
                </a:ext>
              </a:extLst>
            </p:cNvPr>
            <p:cNvSpPr txBox="1"/>
            <p:nvPr/>
          </p:nvSpPr>
          <p:spPr>
            <a:xfrm>
              <a:off x="6075994" y="3645068"/>
              <a:ext cx="2304487" cy="233910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285750" indent="-285750">
                <a:spcBef>
                  <a:spcPts val="1200"/>
                </a:spcBef>
                <a:buFont typeface="Wingdings" panose="05000000000000000000" pitchFamily="2" charset="2"/>
                <a:buChar char="ü"/>
              </a:pPr>
              <a:r>
                <a:rPr lang="en-US" sz="14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Director Score &amp; Star Score has appeared to be the most important features</a:t>
              </a:r>
            </a:p>
            <a:p>
              <a:pPr marL="285750" indent="-285750">
                <a:spcBef>
                  <a:spcPts val="1200"/>
                </a:spcBef>
                <a:buFont typeface="Wingdings" panose="05000000000000000000" pitchFamily="2" charset="2"/>
                <a:buChar char="ü"/>
              </a:pPr>
              <a:r>
                <a:rPr lang="en-US" sz="14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Votes, Watchlist Count and </a:t>
              </a:r>
              <a:r>
                <a:rPr lang="en-US" sz="1400" dirty="0" err="1">
                  <a:solidFill>
                    <a:schemeClr val="bg1"/>
                  </a:solidFill>
                  <a:latin typeface="Candara Light" panose="020E0502030303020204" pitchFamily="34" charset="0"/>
                </a:rPr>
                <a:t>Metascore</a:t>
              </a:r>
              <a:r>
                <a:rPr lang="en-US" sz="14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 also give decent contribution.</a:t>
              </a:r>
            </a:p>
            <a:p>
              <a:pPr marL="285750" indent="-285750">
                <a:spcBef>
                  <a:spcPts val="1200"/>
                </a:spcBef>
                <a:buFont typeface="Wingdings" panose="05000000000000000000" pitchFamily="2" charset="2"/>
                <a:buChar char="ü"/>
              </a:pPr>
              <a:r>
                <a:rPr lang="en-US" sz="14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Duration has less impact.</a:t>
              </a:r>
            </a:p>
          </p:txBody>
        </p:sp>
      </p:grpSp>
      <p:grpSp>
        <p:nvGrpSpPr>
          <p:cNvPr id="112" name="Content3">
            <a:extLst>
              <a:ext uri="{FF2B5EF4-FFF2-40B4-BE49-F238E27FC236}">
                <a16:creationId xmlns:a16="http://schemas.microsoft.com/office/drawing/2014/main" id="{33D95DDB-E706-986B-7272-5421F28AF041}"/>
              </a:ext>
            </a:extLst>
          </p:cNvPr>
          <p:cNvGrpSpPr/>
          <p:nvPr/>
        </p:nvGrpSpPr>
        <p:grpSpPr>
          <a:xfrm>
            <a:off x="9226167" y="2914562"/>
            <a:ext cx="2402469" cy="5092977"/>
            <a:chOff x="9226167" y="3228062"/>
            <a:chExt cx="2402469" cy="5092977"/>
          </a:xfrm>
        </p:grpSpPr>
        <p:pic>
          <p:nvPicPr>
            <p:cNvPr id="111" name="Picture 110">
              <a:extLst>
                <a:ext uri="{FF2B5EF4-FFF2-40B4-BE49-F238E27FC236}">
                  <a16:creationId xmlns:a16="http://schemas.microsoft.com/office/drawing/2014/main" id="{1AC08FF5-932E-447E-27E1-0DAB61B838E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26167" y="6103619"/>
              <a:ext cx="2217420" cy="2217420"/>
            </a:xfrm>
            <a:prstGeom prst="rect">
              <a:avLst/>
            </a:prstGeom>
          </p:spPr>
        </p:pic>
        <p:sp>
          <p:nvSpPr>
            <p:cNvPr id="66" name="Rectangle: Top Corners Rounded 65">
              <a:extLst>
                <a:ext uri="{FF2B5EF4-FFF2-40B4-BE49-F238E27FC236}">
                  <a16:creationId xmlns:a16="http://schemas.microsoft.com/office/drawing/2014/main" id="{DD641515-479C-24BA-12A5-C0B0FADB057F}"/>
                </a:ext>
              </a:extLst>
            </p:cNvPr>
            <p:cNvSpPr/>
            <p:nvPr/>
          </p:nvSpPr>
          <p:spPr>
            <a:xfrm rot="10800000">
              <a:off x="9226168" y="3228062"/>
              <a:ext cx="2402468" cy="2875558"/>
            </a:xfrm>
            <a:prstGeom prst="round2SameRect">
              <a:avLst/>
            </a:prstGeom>
            <a:solidFill>
              <a:srgbClr val="145865"/>
            </a:solidFill>
            <a:ln w="25400">
              <a:solidFill>
                <a:srgbClr val="A4E9E8"/>
              </a:solidFill>
            </a:ln>
            <a:effectLst>
              <a:outerShdw blurRad="190500" dist="63500" dir="2700000" sx="102000" sy="102000" algn="tl" rotWithShape="0">
                <a:srgbClr val="145865">
                  <a:alpha val="7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C2D5A73B-A1AD-3FBA-99AB-CD72F9F02C80}"/>
                </a:ext>
              </a:extLst>
            </p:cNvPr>
            <p:cNvSpPr txBox="1"/>
            <p:nvPr/>
          </p:nvSpPr>
          <p:spPr>
            <a:xfrm>
              <a:off x="9275157" y="3645068"/>
              <a:ext cx="2304487" cy="233910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285750" indent="-285750">
                <a:spcBef>
                  <a:spcPts val="1200"/>
                </a:spcBef>
                <a:buFont typeface="Wingdings" panose="05000000000000000000" pitchFamily="2" charset="2"/>
                <a:buChar char="ü"/>
              </a:pPr>
              <a:r>
                <a:rPr lang="en-US" sz="14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Both models tested on the new 2025-26 movies dataset.</a:t>
              </a:r>
            </a:p>
            <a:p>
              <a:pPr marL="285750" indent="-285750">
                <a:spcBef>
                  <a:spcPts val="1200"/>
                </a:spcBef>
                <a:buFont typeface="Wingdings" panose="05000000000000000000" pitchFamily="2" charset="2"/>
                <a:buChar char="ü"/>
              </a:pPr>
              <a:r>
                <a:rPr lang="en-US" sz="14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Both models give very less score (~0.3 – 0.4) </a:t>
              </a:r>
            </a:p>
            <a:p>
              <a:pPr marL="285750" indent="-285750">
                <a:spcBef>
                  <a:spcPts val="1200"/>
                </a:spcBef>
                <a:buFont typeface="Wingdings" panose="05000000000000000000" pitchFamily="2" charset="2"/>
                <a:buChar char="ü"/>
              </a:pPr>
              <a:r>
                <a:rPr lang="en-US" sz="14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As movie rating depends on many external factors both models has been overfitted.</a:t>
              </a:r>
            </a:p>
          </p:txBody>
        </p:sp>
      </p:grpSp>
      <p:sp useBgFill="1">
        <p:nvSpPr>
          <p:cNvPr id="94" name="Rectangle 93">
            <a:extLst>
              <a:ext uri="{FF2B5EF4-FFF2-40B4-BE49-F238E27FC236}">
                <a16:creationId xmlns:a16="http://schemas.microsoft.com/office/drawing/2014/main" id="{6019F74D-F679-3BA5-2ABA-C77579BA5D5C}"/>
              </a:ext>
            </a:extLst>
          </p:cNvPr>
          <p:cNvSpPr/>
          <p:nvPr/>
        </p:nvSpPr>
        <p:spPr>
          <a:xfrm>
            <a:off x="1595264" y="-7395"/>
            <a:ext cx="10596736" cy="2352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B37C06-B68B-FAE7-FEBB-BB5DBAF8AC43}"/>
              </a:ext>
            </a:extLst>
          </p:cNvPr>
          <p:cNvSpPr txBox="1"/>
          <p:nvPr/>
        </p:nvSpPr>
        <p:spPr>
          <a:xfrm>
            <a:off x="2781300" y="371032"/>
            <a:ext cx="8305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008080"/>
                </a:solidFill>
                <a:latin typeface="Montserrat" pitchFamily="2" charset="0"/>
              </a:rPr>
              <a:t>Rating</a:t>
            </a:r>
            <a:r>
              <a:rPr lang="en-US" sz="4800" dirty="0">
                <a:solidFill>
                  <a:schemeClr val="accent4"/>
                </a:solidFill>
                <a:latin typeface="Montserrat" pitchFamily="2" charset="0"/>
              </a:rPr>
              <a:t> </a:t>
            </a:r>
            <a:r>
              <a:rPr lang="en-US" sz="4800" dirty="0">
                <a:solidFill>
                  <a:srgbClr val="2D2D2D"/>
                </a:solidFill>
                <a:latin typeface="Montserrat" pitchFamily="2" charset="0"/>
              </a:rPr>
              <a:t>Prediction</a:t>
            </a:r>
            <a:endParaRPr lang="en-IN" sz="4800" dirty="0">
              <a:solidFill>
                <a:srgbClr val="2D2D2D"/>
              </a:solidFill>
              <a:latin typeface="Montserrat" pitchFamily="2" charset="0"/>
            </a:endParaRPr>
          </a:p>
        </p:txBody>
      </p:sp>
      <p:grpSp>
        <p:nvGrpSpPr>
          <p:cNvPr id="96" name="Top2">
            <a:extLst>
              <a:ext uri="{FF2B5EF4-FFF2-40B4-BE49-F238E27FC236}">
                <a16:creationId xmlns:a16="http://schemas.microsoft.com/office/drawing/2014/main" id="{27553BFB-0B1D-B89A-1D04-4F52EC2F3C97}"/>
              </a:ext>
            </a:extLst>
          </p:cNvPr>
          <p:cNvGrpSpPr/>
          <p:nvPr/>
        </p:nvGrpSpPr>
        <p:grpSpPr>
          <a:xfrm>
            <a:off x="5896042" y="2031161"/>
            <a:ext cx="2664392" cy="1150100"/>
            <a:chOff x="5931569" y="2007722"/>
            <a:chExt cx="2495550" cy="1077218"/>
          </a:xfrm>
        </p:grpSpPr>
        <p:sp>
          <p:nvSpPr>
            <p:cNvPr id="64" name="Flowchart: Document 63">
              <a:extLst>
                <a:ext uri="{FF2B5EF4-FFF2-40B4-BE49-F238E27FC236}">
                  <a16:creationId xmlns:a16="http://schemas.microsoft.com/office/drawing/2014/main" id="{3C062832-CE12-83BF-CDC0-7342F2CC0446}"/>
                </a:ext>
              </a:extLst>
            </p:cNvPr>
            <p:cNvSpPr/>
            <p:nvPr/>
          </p:nvSpPr>
          <p:spPr>
            <a:xfrm>
              <a:off x="5931569" y="2007722"/>
              <a:ext cx="2495550" cy="1077218"/>
            </a:xfrm>
            <a:prstGeom prst="flowChartDocument">
              <a:avLst/>
            </a:prstGeom>
            <a:gradFill flip="none" rotWithShape="1">
              <a:gsLst>
                <a:gs pos="0">
                  <a:srgbClr val="0F6067"/>
                </a:gs>
                <a:gs pos="48000">
                  <a:srgbClr val="4ED1C9"/>
                </a:gs>
                <a:gs pos="100000">
                  <a:srgbClr val="AFECE6"/>
                </a:gs>
              </a:gsLst>
              <a:lin ang="18900000" scaled="1"/>
              <a:tileRect/>
            </a:gradFill>
            <a:ln w="25400">
              <a:solidFill>
                <a:srgbClr val="A4E9E8"/>
              </a:solidFill>
            </a:ln>
            <a:effectLst>
              <a:outerShdw blurRad="190500" dist="63500" dir="2700000" sx="102000" sy="102000" algn="tl" rotWithShape="0">
                <a:schemeClr val="tx1">
                  <a:alpha val="5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00984889-9D04-CC8B-65FB-A4F72096EED1}"/>
                </a:ext>
              </a:extLst>
            </p:cNvPr>
            <p:cNvGrpSpPr/>
            <p:nvPr/>
          </p:nvGrpSpPr>
          <p:grpSpPr>
            <a:xfrm>
              <a:off x="6337879" y="2090935"/>
              <a:ext cx="1682927" cy="725214"/>
              <a:chOff x="3093173" y="2054544"/>
              <a:chExt cx="1682927" cy="725214"/>
            </a:xfrm>
          </p:grpSpPr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4FAFEBBA-F801-ABDA-974E-8C7F803D2FE4}"/>
                  </a:ext>
                </a:extLst>
              </p:cNvPr>
              <p:cNvSpPr txBox="1"/>
              <p:nvPr/>
            </p:nvSpPr>
            <p:spPr>
              <a:xfrm>
                <a:off x="3405047" y="2054544"/>
                <a:ext cx="1059180" cy="400110"/>
              </a:xfrm>
              <a:prstGeom prst="rect">
                <a:avLst/>
              </a:prstGeom>
              <a:noFill/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1200"/>
                  </a:spcBef>
                </a:pPr>
                <a:r>
                  <a:rPr lang="en-US" sz="2000" dirty="0">
                    <a:solidFill>
                      <a:schemeClr val="bg1"/>
                    </a:solidFill>
                    <a:latin typeface="Impact" panose="020B0806030902050204" pitchFamily="34" charset="0"/>
                  </a:rPr>
                  <a:t>FEATURE</a:t>
                </a: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68CDE52F-99BE-6611-44CD-A1DC72C4A117}"/>
                  </a:ext>
                </a:extLst>
              </p:cNvPr>
              <p:cNvSpPr txBox="1"/>
              <p:nvPr/>
            </p:nvSpPr>
            <p:spPr>
              <a:xfrm>
                <a:off x="3093173" y="2405003"/>
                <a:ext cx="1682927" cy="374755"/>
              </a:xfrm>
              <a:prstGeom prst="rect">
                <a:avLst/>
              </a:prstGeom>
              <a:noFill/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1200"/>
                  </a:spcBef>
                </a:pPr>
                <a:r>
                  <a:rPr lang="en-US" sz="2000" dirty="0">
                    <a:solidFill>
                      <a:schemeClr val="bg1"/>
                    </a:solidFill>
                    <a:latin typeface="Impact" panose="020B0806030902050204" pitchFamily="34" charset="0"/>
                  </a:rPr>
                  <a:t>IMPORTANCE</a:t>
                </a:r>
              </a:p>
            </p:txBody>
          </p:sp>
        </p:grpSp>
      </p:grpSp>
      <p:grpSp>
        <p:nvGrpSpPr>
          <p:cNvPr id="97" name="Top3">
            <a:extLst>
              <a:ext uri="{FF2B5EF4-FFF2-40B4-BE49-F238E27FC236}">
                <a16:creationId xmlns:a16="http://schemas.microsoft.com/office/drawing/2014/main" id="{74429B3B-ADCA-CBB0-FD6A-7F5BF91704FB}"/>
              </a:ext>
            </a:extLst>
          </p:cNvPr>
          <p:cNvGrpSpPr/>
          <p:nvPr/>
        </p:nvGrpSpPr>
        <p:grpSpPr>
          <a:xfrm>
            <a:off x="9095206" y="2031161"/>
            <a:ext cx="2664392" cy="1150100"/>
            <a:chOff x="9179627" y="2007722"/>
            <a:chExt cx="2495550" cy="1077218"/>
          </a:xfrm>
        </p:grpSpPr>
        <p:sp>
          <p:nvSpPr>
            <p:cNvPr id="67" name="Flowchart: Document 66">
              <a:extLst>
                <a:ext uri="{FF2B5EF4-FFF2-40B4-BE49-F238E27FC236}">
                  <a16:creationId xmlns:a16="http://schemas.microsoft.com/office/drawing/2014/main" id="{D4DAC7BB-368A-B114-0AEE-D997D696330C}"/>
                </a:ext>
              </a:extLst>
            </p:cNvPr>
            <p:cNvSpPr/>
            <p:nvPr/>
          </p:nvSpPr>
          <p:spPr>
            <a:xfrm>
              <a:off x="9179627" y="2007722"/>
              <a:ext cx="2495550" cy="1077218"/>
            </a:xfrm>
            <a:prstGeom prst="flowChartDocument">
              <a:avLst/>
            </a:prstGeom>
            <a:gradFill flip="none" rotWithShape="1">
              <a:gsLst>
                <a:gs pos="0">
                  <a:srgbClr val="0F6067"/>
                </a:gs>
                <a:gs pos="48000">
                  <a:srgbClr val="4ED1C9"/>
                </a:gs>
                <a:gs pos="100000">
                  <a:srgbClr val="AFECE6"/>
                </a:gs>
              </a:gsLst>
              <a:lin ang="18900000" scaled="1"/>
              <a:tileRect/>
            </a:gradFill>
            <a:ln w="25400">
              <a:solidFill>
                <a:srgbClr val="A4E9E8"/>
              </a:solidFill>
            </a:ln>
            <a:effectLst>
              <a:outerShdw blurRad="190500" dist="63500" dir="2700000" sx="102000" sy="102000" algn="tl" rotWithShape="0">
                <a:schemeClr val="tx1">
                  <a:alpha val="5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EB939690-16D6-16F1-78F0-CA39235B9AF1}"/>
                </a:ext>
              </a:extLst>
            </p:cNvPr>
            <p:cNvGrpSpPr/>
            <p:nvPr/>
          </p:nvGrpSpPr>
          <p:grpSpPr>
            <a:xfrm>
              <a:off x="9585938" y="2079369"/>
              <a:ext cx="1682927" cy="725214"/>
              <a:chOff x="3093173" y="2054544"/>
              <a:chExt cx="1682927" cy="725214"/>
            </a:xfrm>
          </p:grpSpPr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2A76DA0E-9B3B-E4DD-C4E6-B2D95B5320F3}"/>
                  </a:ext>
                </a:extLst>
              </p:cNvPr>
              <p:cNvSpPr txBox="1"/>
              <p:nvPr/>
            </p:nvSpPr>
            <p:spPr>
              <a:xfrm>
                <a:off x="3405047" y="2054544"/>
                <a:ext cx="1093955" cy="374755"/>
              </a:xfrm>
              <a:prstGeom prst="rect">
                <a:avLst/>
              </a:prstGeom>
              <a:noFill/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1200"/>
                  </a:spcBef>
                </a:pPr>
                <a:r>
                  <a:rPr lang="en-US" sz="2000" dirty="0">
                    <a:solidFill>
                      <a:schemeClr val="bg1"/>
                    </a:solidFill>
                    <a:latin typeface="Impact" panose="020B0806030902050204" pitchFamily="34" charset="0"/>
                  </a:rPr>
                  <a:t>NEW DATA</a:t>
                </a:r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BA38ADBA-3F83-6C22-B729-2F630BD88E8E}"/>
                  </a:ext>
                </a:extLst>
              </p:cNvPr>
              <p:cNvSpPr txBox="1"/>
              <p:nvPr/>
            </p:nvSpPr>
            <p:spPr>
              <a:xfrm>
                <a:off x="3093173" y="2405003"/>
                <a:ext cx="1682927" cy="374755"/>
              </a:xfrm>
              <a:prstGeom prst="rect">
                <a:avLst/>
              </a:prstGeom>
              <a:noFill/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1200"/>
                  </a:spcBef>
                </a:pPr>
                <a:r>
                  <a:rPr lang="en-US" sz="2000" dirty="0">
                    <a:solidFill>
                      <a:schemeClr val="bg1"/>
                    </a:solidFill>
                    <a:latin typeface="Impact" panose="020B0806030902050204" pitchFamily="34" charset="0"/>
                  </a:rPr>
                  <a:t>TEST</a:t>
                </a:r>
              </a:p>
            </p:txBody>
          </p:sp>
        </p:grpSp>
      </p:grpSp>
      <p:grpSp>
        <p:nvGrpSpPr>
          <p:cNvPr id="95" name="Top1">
            <a:extLst>
              <a:ext uri="{FF2B5EF4-FFF2-40B4-BE49-F238E27FC236}">
                <a16:creationId xmlns:a16="http://schemas.microsoft.com/office/drawing/2014/main" id="{B58C5297-C5F2-7511-DA50-64D3FA34E364}"/>
              </a:ext>
            </a:extLst>
          </p:cNvPr>
          <p:cNvGrpSpPr/>
          <p:nvPr/>
        </p:nvGrpSpPr>
        <p:grpSpPr>
          <a:xfrm>
            <a:off x="2696879" y="2031161"/>
            <a:ext cx="2664392" cy="1150100"/>
            <a:chOff x="2781300" y="2007722"/>
            <a:chExt cx="2495550" cy="1077218"/>
          </a:xfrm>
        </p:grpSpPr>
        <p:sp>
          <p:nvSpPr>
            <p:cNvPr id="54" name="Flowchart: Document 53">
              <a:extLst>
                <a:ext uri="{FF2B5EF4-FFF2-40B4-BE49-F238E27FC236}">
                  <a16:creationId xmlns:a16="http://schemas.microsoft.com/office/drawing/2014/main" id="{09AB92CD-2930-7C07-0C79-2CB50CBCE2DF}"/>
                </a:ext>
              </a:extLst>
            </p:cNvPr>
            <p:cNvSpPr/>
            <p:nvPr/>
          </p:nvSpPr>
          <p:spPr>
            <a:xfrm>
              <a:off x="2781300" y="2007722"/>
              <a:ext cx="2495550" cy="1077218"/>
            </a:xfrm>
            <a:prstGeom prst="flowChartDocument">
              <a:avLst/>
            </a:prstGeom>
            <a:gradFill flip="none" rotWithShape="1">
              <a:gsLst>
                <a:gs pos="0">
                  <a:srgbClr val="0F6067"/>
                </a:gs>
                <a:gs pos="48000">
                  <a:srgbClr val="4ED1C9"/>
                </a:gs>
                <a:gs pos="100000">
                  <a:srgbClr val="AFECE6"/>
                </a:gs>
              </a:gsLst>
              <a:lin ang="18900000" scaled="1"/>
              <a:tileRect/>
            </a:gradFill>
            <a:ln w="25400">
              <a:solidFill>
                <a:srgbClr val="A4E9E8"/>
              </a:solidFill>
            </a:ln>
            <a:effectLst>
              <a:outerShdw blurRad="190500" dist="63500" dir="2700000" sx="102000" sy="102000" algn="tl" rotWithShape="0">
                <a:schemeClr val="tx1">
                  <a:alpha val="5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87AB794E-9E2B-37FF-7693-E2A20662F7CE}"/>
                </a:ext>
              </a:extLst>
            </p:cNvPr>
            <p:cNvGrpSpPr/>
            <p:nvPr/>
          </p:nvGrpSpPr>
          <p:grpSpPr>
            <a:xfrm>
              <a:off x="3187610" y="2066110"/>
              <a:ext cx="1682927" cy="725214"/>
              <a:chOff x="3093173" y="2054544"/>
              <a:chExt cx="1682927" cy="725214"/>
            </a:xfrm>
          </p:grpSpPr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DE15E795-A85C-8F31-690D-CEC2C859B482}"/>
                  </a:ext>
                </a:extLst>
              </p:cNvPr>
              <p:cNvSpPr txBox="1"/>
              <p:nvPr/>
            </p:nvSpPr>
            <p:spPr>
              <a:xfrm>
                <a:off x="3405047" y="2054544"/>
                <a:ext cx="1059180" cy="374755"/>
              </a:xfrm>
              <a:prstGeom prst="rect">
                <a:avLst/>
              </a:prstGeom>
              <a:noFill/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1200"/>
                  </a:spcBef>
                </a:pPr>
                <a:r>
                  <a:rPr lang="en-US" sz="2000" dirty="0">
                    <a:solidFill>
                      <a:schemeClr val="bg1"/>
                    </a:solidFill>
                    <a:latin typeface="Impact" panose="020B0806030902050204" pitchFamily="34" charset="0"/>
                  </a:rPr>
                  <a:t>MODEL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203F6991-7764-991F-00E0-B88B0E2D53A0}"/>
                  </a:ext>
                </a:extLst>
              </p:cNvPr>
              <p:cNvSpPr txBox="1"/>
              <p:nvPr/>
            </p:nvSpPr>
            <p:spPr>
              <a:xfrm>
                <a:off x="3093173" y="2405003"/>
                <a:ext cx="1682927" cy="374755"/>
              </a:xfrm>
              <a:prstGeom prst="rect">
                <a:avLst/>
              </a:prstGeom>
              <a:noFill/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1200"/>
                  </a:spcBef>
                </a:pPr>
                <a:r>
                  <a:rPr lang="en-US" sz="2000" dirty="0">
                    <a:solidFill>
                      <a:schemeClr val="bg1"/>
                    </a:solidFill>
                    <a:latin typeface="Impact" panose="020B0806030902050204" pitchFamily="34" charset="0"/>
                  </a:rPr>
                  <a:t>EVALUATION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8060478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"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enreGroup">
            <a:extLst>
              <a:ext uri="{FF2B5EF4-FFF2-40B4-BE49-F238E27FC236}">
                <a16:creationId xmlns:a16="http://schemas.microsoft.com/office/drawing/2014/main" id="{F4835296-BC33-95BA-7921-5C2EDE1A66CA}"/>
              </a:ext>
            </a:extLst>
          </p:cNvPr>
          <p:cNvGrpSpPr/>
          <p:nvPr/>
        </p:nvGrpSpPr>
        <p:grpSpPr>
          <a:xfrm>
            <a:off x="135255" y="1155920"/>
            <a:ext cx="688120" cy="688120"/>
            <a:chOff x="1291650" y="1523447"/>
            <a:chExt cx="908106" cy="908106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1C8877BE-426A-03AD-99D4-85EC7DDB0A51}"/>
                </a:ext>
              </a:extLst>
            </p:cNvPr>
            <p:cNvSpPr/>
            <p:nvPr/>
          </p:nvSpPr>
          <p:spPr>
            <a:xfrm>
              <a:off x="1291650" y="1523447"/>
              <a:ext cx="908106" cy="90810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41F763AD-FE66-3134-7E72-78F01C444C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72681" y="1704478"/>
              <a:ext cx="546044" cy="546044"/>
            </a:xfrm>
            <a:prstGeom prst="rect">
              <a:avLst/>
            </a:prstGeom>
            <a:noFill/>
          </p:spPr>
        </p:pic>
      </p:grpSp>
      <p:grpSp>
        <p:nvGrpSpPr>
          <p:cNvPr id="39" name="PredictionGroup">
            <a:extLst>
              <a:ext uri="{FF2B5EF4-FFF2-40B4-BE49-F238E27FC236}">
                <a16:creationId xmlns:a16="http://schemas.microsoft.com/office/drawing/2014/main" id="{CC6F9C4F-0EDB-1953-7E4E-1A838F60BD24}"/>
              </a:ext>
            </a:extLst>
          </p:cNvPr>
          <p:cNvGrpSpPr/>
          <p:nvPr/>
        </p:nvGrpSpPr>
        <p:grpSpPr>
          <a:xfrm>
            <a:off x="136779" y="2740880"/>
            <a:ext cx="688120" cy="688120"/>
            <a:chOff x="1270054" y="2679920"/>
            <a:chExt cx="688120" cy="68812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90977EB-9F40-80FA-3D3F-5094DFC0AB17}"/>
                </a:ext>
              </a:extLst>
            </p:cNvPr>
            <p:cNvSpPr/>
            <p:nvPr/>
          </p:nvSpPr>
          <p:spPr>
            <a:xfrm>
              <a:off x="1270054" y="2679920"/>
              <a:ext cx="688120" cy="6881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C0D2A5C2-B10C-4716-00A1-24AAA95FD6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23614" y="2833480"/>
              <a:ext cx="381000" cy="381000"/>
            </a:xfrm>
            <a:prstGeom prst="rect">
              <a:avLst/>
            </a:prstGeom>
          </p:spPr>
        </p:pic>
      </p:grpSp>
      <p:grpSp>
        <p:nvGrpSpPr>
          <p:cNvPr id="45" name="RecommedGroup">
            <a:extLst>
              <a:ext uri="{FF2B5EF4-FFF2-40B4-BE49-F238E27FC236}">
                <a16:creationId xmlns:a16="http://schemas.microsoft.com/office/drawing/2014/main" id="{346C7459-A937-5053-7B85-4033ECF1A46F}"/>
              </a:ext>
            </a:extLst>
          </p:cNvPr>
          <p:cNvGrpSpPr/>
          <p:nvPr/>
        </p:nvGrpSpPr>
        <p:grpSpPr>
          <a:xfrm>
            <a:off x="1060704" y="4325840"/>
            <a:ext cx="688120" cy="688120"/>
            <a:chOff x="1291920" y="4082000"/>
            <a:chExt cx="688120" cy="68812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CD1D5E4E-7836-88DD-A915-D540BBC5F4C0}"/>
                </a:ext>
              </a:extLst>
            </p:cNvPr>
            <p:cNvSpPr/>
            <p:nvPr/>
          </p:nvSpPr>
          <p:spPr>
            <a:xfrm>
              <a:off x="1291920" y="4082000"/>
              <a:ext cx="688120" cy="6881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1D79C1E6-C54B-3500-E562-E8BA84BDDD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34308" y="4187727"/>
              <a:ext cx="425230" cy="42523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A133814-1B54-4753-61B4-BB98C16AB36A}"/>
              </a:ext>
            </a:extLst>
          </p:cNvPr>
          <p:cNvSpPr txBox="1"/>
          <p:nvPr/>
        </p:nvSpPr>
        <p:spPr>
          <a:xfrm>
            <a:off x="2781300" y="371032"/>
            <a:ext cx="8305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C00000"/>
                </a:solidFill>
                <a:latin typeface="Montserrat" pitchFamily="2" charset="0"/>
              </a:rPr>
              <a:t>Recommendation</a:t>
            </a:r>
            <a:r>
              <a:rPr lang="en-US" sz="4800" dirty="0">
                <a:solidFill>
                  <a:schemeClr val="accent4"/>
                </a:solidFill>
                <a:latin typeface="Montserrat" pitchFamily="2" charset="0"/>
              </a:rPr>
              <a:t> </a:t>
            </a:r>
            <a:r>
              <a:rPr lang="en-US" sz="4800" dirty="0">
                <a:solidFill>
                  <a:srgbClr val="2D2D2D"/>
                </a:solidFill>
                <a:latin typeface="Montserrat" pitchFamily="2" charset="0"/>
              </a:rPr>
              <a:t>System</a:t>
            </a:r>
            <a:endParaRPr lang="en-IN" sz="4800" dirty="0">
              <a:solidFill>
                <a:srgbClr val="2D2D2D"/>
              </a:solidFill>
              <a:latin typeface="Montserrat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34E98F-3549-AF6D-14C2-BD513957FEB4}"/>
              </a:ext>
            </a:extLst>
          </p:cNvPr>
          <p:cNvSpPr txBox="1"/>
          <p:nvPr/>
        </p:nvSpPr>
        <p:spPr>
          <a:xfrm>
            <a:off x="2781300" y="2307909"/>
            <a:ext cx="6569968" cy="258532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sz="1600" dirty="0">
                <a:latin typeface="Candara Light" panose="020E0502030303020204" pitchFamily="34" charset="0"/>
              </a:rPr>
              <a:t>The objective is to build content-based movie recommendation system that suggest similar movies based on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Candara Light" panose="020E0502030303020204" pitchFamily="34" charset="0"/>
              </a:rPr>
              <a:t>Genre &amp; Keywords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Candara Light" panose="020E0502030303020204" pitchFamily="34" charset="0"/>
              </a:rPr>
              <a:t>Description (plot)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Candara Light" panose="020E0502030303020204" pitchFamily="34" charset="0"/>
              </a:rPr>
              <a:t>Director &amp; Casts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Candara Light" panose="020E0502030303020204" pitchFamily="34" charset="0"/>
              </a:rPr>
              <a:t>Engagement Metrics (rating, votes, watchlist, reviews)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Candara Light" panose="020E0502030303020204" pitchFamily="34" charset="0"/>
              </a:rPr>
              <a:t>Country &amp; Language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4F76A6-96D1-BDFD-A85B-AC5550040C76}"/>
              </a:ext>
            </a:extLst>
          </p:cNvPr>
          <p:cNvSpPr txBox="1"/>
          <p:nvPr/>
        </p:nvSpPr>
        <p:spPr>
          <a:xfrm>
            <a:off x="2781300" y="6936932"/>
            <a:ext cx="8305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C00000"/>
                </a:solidFill>
                <a:latin typeface="Montserrat" pitchFamily="2" charset="0"/>
              </a:rPr>
              <a:t>Approach</a:t>
            </a:r>
            <a:endParaRPr lang="en-IN" sz="4800" dirty="0">
              <a:solidFill>
                <a:srgbClr val="2D2D2D"/>
              </a:solidFill>
              <a:latin typeface="Montserrat" pitchFamily="2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E025848-3166-4B72-B4A1-2402A9FB76D1}"/>
              </a:ext>
            </a:extLst>
          </p:cNvPr>
          <p:cNvGrpSpPr/>
          <p:nvPr/>
        </p:nvGrpSpPr>
        <p:grpSpPr>
          <a:xfrm>
            <a:off x="3810000" y="10308285"/>
            <a:ext cx="539750" cy="539750"/>
            <a:chOff x="2720975" y="3620465"/>
            <a:chExt cx="539750" cy="539750"/>
          </a:xfrm>
        </p:grpSpPr>
        <p:sp>
          <p:nvSpPr>
            <p:cNvPr id="10" name="Flowchart: Connector 9">
              <a:extLst>
                <a:ext uri="{FF2B5EF4-FFF2-40B4-BE49-F238E27FC236}">
                  <a16:creationId xmlns:a16="http://schemas.microsoft.com/office/drawing/2014/main" id="{5202B23C-69F3-F97E-C390-092657C242CC}"/>
                </a:ext>
              </a:extLst>
            </p:cNvPr>
            <p:cNvSpPr/>
            <p:nvPr/>
          </p:nvSpPr>
          <p:spPr>
            <a:xfrm>
              <a:off x="2781300" y="3680790"/>
              <a:ext cx="419100" cy="419100"/>
            </a:xfrm>
            <a:prstGeom prst="flowChartConnector">
              <a:avLst/>
            </a:prstGeom>
            <a:solidFill>
              <a:srgbClr val="C00000"/>
            </a:solidFill>
            <a:ln w="127000" cmpd="dbl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" name="Flowchart: Connector 10">
              <a:extLst>
                <a:ext uri="{FF2B5EF4-FFF2-40B4-BE49-F238E27FC236}">
                  <a16:creationId xmlns:a16="http://schemas.microsoft.com/office/drawing/2014/main" id="{A818C598-1585-DAC0-B63E-09A0F36B7905}"/>
                </a:ext>
              </a:extLst>
            </p:cNvPr>
            <p:cNvSpPr/>
            <p:nvPr/>
          </p:nvSpPr>
          <p:spPr>
            <a:xfrm>
              <a:off x="2720975" y="3620465"/>
              <a:ext cx="539750" cy="539750"/>
            </a:xfrm>
            <a:prstGeom prst="flowChartConnector">
              <a:avLst/>
            </a:prstGeom>
            <a:noFill/>
            <a:ln w="25400" cmpd="sng">
              <a:solidFill>
                <a:srgbClr val="2D2D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05FA5F0-E831-9826-A277-A88F79C28A79}"/>
              </a:ext>
            </a:extLst>
          </p:cNvPr>
          <p:cNvCxnSpPr>
            <a:cxnSpLocks/>
            <a:stCxn id="36" idx="4"/>
          </p:cNvCxnSpPr>
          <p:nvPr/>
        </p:nvCxnSpPr>
        <p:spPr>
          <a:xfrm>
            <a:off x="6934200" y="9558350"/>
            <a:ext cx="0" cy="4500550"/>
          </a:xfrm>
          <a:prstGeom prst="line">
            <a:avLst/>
          </a:prstGeom>
          <a:ln w="38100">
            <a:solidFill>
              <a:srgbClr val="2D2D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E4EE892-75C2-D8F7-1C78-F5A075F41D4F}"/>
              </a:ext>
            </a:extLst>
          </p:cNvPr>
          <p:cNvGrpSpPr/>
          <p:nvPr/>
        </p:nvGrpSpPr>
        <p:grpSpPr>
          <a:xfrm>
            <a:off x="6664325" y="9018600"/>
            <a:ext cx="539750" cy="539750"/>
            <a:chOff x="2720975" y="3620465"/>
            <a:chExt cx="539750" cy="539750"/>
          </a:xfrm>
        </p:grpSpPr>
        <p:sp useBgFill="1">
          <p:nvSpPr>
            <p:cNvPr id="36" name="Flowchart: Connector 35">
              <a:extLst>
                <a:ext uri="{FF2B5EF4-FFF2-40B4-BE49-F238E27FC236}">
                  <a16:creationId xmlns:a16="http://schemas.microsoft.com/office/drawing/2014/main" id="{664B288F-0216-7ECC-1E13-19688CA39CCC}"/>
                </a:ext>
              </a:extLst>
            </p:cNvPr>
            <p:cNvSpPr/>
            <p:nvPr/>
          </p:nvSpPr>
          <p:spPr>
            <a:xfrm>
              <a:off x="2720975" y="3620465"/>
              <a:ext cx="539750" cy="539750"/>
            </a:xfrm>
            <a:prstGeom prst="flowChartConnector">
              <a:avLst/>
            </a:prstGeom>
            <a:ln w="25400" cmpd="sng">
              <a:solidFill>
                <a:srgbClr val="2D2D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Flowchart: Connector 37">
              <a:extLst>
                <a:ext uri="{FF2B5EF4-FFF2-40B4-BE49-F238E27FC236}">
                  <a16:creationId xmlns:a16="http://schemas.microsoft.com/office/drawing/2014/main" id="{4EFC6F5D-1D66-6751-FAFE-C17BA0F943B8}"/>
                </a:ext>
              </a:extLst>
            </p:cNvPr>
            <p:cNvSpPr/>
            <p:nvPr/>
          </p:nvSpPr>
          <p:spPr>
            <a:xfrm>
              <a:off x="2781300" y="3680790"/>
              <a:ext cx="419100" cy="419100"/>
            </a:xfrm>
            <a:prstGeom prst="flowChartConnector">
              <a:avLst/>
            </a:prstGeom>
            <a:solidFill>
              <a:srgbClr val="C00000"/>
            </a:solidFill>
            <a:ln w="127000" cmpd="dbl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DFFF8873-1624-DA8E-2D56-4B3644890A54}"/>
              </a:ext>
            </a:extLst>
          </p:cNvPr>
          <p:cNvSpPr txBox="1"/>
          <p:nvPr/>
        </p:nvSpPr>
        <p:spPr>
          <a:xfrm>
            <a:off x="-2333386" y="8857846"/>
            <a:ext cx="2387600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en-US" sz="1600" dirty="0">
                <a:latin typeface="Montserrat" pitchFamily="2" charset="0"/>
              </a:rPr>
              <a:t>Text Vectorization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3D2AF6B-A313-6664-5B41-298BEC591E44}"/>
              </a:ext>
            </a:extLst>
          </p:cNvPr>
          <p:cNvSpPr txBox="1"/>
          <p:nvPr/>
        </p:nvSpPr>
        <p:spPr>
          <a:xfrm>
            <a:off x="-4208490" y="9256725"/>
            <a:ext cx="4170391" cy="107721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>
              <a:spcBef>
                <a:spcPts val="1200"/>
              </a:spcBef>
            </a:pPr>
            <a:r>
              <a:rPr lang="en-US" sz="1600" dirty="0">
                <a:effectLst/>
                <a:latin typeface="Candara Light" panose="020E0502030303020204" pitchFamily="34" charset="0"/>
              </a:rPr>
              <a:t>TF-IDF converts text into numerical form while giving higher importance to unique words and reducing the effect of common words, improving similarity detection between movies</a:t>
            </a:r>
            <a:endParaRPr lang="en-US" sz="1600" dirty="0">
              <a:latin typeface="Candara Light" panose="020E0502030303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46DCE9C-7B73-2FCB-02C5-7352F9A71B82}"/>
              </a:ext>
            </a:extLst>
          </p:cNvPr>
          <p:cNvSpPr txBox="1"/>
          <p:nvPr/>
        </p:nvSpPr>
        <p:spPr>
          <a:xfrm>
            <a:off x="12274550" y="11269723"/>
            <a:ext cx="2387600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en-US" sz="1600" dirty="0">
                <a:latin typeface="Montserrat" pitchFamily="2" charset="0"/>
              </a:rPr>
              <a:t>Encoding &amp; Scaling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AB7AA50-0231-B3D4-DF4E-7D269C1515FB}"/>
              </a:ext>
            </a:extLst>
          </p:cNvPr>
          <p:cNvSpPr txBox="1"/>
          <p:nvPr/>
        </p:nvSpPr>
        <p:spPr>
          <a:xfrm>
            <a:off x="12363450" y="11625897"/>
            <a:ext cx="4196425" cy="132343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sz="1600" dirty="0">
                <a:effectLst/>
                <a:latin typeface="Candara Light" panose="020E0502030303020204" pitchFamily="34" charset="0"/>
              </a:rPr>
              <a:t>Multilabel encoding allows us to represent multiple categories without losing information, used to encode genres, countries &amp; language. Standar</a:t>
            </a:r>
            <a:r>
              <a:rPr lang="en-US" sz="1600" dirty="0">
                <a:latin typeface="Candara Light" panose="020E0502030303020204" pitchFamily="34" charset="0"/>
              </a:rPr>
              <a:t>d Scaler is used to encode the numerical columns like ratings, votes, etc.</a:t>
            </a:r>
            <a:endParaRPr lang="en-US" sz="1600" dirty="0">
              <a:effectLst/>
              <a:latin typeface="Candara Light" panose="020E0502030303020204" pitchFamily="34" charset="0"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4B805DD3-F560-D06D-682B-DDF0787F05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57" r="21542"/>
          <a:stretch/>
        </p:blipFill>
        <p:spPr>
          <a:xfrm>
            <a:off x="-4050115" y="3871952"/>
            <a:ext cx="3359750" cy="3398996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8C47927-C74A-DCCA-2956-03A5AA6EA599}"/>
              </a:ext>
            </a:extLst>
          </p:cNvPr>
          <p:cNvSpPr/>
          <p:nvPr/>
        </p:nvSpPr>
        <p:spPr>
          <a:xfrm>
            <a:off x="0" y="-933450"/>
            <a:ext cx="1059180" cy="10953750"/>
          </a:xfrm>
          <a:custGeom>
            <a:avLst/>
            <a:gdLst>
              <a:gd name="connsiteX0" fmla="*/ 0 w 1059180"/>
              <a:gd name="connsiteY0" fmla="*/ 0 h 10953750"/>
              <a:gd name="connsiteX1" fmla="*/ 1059180 w 1059180"/>
              <a:gd name="connsiteY1" fmla="*/ 0 h 10953750"/>
              <a:gd name="connsiteX2" fmla="*/ 1059180 w 1059180"/>
              <a:gd name="connsiteY2" fmla="*/ 4095750 h 10953750"/>
              <a:gd name="connsiteX3" fmla="*/ 1059180 w 1059180"/>
              <a:gd name="connsiteY3" fmla="*/ 4732823 h 10953750"/>
              <a:gd name="connsiteX4" fmla="*/ 822011 w 1059180"/>
              <a:gd name="connsiteY4" fmla="*/ 5352335 h 10953750"/>
              <a:gd name="connsiteX5" fmla="*/ 822011 w 1059180"/>
              <a:gd name="connsiteY5" fmla="*/ 5826673 h 10953750"/>
              <a:gd name="connsiteX6" fmla="*/ 1059180 w 1059180"/>
              <a:gd name="connsiteY6" fmla="*/ 6446185 h 10953750"/>
              <a:gd name="connsiteX7" fmla="*/ 1059180 w 1059180"/>
              <a:gd name="connsiteY7" fmla="*/ 10953750 h 10953750"/>
              <a:gd name="connsiteX8" fmla="*/ 0 w 1059180"/>
              <a:gd name="connsiteY8" fmla="*/ 10953750 h 10953750"/>
              <a:gd name="connsiteX9" fmla="*/ 0 w 1059180"/>
              <a:gd name="connsiteY9" fmla="*/ 4095750 h 10953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59180" h="10953750">
                <a:moveTo>
                  <a:pt x="0" y="0"/>
                </a:moveTo>
                <a:lnTo>
                  <a:pt x="1059180" y="0"/>
                </a:lnTo>
                <a:lnTo>
                  <a:pt x="1059180" y="4095750"/>
                </a:lnTo>
                <a:lnTo>
                  <a:pt x="1059180" y="4732823"/>
                </a:lnTo>
                <a:cubicBezTo>
                  <a:pt x="1043847" y="5003051"/>
                  <a:pt x="964792" y="5209555"/>
                  <a:pt x="822011" y="5352335"/>
                </a:cubicBezTo>
                <a:cubicBezTo>
                  <a:pt x="691027" y="5483320"/>
                  <a:pt x="691027" y="5695688"/>
                  <a:pt x="822011" y="5826673"/>
                </a:cubicBezTo>
                <a:cubicBezTo>
                  <a:pt x="964792" y="5969453"/>
                  <a:pt x="1043847" y="6175957"/>
                  <a:pt x="1059180" y="6446185"/>
                </a:cubicBezTo>
                <a:lnTo>
                  <a:pt x="1059180" y="10953750"/>
                </a:lnTo>
                <a:lnTo>
                  <a:pt x="0" y="10953750"/>
                </a:lnTo>
                <a:lnTo>
                  <a:pt x="0" y="409575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>
            <a:outerShdw blurRad="190500" dist="190500" sx="103000" sy="103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pic>
        <p:nvPicPr>
          <p:cNvPr id="55" name="Genre">
            <a:extLst>
              <a:ext uri="{FF2B5EF4-FFF2-40B4-BE49-F238E27FC236}">
                <a16:creationId xmlns:a16="http://schemas.microsoft.com/office/drawing/2014/main" id="{5F75BBD9-9632-CC7A-6FC4-37EA2B0B586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08" y="1198634"/>
            <a:ext cx="482430" cy="482430"/>
          </a:xfrm>
          <a:prstGeom prst="rect">
            <a:avLst/>
          </a:prstGeom>
        </p:spPr>
      </p:pic>
      <p:pic>
        <p:nvPicPr>
          <p:cNvPr id="2" name="Prediction">
            <a:extLst>
              <a:ext uri="{FF2B5EF4-FFF2-40B4-BE49-F238E27FC236}">
                <a16:creationId xmlns:a16="http://schemas.microsoft.com/office/drawing/2014/main" id="{F1AE74FD-3DBD-87D7-4F93-AFAE071ECD1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08" y="2848036"/>
            <a:ext cx="473808" cy="473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899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enreGroup">
            <a:extLst>
              <a:ext uri="{FF2B5EF4-FFF2-40B4-BE49-F238E27FC236}">
                <a16:creationId xmlns:a16="http://schemas.microsoft.com/office/drawing/2014/main" id="{F4835296-BC33-95BA-7921-5C2EDE1A66CA}"/>
              </a:ext>
            </a:extLst>
          </p:cNvPr>
          <p:cNvGrpSpPr/>
          <p:nvPr/>
        </p:nvGrpSpPr>
        <p:grpSpPr>
          <a:xfrm>
            <a:off x="135255" y="1155920"/>
            <a:ext cx="688120" cy="688120"/>
            <a:chOff x="1291650" y="1523447"/>
            <a:chExt cx="908106" cy="908106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1C8877BE-426A-03AD-99D4-85EC7DDB0A51}"/>
                </a:ext>
              </a:extLst>
            </p:cNvPr>
            <p:cNvSpPr/>
            <p:nvPr/>
          </p:nvSpPr>
          <p:spPr>
            <a:xfrm>
              <a:off x="1291650" y="1523447"/>
              <a:ext cx="908106" cy="90810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41F763AD-FE66-3134-7E72-78F01C444C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72681" y="1704478"/>
              <a:ext cx="546044" cy="546044"/>
            </a:xfrm>
            <a:prstGeom prst="rect">
              <a:avLst/>
            </a:prstGeom>
            <a:noFill/>
          </p:spPr>
        </p:pic>
      </p:grpSp>
      <p:grpSp>
        <p:nvGrpSpPr>
          <p:cNvPr id="39" name="PredictionGroup">
            <a:extLst>
              <a:ext uri="{FF2B5EF4-FFF2-40B4-BE49-F238E27FC236}">
                <a16:creationId xmlns:a16="http://schemas.microsoft.com/office/drawing/2014/main" id="{CC6F9C4F-0EDB-1953-7E4E-1A838F60BD24}"/>
              </a:ext>
            </a:extLst>
          </p:cNvPr>
          <p:cNvGrpSpPr/>
          <p:nvPr/>
        </p:nvGrpSpPr>
        <p:grpSpPr>
          <a:xfrm>
            <a:off x="136779" y="2740880"/>
            <a:ext cx="688120" cy="688120"/>
            <a:chOff x="1270054" y="2679920"/>
            <a:chExt cx="688120" cy="68812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90977EB-9F40-80FA-3D3F-5094DFC0AB17}"/>
                </a:ext>
              </a:extLst>
            </p:cNvPr>
            <p:cNvSpPr/>
            <p:nvPr/>
          </p:nvSpPr>
          <p:spPr>
            <a:xfrm>
              <a:off x="1270054" y="2679920"/>
              <a:ext cx="688120" cy="6881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C0D2A5C2-B10C-4716-00A1-24AAA95FD6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3614" y="2833480"/>
              <a:ext cx="381000" cy="381000"/>
            </a:xfrm>
            <a:prstGeom prst="rect">
              <a:avLst/>
            </a:prstGeom>
          </p:spPr>
        </p:pic>
      </p:grpSp>
      <p:grpSp>
        <p:nvGrpSpPr>
          <p:cNvPr id="45" name="RecommedGroup">
            <a:extLst>
              <a:ext uri="{FF2B5EF4-FFF2-40B4-BE49-F238E27FC236}">
                <a16:creationId xmlns:a16="http://schemas.microsoft.com/office/drawing/2014/main" id="{346C7459-A937-5053-7B85-4033ECF1A46F}"/>
              </a:ext>
            </a:extLst>
          </p:cNvPr>
          <p:cNvGrpSpPr/>
          <p:nvPr/>
        </p:nvGrpSpPr>
        <p:grpSpPr>
          <a:xfrm>
            <a:off x="1060704" y="4325840"/>
            <a:ext cx="688120" cy="688120"/>
            <a:chOff x="1291920" y="4082000"/>
            <a:chExt cx="688120" cy="68812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CD1D5E4E-7836-88DD-A915-D540BBC5F4C0}"/>
                </a:ext>
              </a:extLst>
            </p:cNvPr>
            <p:cNvSpPr/>
            <p:nvPr/>
          </p:nvSpPr>
          <p:spPr>
            <a:xfrm>
              <a:off x="1291920" y="4082000"/>
              <a:ext cx="688120" cy="6881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1D79C1E6-C54B-3500-E562-E8BA84BDDD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34308" y="4187727"/>
              <a:ext cx="425230" cy="425230"/>
            </a:xfrm>
            <a:prstGeom prst="rect">
              <a:avLst/>
            </a:prstGeom>
          </p:spPr>
        </p:pic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38EAB30-7BE7-24D5-A77F-4A085DBB9170}"/>
              </a:ext>
            </a:extLst>
          </p:cNvPr>
          <p:cNvCxnSpPr>
            <a:cxnSpLocks/>
            <a:stCxn id="14" idx="4"/>
          </p:cNvCxnSpPr>
          <p:nvPr/>
        </p:nvCxnSpPr>
        <p:spPr>
          <a:xfrm>
            <a:off x="6934200" y="2357450"/>
            <a:ext cx="0" cy="4500550"/>
          </a:xfrm>
          <a:prstGeom prst="line">
            <a:avLst/>
          </a:prstGeom>
          <a:ln w="38100">
            <a:solidFill>
              <a:srgbClr val="2D2D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C3A0166-9C6C-84D0-7257-383D79B97B90}"/>
              </a:ext>
            </a:extLst>
          </p:cNvPr>
          <p:cNvGrpSpPr/>
          <p:nvPr/>
        </p:nvGrpSpPr>
        <p:grpSpPr>
          <a:xfrm>
            <a:off x="6664325" y="4412921"/>
            <a:ext cx="539750" cy="539750"/>
            <a:chOff x="2720975" y="3620465"/>
            <a:chExt cx="539750" cy="539750"/>
          </a:xfrm>
        </p:grpSpPr>
        <p:sp useBgFill="1">
          <p:nvSpPr>
            <p:cNvPr id="19" name="Flowchart: Connector 18">
              <a:extLst>
                <a:ext uri="{FF2B5EF4-FFF2-40B4-BE49-F238E27FC236}">
                  <a16:creationId xmlns:a16="http://schemas.microsoft.com/office/drawing/2014/main" id="{A612B4C4-1055-EA40-43AA-8D366BBB64BD}"/>
                </a:ext>
              </a:extLst>
            </p:cNvPr>
            <p:cNvSpPr/>
            <p:nvPr/>
          </p:nvSpPr>
          <p:spPr>
            <a:xfrm>
              <a:off x="2720975" y="3620465"/>
              <a:ext cx="539750" cy="539750"/>
            </a:xfrm>
            <a:prstGeom prst="flowChartConnector">
              <a:avLst/>
            </a:prstGeom>
            <a:ln w="25400" cmpd="sng">
              <a:solidFill>
                <a:srgbClr val="2D2D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Flowchart: Connector 17">
              <a:extLst>
                <a:ext uri="{FF2B5EF4-FFF2-40B4-BE49-F238E27FC236}">
                  <a16:creationId xmlns:a16="http://schemas.microsoft.com/office/drawing/2014/main" id="{7D5D38AB-8FDE-2C08-5781-7AFE636AF614}"/>
                </a:ext>
              </a:extLst>
            </p:cNvPr>
            <p:cNvSpPr/>
            <p:nvPr/>
          </p:nvSpPr>
          <p:spPr>
            <a:xfrm>
              <a:off x="2781300" y="3680790"/>
              <a:ext cx="419100" cy="419100"/>
            </a:xfrm>
            <a:prstGeom prst="flowChartConnector">
              <a:avLst/>
            </a:prstGeom>
            <a:solidFill>
              <a:srgbClr val="C00000"/>
            </a:solidFill>
            <a:ln w="127000" cmpd="dbl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A133814-1B54-4753-61B4-BB98C16AB36A}"/>
              </a:ext>
            </a:extLst>
          </p:cNvPr>
          <p:cNvSpPr txBox="1"/>
          <p:nvPr/>
        </p:nvSpPr>
        <p:spPr>
          <a:xfrm>
            <a:off x="2781300" y="371032"/>
            <a:ext cx="8305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C00000"/>
                </a:solidFill>
                <a:latin typeface="Montserrat" pitchFamily="2" charset="0"/>
              </a:rPr>
              <a:t>Approach</a:t>
            </a:r>
            <a:endParaRPr lang="en-IN" sz="4800" dirty="0">
              <a:solidFill>
                <a:srgbClr val="2D2D2D"/>
              </a:solidFill>
              <a:latin typeface="Montserrat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BC9E82-632D-9FBA-AC93-6DF8693AF6DC}"/>
              </a:ext>
            </a:extLst>
          </p:cNvPr>
          <p:cNvSpPr txBox="1"/>
          <p:nvPr/>
        </p:nvSpPr>
        <p:spPr>
          <a:xfrm>
            <a:off x="2781300" y="-4581968"/>
            <a:ext cx="8305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C00000"/>
                </a:solidFill>
                <a:latin typeface="Montserrat" pitchFamily="2" charset="0"/>
              </a:rPr>
              <a:t>Recommendation</a:t>
            </a:r>
            <a:r>
              <a:rPr lang="en-US" sz="4800" dirty="0">
                <a:solidFill>
                  <a:schemeClr val="accent4"/>
                </a:solidFill>
                <a:latin typeface="Montserrat" pitchFamily="2" charset="0"/>
              </a:rPr>
              <a:t> </a:t>
            </a:r>
            <a:r>
              <a:rPr lang="en-US" sz="4800" dirty="0">
                <a:solidFill>
                  <a:srgbClr val="2D2D2D"/>
                </a:solidFill>
                <a:latin typeface="Montserrat" pitchFamily="2" charset="0"/>
              </a:rPr>
              <a:t>System</a:t>
            </a:r>
            <a:endParaRPr lang="en-IN" sz="4800" dirty="0">
              <a:solidFill>
                <a:srgbClr val="2D2D2D"/>
              </a:solidFill>
              <a:latin typeface="Montserrat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7D5642-18FB-D345-E960-CC6B22A7DF46}"/>
              </a:ext>
            </a:extLst>
          </p:cNvPr>
          <p:cNvSpPr txBox="1"/>
          <p:nvPr/>
        </p:nvSpPr>
        <p:spPr>
          <a:xfrm>
            <a:off x="2781300" y="-2645091"/>
            <a:ext cx="6569968" cy="258532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sz="1600" dirty="0">
                <a:latin typeface="Candara Light" panose="020E0502030303020204" pitchFamily="34" charset="0"/>
              </a:rPr>
              <a:t>The objective is to build content-based movie recommendation system that suggest similar movies based on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Candara Light" panose="020E0502030303020204" pitchFamily="34" charset="0"/>
              </a:rPr>
              <a:t>Genre &amp; Keywords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Candara Light" panose="020E0502030303020204" pitchFamily="34" charset="0"/>
              </a:rPr>
              <a:t>Description (plot)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Candara Light" panose="020E0502030303020204" pitchFamily="34" charset="0"/>
              </a:rPr>
              <a:t>Director &amp; Casts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Candara Light" panose="020E0502030303020204" pitchFamily="34" charset="0"/>
              </a:rPr>
              <a:t>Engagement Metrics (rating, votes, watchlist, reviews)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Candara Light" panose="020E0502030303020204" pitchFamily="34" charset="0"/>
              </a:rPr>
              <a:t>Country &amp; Language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D66C16-F906-0ED1-D5FB-C332795C48D1}"/>
              </a:ext>
            </a:extLst>
          </p:cNvPr>
          <p:cNvSpPr txBox="1"/>
          <p:nvPr/>
        </p:nvSpPr>
        <p:spPr>
          <a:xfrm>
            <a:off x="4127501" y="1958571"/>
            <a:ext cx="2387600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>
              <a:spcBef>
                <a:spcPts val="1200"/>
              </a:spcBef>
            </a:pPr>
            <a:r>
              <a:rPr lang="en-US" sz="1600" dirty="0">
                <a:latin typeface="Montserrat" pitchFamily="2" charset="0"/>
              </a:rPr>
              <a:t>Text Vectorization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20E6AB-C30F-2CE8-5C32-3D8C00EC9E02}"/>
              </a:ext>
            </a:extLst>
          </p:cNvPr>
          <p:cNvSpPr txBox="1"/>
          <p:nvPr/>
        </p:nvSpPr>
        <p:spPr>
          <a:xfrm>
            <a:off x="2344710" y="2357450"/>
            <a:ext cx="4170391" cy="107721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>
              <a:spcBef>
                <a:spcPts val="1200"/>
              </a:spcBef>
            </a:pPr>
            <a:r>
              <a:rPr lang="en-US" sz="1600" dirty="0">
                <a:effectLst/>
                <a:latin typeface="Candara Light" panose="020E0502030303020204" pitchFamily="34" charset="0"/>
              </a:rPr>
              <a:t>TF-IDF converts text into numerical form while giving higher importance to unique words and reducing the effect of common words, improving similarity detection between movies</a:t>
            </a:r>
            <a:endParaRPr lang="en-US" sz="1600" dirty="0">
              <a:latin typeface="Candara Light" panose="020E05020303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99D5A6-C7FF-329B-2ED5-D618FFC47804}"/>
              </a:ext>
            </a:extLst>
          </p:cNvPr>
          <p:cNvSpPr txBox="1"/>
          <p:nvPr/>
        </p:nvSpPr>
        <p:spPr>
          <a:xfrm>
            <a:off x="7353300" y="4500623"/>
            <a:ext cx="2387600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sz="1600" dirty="0">
                <a:latin typeface="Montserrat" pitchFamily="2" charset="0"/>
              </a:rPr>
              <a:t>Encoding &amp; Scaling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45EAA2-48F3-DEF0-565B-6DD6E8DBF204}"/>
              </a:ext>
            </a:extLst>
          </p:cNvPr>
          <p:cNvSpPr txBox="1"/>
          <p:nvPr/>
        </p:nvSpPr>
        <p:spPr>
          <a:xfrm>
            <a:off x="7353300" y="4856797"/>
            <a:ext cx="4196425" cy="132343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sz="1600" dirty="0">
                <a:effectLst/>
                <a:latin typeface="Candara Light" panose="020E0502030303020204" pitchFamily="34" charset="0"/>
              </a:rPr>
              <a:t>Multilabel encoding allows us to represent multiple categories without losing information, used to encode genres, countries &amp; language. Standar</a:t>
            </a:r>
            <a:r>
              <a:rPr lang="en-US" sz="1600" dirty="0">
                <a:latin typeface="Candara Light" panose="020E0502030303020204" pitchFamily="34" charset="0"/>
              </a:rPr>
              <a:t>d Scaler is used to encode the numerical columns like ratings, votes, etc.</a:t>
            </a:r>
            <a:endParaRPr lang="en-US" sz="1600" dirty="0">
              <a:effectLst/>
              <a:latin typeface="Candara Light" panose="020E050203030302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6884F94-F689-C6C7-480F-815A45657706}"/>
              </a:ext>
            </a:extLst>
          </p:cNvPr>
          <p:cNvGrpSpPr/>
          <p:nvPr/>
        </p:nvGrpSpPr>
        <p:grpSpPr>
          <a:xfrm>
            <a:off x="6664325" y="1817700"/>
            <a:ext cx="539750" cy="539750"/>
            <a:chOff x="2720975" y="3620465"/>
            <a:chExt cx="539750" cy="539750"/>
          </a:xfrm>
        </p:grpSpPr>
        <p:sp useBgFill="1">
          <p:nvSpPr>
            <p:cNvPr id="14" name="Flowchart: Connector 13">
              <a:extLst>
                <a:ext uri="{FF2B5EF4-FFF2-40B4-BE49-F238E27FC236}">
                  <a16:creationId xmlns:a16="http://schemas.microsoft.com/office/drawing/2014/main" id="{0D7EFD9C-5BC5-9F7B-3986-FDF6E16A21BF}"/>
                </a:ext>
              </a:extLst>
            </p:cNvPr>
            <p:cNvSpPr/>
            <p:nvPr/>
          </p:nvSpPr>
          <p:spPr>
            <a:xfrm>
              <a:off x="2720975" y="3620465"/>
              <a:ext cx="539750" cy="539750"/>
            </a:xfrm>
            <a:prstGeom prst="flowChartConnector">
              <a:avLst/>
            </a:prstGeom>
            <a:ln w="25400" cmpd="sng">
              <a:solidFill>
                <a:srgbClr val="2D2D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Flowchart: Connector 11">
              <a:extLst>
                <a:ext uri="{FF2B5EF4-FFF2-40B4-BE49-F238E27FC236}">
                  <a16:creationId xmlns:a16="http://schemas.microsoft.com/office/drawing/2014/main" id="{A6554672-1CF0-1CC0-170A-A42A2B475D81}"/>
                </a:ext>
              </a:extLst>
            </p:cNvPr>
            <p:cNvSpPr/>
            <p:nvPr/>
          </p:nvSpPr>
          <p:spPr>
            <a:xfrm>
              <a:off x="2781300" y="3680790"/>
              <a:ext cx="419100" cy="419100"/>
            </a:xfrm>
            <a:prstGeom prst="flowChartConnector">
              <a:avLst/>
            </a:prstGeom>
            <a:solidFill>
              <a:srgbClr val="C00000"/>
            </a:solidFill>
            <a:ln w="127000" cmpd="dbl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0782ACDC-0533-D28E-518C-708C59D334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57" r="21542"/>
          <a:stretch/>
        </p:blipFill>
        <p:spPr>
          <a:xfrm>
            <a:off x="2167923" y="3814802"/>
            <a:ext cx="3359750" cy="3398996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8C47927-C74A-DCCA-2956-03A5AA6EA599}"/>
              </a:ext>
            </a:extLst>
          </p:cNvPr>
          <p:cNvSpPr/>
          <p:nvPr/>
        </p:nvSpPr>
        <p:spPr>
          <a:xfrm>
            <a:off x="0" y="-933450"/>
            <a:ext cx="1059180" cy="10953750"/>
          </a:xfrm>
          <a:custGeom>
            <a:avLst/>
            <a:gdLst>
              <a:gd name="connsiteX0" fmla="*/ 0 w 1059180"/>
              <a:gd name="connsiteY0" fmla="*/ 0 h 10953750"/>
              <a:gd name="connsiteX1" fmla="*/ 1059180 w 1059180"/>
              <a:gd name="connsiteY1" fmla="*/ 0 h 10953750"/>
              <a:gd name="connsiteX2" fmla="*/ 1059180 w 1059180"/>
              <a:gd name="connsiteY2" fmla="*/ 4095750 h 10953750"/>
              <a:gd name="connsiteX3" fmla="*/ 1059180 w 1059180"/>
              <a:gd name="connsiteY3" fmla="*/ 4732823 h 10953750"/>
              <a:gd name="connsiteX4" fmla="*/ 822011 w 1059180"/>
              <a:gd name="connsiteY4" fmla="*/ 5352335 h 10953750"/>
              <a:gd name="connsiteX5" fmla="*/ 822011 w 1059180"/>
              <a:gd name="connsiteY5" fmla="*/ 5826673 h 10953750"/>
              <a:gd name="connsiteX6" fmla="*/ 1059180 w 1059180"/>
              <a:gd name="connsiteY6" fmla="*/ 6446185 h 10953750"/>
              <a:gd name="connsiteX7" fmla="*/ 1059180 w 1059180"/>
              <a:gd name="connsiteY7" fmla="*/ 10953750 h 10953750"/>
              <a:gd name="connsiteX8" fmla="*/ 0 w 1059180"/>
              <a:gd name="connsiteY8" fmla="*/ 10953750 h 10953750"/>
              <a:gd name="connsiteX9" fmla="*/ 0 w 1059180"/>
              <a:gd name="connsiteY9" fmla="*/ 4095750 h 10953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59180" h="10953750">
                <a:moveTo>
                  <a:pt x="0" y="0"/>
                </a:moveTo>
                <a:lnTo>
                  <a:pt x="1059180" y="0"/>
                </a:lnTo>
                <a:lnTo>
                  <a:pt x="1059180" y="4095750"/>
                </a:lnTo>
                <a:lnTo>
                  <a:pt x="1059180" y="4732823"/>
                </a:lnTo>
                <a:cubicBezTo>
                  <a:pt x="1043847" y="5003051"/>
                  <a:pt x="964792" y="5209555"/>
                  <a:pt x="822011" y="5352335"/>
                </a:cubicBezTo>
                <a:cubicBezTo>
                  <a:pt x="691027" y="5483320"/>
                  <a:pt x="691027" y="5695688"/>
                  <a:pt x="822011" y="5826673"/>
                </a:cubicBezTo>
                <a:cubicBezTo>
                  <a:pt x="964792" y="5969453"/>
                  <a:pt x="1043847" y="6175957"/>
                  <a:pt x="1059180" y="6446185"/>
                </a:cubicBezTo>
                <a:lnTo>
                  <a:pt x="1059180" y="10953750"/>
                </a:lnTo>
                <a:lnTo>
                  <a:pt x="0" y="10953750"/>
                </a:lnTo>
                <a:lnTo>
                  <a:pt x="0" y="409575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>
            <a:outerShdw blurRad="190500" dist="190500" sx="103000" sy="103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pic>
        <p:nvPicPr>
          <p:cNvPr id="55" name="Genre">
            <a:extLst>
              <a:ext uri="{FF2B5EF4-FFF2-40B4-BE49-F238E27FC236}">
                <a16:creationId xmlns:a16="http://schemas.microsoft.com/office/drawing/2014/main" id="{5F75BBD9-9632-CC7A-6FC4-37EA2B0B586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08" y="1198634"/>
            <a:ext cx="482430" cy="482430"/>
          </a:xfrm>
          <a:prstGeom prst="rect">
            <a:avLst/>
          </a:prstGeom>
        </p:spPr>
      </p:pic>
      <p:pic>
        <p:nvPicPr>
          <p:cNvPr id="2" name="Prediction">
            <a:extLst>
              <a:ext uri="{FF2B5EF4-FFF2-40B4-BE49-F238E27FC236}">
                <a16:creationId xmlns:a16="http://schemas.microsoft.com/office/drawing/2014/main" id="{F1AE74FD-3DBD-87D7-4F93-AFAE071ECD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08" y="2848036"/>
            <a:ext cx="473808" cy="473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497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enreGroup">
            <a:extLst>
              <a:ext uri="{FF2B5EF4-FFF2-40B4-BE49-F238E27FC236}">
                <a16:creationId xmlns:a16="http://schemas.microsoft.com/office/drawing/2014/main" id="{F4835296-BC33-95BA-7921-5C2EDE1A66CA}"/>
              </a:ext>
            </a:extLst>
          </p:cNvPr>
          <p:cNvGrpSpPr/>
          <p:nvPr/>
        </p:nvGrpSpPr>
        <p:grpSpPr>
          <a:xfrm>
            <a:off x="135255" y="1155920"/>
            <a:ext cx="688120" cy="688120"/>
            <a:chOff x="1291650" y="1523447"/>
            <a:chExt cx="908106" cy="908106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1C8877BE-426A-03AD-99D4-85EC7DDB0A51}"/>
                </a:ext>
              </a:extLst>
            </p:cNvPr>
            <p:cNvSpPr/>
            <p:nvPr/>
          </p:nvSpPr>
          <p:spPr>
            <a:xfrm>
              <a:off x="1291650" y="1523447"/>
              <a:ext cx="908106" cy="90810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41F763AD-FE66-3134-7E72-78F01C444C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72681" y="1704478"/>
              <a:ext cx="546044" cy="546044"/>
            </a:xfrm>
            <a:prstGeom prst="rect">
              <a:avLst/>
            </a:prstGeom>
            <a:noFill/>
          </p:spPr>
        </p:pic>
      </p:grpSp>
      <p:grpSp>
        <p:nvGrpSpPr>
          <p:cNvPr id="39" name="PredictionGroup">
            <a:extLst>
              <a:ext uri="{FF2B5EF4-FFF2-40B4-BE49-F238E27FC236}">
                <a16:creationId xmlns:a16="http://schemas.microsoft.com/office/drawing/2014/main" id="{CC6F9C4F-0EDB-1953-7E4E-1A838F60BD24}"/>
              </a:ext>
            </a:extLst>
          </p:cNvPr>
          <p:cNvGrpSpPr/>
          <p:nvPr/>
        </p:nvGrpSpPr>
        <p:grpSpPr>
          <a:xfrm>
            <a:off x="136779" y="2740880"/>
            <a:ext cx="688120" cy="688120"/>
            <a:chOff x="1270054" y="2679920"/>
            <a:chExt cx="688120" cy="68812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90977EB-9F40-80FA-3D3F-5094DFC0AB17}"/>
                </a:ext>
              </a:extLst>
            </p:cNvPr>
            <p:cNvSpPr/>
            <p:nvPr/>
          </p:nvSpPr>
          <p:spPr>
            <a:xfrm>
              <a:off x="1270054" y="2679920"/>
              <a:ext cx="688120" cy="6881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C0D2A5C2-B10C-4716-00A1-24AAA95FD6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3614" y="2833480"/>
              <a:ext cx="381000" cy="381000"/>
            </a:xfrm>
            <a:prstGeom prst="rect">
              <a:avLst/>
            </a:prstGeom>
          </p:spPr>
        </p:pic>
      </p:grpSp>
      <p:grpSp>
        <p:nvGrpSpPr>
          <p:cNvPr id="45" name="RecommedGroup">
            <a:extLst>
              <a:ext uri="{FF2B5EF4-FFF2-40B4-BE49-F238E27FC236}">
                <a16:creationId xmlns:a16="http://schemas.microsoft.com/office/drawing/2014/main" id="{346C7459-A937-5053-7B85-4033ECF1A46F}"/>
              </a:ext>
            </a:extLst>
          </p:cNvPr>
          <p:cNvGrpSpPr/>
          <p:nvPr/>
        </p:nvGrpSpPr>
        <p:grpSpPr>
          <a:xfrm>
            <a:off x="1060704" y="4325840"/>
            <a:ext cx="688120" cy="688120"/>
            <a:chOff x="1291920" y="4082000"/>
            <a:chExt cx="688120" cy="68812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CD1D5E4E-7836-88DD-A915-D540BBC5F4C0}"/>
                </a:ext>
              </a:extLst>
            </p:cNvPr>
            <p:cNvSpPr/>
            <p:nvPr/>
          </p:nvSpPr>
          <p:spPr>
            <a:xfrm>
              <a:off x="1291920" y="4082000"/>
              <a:ext cx="688120" cy="6881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1D79C1E6-C54B-3500-E562-E8BA84BDDD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34308" y="4187727"/>
              <a:ext cx="425230" cy="425230"/>
            </a:xfrm>
            <a:prstGeom prst="rect">
              <a:avLst/>
            </a:prstGeom>
          </p:spPr>
        </p:pic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38EAB30-7BE7-24D5-A77F-4A085DBB9170}"/>
              </a:ext>
            </a:extLst>
          </p:cNvPr>
          <p:cNvCxnSpPr>
            <a:cxnSpLocks/>
          </p:cNvCxnSpPr>
          <p:nvPr/>
        </p:nvCxnSpPr>
        <p:spPr>
          <a:xfrm>
            <a:off x="6934200" y="-8063"/>
            <a:ext cx="0" cy="4500550"/>
          </a:xfrm>
          <a:prstGeom prst="line">
            <a:avLst/>
          </a:prstGeom>
          <a:ln w="38100">
            <a:solidFill>
              <a:srgbClr val="2D2D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C3A0166-9C6C-84D0-7257-383D79B97B90}"/>
              </a:ext>
            </a:extLst>
          </p:cNvPr>
          <p:cNvGrpSpPr/>
          <p:nvPr/>
        </p:nvGrpSpPr>
        <p:grpSpPr>
          <a:xfrm>
            <a:off x="6664325" y="4412921"/>
            <a:ext cx="539750" cy="539750"/>
            <a:chOff x="2720975" y="3620465"/>
            <a:chExt cx="539750" cy="539750"/>
          </a:xfrm>
        </p:grpSpPr>
        <p:sp useBgFill="1">
          <p:nvSpPr>
            <p:cNvPr id="19" name="Flowchart: Connector 18">
              <a:extLst>
                <a:ext uri="{FF2B5EF4-FFF2-40B4-BE49-F238E27FC236}">
                  <a16:creationId xmlns:a16="http://schemas.microsoft.com/office/drawing/2014/main" id="{A612B4C4-1055-EA40-43AA-8D366BBB64BD}"/>
                </a:ext>
              </a:extLst>
            </p:cNvPr>
            <p:cNvSpPr/>
            <p:nvPr/>
          </p:nvSpPr>
          <p:spPr>
            <a:xfrm>
              <a:off x="2720975" y="3620465"/>
              <a:ext cx="539750" cy="539750"/>
            </a:xfrm>
            <a:prstGeom prst="flowChartConnector">
              <a:avLst/>
            </a:prstGeom>
            <a:ln w="25400" cmpd="sng">
              <a:solidFill>
                <a:srgbClr val="2D2D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Flowchart: Connector 17">
              <a:extLst>
                <a:ext uri="{FF2B5EF4-FFF2-40B4-BE49-F238E27FC236}">
                  <a16:creationId xmlns:a16="http://schemas.microsoft.com/office/drawing/2014/main" id="{7D5D38AB-8FDE-2C08-5781-7AFE636AF614}"/>
                </a:ext>
              </a:extLst>
            </p:cNvPr>
            <p:cNvSpPr/>
            <p:nvPr/>
          </p:nvSpPr>
          <p:spPr>
            <a:xfrm>
              <a:off x="2781300" y="3680790"/>
              <a:ext cx="419100" cy="419100"/>
            </a:xfrm>
            <a:prstGeom prst="flowChartConnector">
              <a:avLst/>
            </a:prstGeom>
            <a:solidFill>
              <a:srgbClr val="C00000"/>
            </a:solidFill>
            <a:ln w="127000" cmpd="dbl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4BC9E82-632D-9FBA-AC93-6DF8693AF6DC}"/>
              </a:ext>
            </a:extLst>
          </p:cNvPr>
          <p:cNvSpPr txBox="1"/>
          <p:nvPr/>
        </p:nvSpPr>
        <p:spPr>
          <a:xfrm>
            <a:off x="2781300" y="-4581968"/>
            <a:ext cx="8305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C00000"/>
                </a:solidFill>
                <a:latin typeface="Montserrat" pitchFamily="2" charset="0"/>
              </a:rPr>
              <a:t>Recommendation</a:t>
            </a:r>
            <a:r>
              <a:rPr lang="en-US" sz="4800" dirty="0">
                <a:solidFill>
                  <a:schemeClr val="accent4"/>
                </a:solidFill>
                <a:latin typeface="Montserrat" pitchFamily="2" charset="0"/>
              </a:rPr>
              <a:t> </a:t>
            </a:r>
            <a:r>
              <a:rPr lang="en-US" sz="4800" dirty="0">
                <a:solidFill>
                  <a:srgbClr val="2D2D2D"/>
                </a:solidFill>
                <a:latin typeface="Montserrat" pitchFamily="2" charset="0"/>
              </a:rPr>
              <a:t>System</a:t>
            </a:r>
            <a:endParaRPr lang="en-IN" sz="4800" dirty="0">
              <a:solidFill>
                <a:srgbClr val="2D2D2D"/>
              </a:solidFill>
              <a:latin typeface="Montserrat" pitchFamily="2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36825BA-CE0D-4938-E389-ECEB1DE84475}"/>
              </a:ext>
            </a:extLst>
          </p:cNvPr>
          <p:cNvGrpSpPr/>
          <p:nvPr/>
        </p:nvGrpSpPr>
        <p:grpSpPr>
          <a:xfrm>
            <a:off x="2049782" y="1958571"/>
            <a:ext cx="4465320" cy="1476097"/>
            <a:chOff x="2049782" y="1958571"/>
            <a:chExt cx="4465320" cy="147609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1D66C16-F906-0ED1-D5FB-C332795C48D1}"/>
                </a:ext>
              </a:extLst>
            </p:cNvPr>
            <p:cNvSpPr txBox="1"/>
            <p:nvPr/>
          </p:nvSpPr>
          <p:spPr>
            <a:xfrm>
              <a:off x="2560321" y="1958571"/>
              <a:ext cx="3954780" cy="338554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r">
                <a:spcBef>
                  <a:spcPts val="1200"/>
                </a:spcBef>
              </a:pPr>
              <a:r>
                <a:rPr lang="en-US" sz="1600" dirty="0">
                  <a:latin typeface="Montserrat" pitchFamily="2" charset="0"/>
                </a:rPr>
                <a:t>Feature Combination &amp; Weighting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720E6AB-C30F-2CE8-5C32-3D8C00EC9E02}"/>
                </a:ext>
              </a:extLst>
            </p:cNvPr>
            <p:cNvSpPr txBox="1"/>
            <p:nvPr/>
          </p:nvSpPr>
          <p:spPr>
            <a:xfrm>
              <a:off x="2049782" y="2357450"/>
              <a:ext cx="4465320" cy="1077218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r">
                <a:spcBef>
                  <a:spcPts val="1200"/>
                </a:spcBef>
              </a:pPr>
              <a:r>
                <a:rPr lang="en-US" sz="1600" dirty="0">
                  <a:effectLst/>
                  <a:latin typeface="Candara Light" panose="020E0502030303020204" pitchFamily="34" charset="0"/>
                </a:rPr>
                <a:t>Combined all features into a single matrix using </a:t>
              </a:r>
              <a:r>
                <a:rPr lang="en-US" sz="1600" dirty="0" err="1">
                  <a:effectLst/>
                  <a:latin typeface="Candara Light" panose="020E0502030303020204" pitchFamily="34" charset="0"/>
                </a:rPr>
                <a:t>hstack</a:t>
              </a:r>
              <a:r>
                <a:rPr lang="en-US" sz="1600" dirty="0">
                  <a:effectLst/>
                  <a:latin typeface="Candara Light" panose="020E0502030303020204" pitchFamily="34" charset="0"/>
                </a:rPr>
                <a:t>, and without weighting numeric features (like vote, rating, </a:t>
              </a:r>
              <a:r>
                <a:rPr lang="en-US" sz="1600" dirty="0" err="1">
                  <a:effectLst/>
                  <a:latin typeface="Candara Light" panose="020E0502030303020204" pitchFamily="34" charset="0"/>
                </a:rPr>
                <a:t>metascore</a:t>
              </a:r>
              <a:r>
                <a:rPr lang="en-US" sz="1600" dirty="0">
                  <a:effectLst/>
                  <a:latin typeface="Candara Light" panose="020E0502030303020204" pitchFamily="34" charset="0"/>
                </a:rPr>
                <a:t>) dominate the model, so it ensures TF-IDF metrics will get prioritized.</a:t>
              </a:r>
              <a:endParaRPr lang="en-US" sz="1600" dirty="0">
                <a:latin typeface="Candara Light" panose="020E0502030303020204" pitchFamily="34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8BF8F83-EC2E-9BC3-A27D-29D8DF8B9000}"/>
              </a:ext>
            </a:extLst>
          </p:cNvPr>
          <p:cNvGrpSpPr/>
          <p:nvPr/>
        </p:nvGrpSpPr>
        <p:grpSpPr>
          <a:xfrm>
            <a:off x="7353300" y="4500623"/>
            <a:ext cx="4196425" cy="1433392"/>
            <a:chOff x="7353300" y="4500623"/>
            <a:chExt cx="4196425" cy="143339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999D5A6-C7FF-329B-2ED5-D618FFC47804}"/>
                </a:ext>
              </a:extLst>
            </p:cNvPr>
            <p:cNvSpPr txBox="1"/>
            <p:nvPr/>
          </p:nvSpPr>
          <p:spPr>
            <a:xfrm>
              <a:off x="7353300" y="4500623"/>
              <a:ext cx="2667000" cy="338554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>
                <a:spcBef>
                  <a:spcPts val="1200"/>
                </a:spcBef>
              </a:pPr>
              <a:r>
                <a:rPr lang="en-US" sz="1600" dirty="0">
                  <a:latin typeface="Montserrat" pitchFamily="2" charset="0"/>
                </a:rPr>
                <a:t>Similarity Calculation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445EAA2-48F3-DEF0-565B-6DD6E8DBF204}"/>
                </a:ext>
              </a:extLst>
            </p:cNvPr>
            <p:cNvSpPr txBox="1"/>
            <p:nvPr/>
          </p:nvSpPr>
          <p:spPr>
            <a:xfrm>
              <a:off x="7353300" y="4856797"/>
              <a:ext cx="4196425" cy="1077218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>
                <a:spcBef>
                  <a:spcPts val="1200"/>
                </a:spcBef>
              </a:pPr>
              <a:r>
                <a:rPr lang="en-US" sz="1600" dirty="0">
                  <a:effectLst/>
                  <a:latin typeface="Candara Light" panose="020E0502030303020204" pitchFamily="34" charset="0"/>
                </a:rPr>
                <a:t>Cosine similarity measure the angle between feature vectors, making it ideal for high-dimensional sparse data lik</a:t>
              </a:r>
              <a:r>
                <a:rPr lang="en-US" sz="1600" dirty="0">
                  <a:latin typeface="Candara Light" panose="020E0502030303020204" pitchFamily="34" charset="0"/>
                </a:rPr>
                <a:t>e TF-IDF, and focuses on similarity rather than magnitude.</a:t>
              </a:r>
              <a:endParaRPr lang="en-US" sz="1600" dirty="0">
                <a:effectLst/>
                <a:latin typeface="Candara Light" panose="020E0502030303020204" pitchFamily="34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6884F94-F689-C6C7-480F-815A45657706}"/>
              </a:ext>
            </a:extLst>
          </p:cNvPr>
          <p:cNvGrpSpPr/>
          <p:nvPr/>
        </p:nvGrpSpPr>
        <p:grpSpPr>
          <a:xfrm>
            <a:off x="6664325" y="1817700"/>
            <a:ext cx="539750" cy="539750"/>
            <a:chOff x="2720975" y="3620465"/>
            <a:chExt cx="539750" cy="539750"/>
          </a:xfrm>
        </p:grpSpPr>
        <p:sp useBgFill="1">
          <p:nvSpPr>
            <p:cNvPr id="14" name="Flowchart: Connector 13">
              <a:extLst>
                <a:ext uri="{FF2B5EF4-FFF2-40B4-BE49-F238E27FC236}">
                  <a16:creationId xmlns:a16="http://schemas.microsoft.com/office/drawing/2014/main" id="{0D7EFD9C-5BC5-9F7B-3986-FDF6E16A21BF}"/>
                </a:ext>
              </a:extLst>
            </p:cNvPr>
            <p:cNvSpPr/>
            <p:nvPr/>
          </p:nvSpPr>
          <p:spPr>
            <a:xfrm>
              <a:off x="2720975" y="3620465"/>
              <a:ext cx="539750" cy="539750"/>
            </a:xfrm>
            <a:prstGeom prst="flowChartConnector">
              <a:avLst/>
            </a:prstGeom>
            <a:ln w="25400" cmpd="sng">
              <a:solidFill>
                <a:srgbClr val="2D2D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Flowchart: Connector 11">
              <a:extLst>
                <a:ext uri="{FF2B5EF4-FFF2-40B4-BE49-F238E27FC236}">
                  <a16:creationId xmlns:a16="http://schemas.microsoft.com/office/drawing/2014/main" id="{A6554672-1CF0-1CC0-170A-A42A2B475D81}"/>
                </a:ext>
              </a:extLst>
            </p:cNvPr>
            <p:cNvSpPr/>
            <p:nvPr/>
          </p:nvSpPr>
          <p:spPr>
            <a:xfrm>
              <a:off x="2781300" y="3680790"/>
              <a:ext cx="419100" cy="419100"/>
            </a:xfrm>
            <a:prstGeom prst="flowChartConnector">
              <a:avLst/>
            </a:prstGeom>
            <a:solidFill>
              <a:srgbClr val="C00000"/>
            </a:solidFill>
            <a:ln w="127000" cmpd="dbl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DCE430A7-364D-B7F7-0DDC-CD4DE84078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38" t="29046" r="28685" b="3568"/>
          <a:stretch/>
        </p:blipFill>
        <p:spPr>
          <a:xfrm flipH="1">
            <a:off x="7886700" y="1392969"/>
            <a:ext cx="3200400" cy="2174921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8C47927-C74A-DCCA-2956-03A5AA6EA599}"/>
              </a:ext>
            </a:extLst>
          </p:cNvPr>
          <p:cNvSpPr/>
          <p:nvPr/>
        </p:nvSpPr>
        <p:spPr>
          <a:xfrm>
            <a:off x="0" y="-933450"/>
            <a:ext cx="1059180" cy="10953750"/>
          </a:xfrm>
          <a:custGeom>
            <a:avLst/>
            <a:gdLst>
              <a:gd name="connsiteX0" fmla="*/ 0 w 1059180"/>
              <a:gd name="connsiteY0" fmla="*/ 0 h 10953750"/>
              <a:gd name="connsiteX1" fmla="*/ 1059180 w 1059180"/>
              <a:gd name="connsiteY1" fmla="*/ 0 h 10953750"/>
              <a:gd name="connsiteX2" fmla="*/ 1059180 w 1059180"/>
              <a:gd name="connsiteY2" fmla="*/ 4095750 h 10953750"/>
              <a:gd name="connsiteX3" fmla="*/ 1059180 w 1059180"/>
              <a:gd name="connsiteY3" fmla="*/ 4732823 h 10953750"/>
              <a:gd name="connsiteX4" fmla="*/ 822011 w 1059180"/>
              <a:gd name="connsiteY4" fmla="*/ 5352335 h 10953750"/>
              <a:gd name="connsiteX5" fmla="*/ 822011 w 1059180"/>
              <a:gd name="connsiteY5" fmla="*/ 5826673 h 10953750"/>
              <a:gd name="connsiteX6" fmla="*/ 1059180 w 1059180"/>
              <a:gd name="connsiteY6" fmla="*/ 6446185 h 10953750"/>
              <a:gd name="connsiteX7" fmla="*/ 1059180 w 1059180"/>
              <a:gd name="connsiteY7" fmla="*/ 10953750 h 10953750"/>
              <a:gd name="connsiteX8" fmla="*/ 0 w 1059180"/>
              <a:gd name="connsiteY8" fmla="*/ 10953750 h 10953750"/>
              <a:gd name="connsiteX9" fmla="*/ 0 w 1059180"/>
              <a:gd name="connsiteY9" fmla="*/ 4095750 h 10953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59180" h="10953750">
                <a:moveTo>
                  <a:pt x="0" y="0"/>
                </a:moveTo>
                <a:lnTo>
                  <a:pt x="1059180" y="0"/>
                </a:lnTo>
                <a:lnTo>
                  <a:pt x="1059180" y="4095750"/>
                </a:lnTo>
                <a:lnTo>
                  <a:pt x="1059180" y="4732823"/>
                </a:lnTo>
                <a:cubicBezTo>
                  <a:pt x="1043847" y="5003051"/>
                  <a:pt x="964792" y="5209555"/>
                  <a:pt x="822011" y="5352335"/>
                </a:cubicBezTo>
                <a:cubicBezTo>
                  <a:pt x="691027" y="5483320"/>
                  <a:pt x="691027" y="5695688"/>
                  <a:pt x="822011" y="5826673"/>
                </a:cubicBezTo>
                <a:cubicBezTo>
                  <a:pt x="964792" y="5969453"/>
                  <a:pt x="1043847" y="6175957"/>
                  <a:pt x="1059180" y="6446185"/>
                </a:cubicBezTo>
                <a:lnTo>
                  <a:pt x="1059180" y="10953750"/>
                </a:lnTo>
                <a:lnTo>
                  <a:pt x="0" y="10953750"/>
                </a:lnTo>
                <a:lnTo>
                  <a:pt x="0" y="409575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>
            <a:outerShdw blurRad="190500" dist="190500" sx="103000" sy="103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pic>
        <p:nvPicPr>
          <p:cNvPr id="55" name="Genre">
            <a:extLst>
              <a:ext uri="{FF2B5EF4-FFF2-40B4-BE49-F238E27FC236}">
                <a16:creationId xmlns:a16="http://schemas.microsoft.com/office/drawing/2014/main" id="{5F75BBD9-9632-CC7A-6FC4-37EA2B0B586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08" y="1198634"/>
            <a:ext cx="482430" cy="482430"/>
          </a:xfrm>
          <a:prstGeom prst="rect">
            <a:avLst/>
          </a:prstGeom>
        </p:spPr>
      </p:pic>
      <p:pic>
        <p:nvPicPr>
          <p:cNvPr id="2" name="Prediction">
            <a:extLst>
              <a:ext uri="{FF2B5EF4-FFF2-40B4-BE49-F238E27FC236}">
                <a16:creationId xmlns:a16="http://schemas.microsoft.com/office/drawing/2014/main" id="{F1AE74FD-3DBD-87D7-4F93-AFAE071ECD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08" y="2848036"/>
            <a:ext cx="473808" cy="473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0461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9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enreGroup">
            <a:extLst>
              <a:ext uri="{FF2B5EF4-FFF2-40B4-BE49-F238E27FC236}">
                <a16:creationId xmlns:a16="http://schemas.microsoft.com/office/drawing/2014/main" id="{F4835296-BC33-95BA-7921-5C2EDE1A66CA}"/>
              </a:ext>
            </a:extLst>
          </p:cNvPr>
          <p:cNvGrpSpPr/>
          <p:nvPr/>
        </p:nvGrpSpPr>
        <p:grpSpPr>
          <a:xfrm>
            <a:off x="135255" y="8128220"/>
            <a:ext cx="688120" cy="688120"/>
            <a:chOff x="1291650" y="1523447"/>
            <a:chExt cx="908106" cy="908106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1C8877BE-426A-03AD-99D4-85EC7DDB0A51}"/>
                </a:ext>
              </a:extLst>
            </p:cNvPr>
            <p:cNvSpPr/>
            <p:nvPr/>
          </p:nvSpPr>
          <p:spPr>
            <a:xfrm>
              <a:off x="1291650" y="1523447"/>
              <a:ext cx="908106" cy="90810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41F763AD-FE66-3134-7E72-78F01C444C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72681" y="1704478"/>
              <a:ext cx="546044" cy="546044"/>
            </a:xfrm>
            <a:prstGeom prst="rect">
              <a:avLst/>
            </a:prstGeom>
            <a:noFill/>
          </p:spPr>
        </p:pic>
      </p:grpSp>
      <p:grpSp>
        <p:nvGrpSpPr>
          <p:cNvPr id="39" name="PredictionGroup">
            <a:extLst>
              <a:ext uri="{FF2B5EF4-FFF2-40B4-BE49-F238E27FC236}">
                <a16:creationId xmlns:a16="http://schemas.microsoft.com/office/drawing/2014/main" id="{CC6F9C4F-0EDB-1953-7E4E-1A838F60BD24}"/>
              </a:ext>
            </a:extLst>
          </p:cNvPr>
          <p:cNvGrpSpPr/>
          <p:nvPr/>
        </p:nvGrpSpPr>
        <p:grpSpPr>
          <a:xfrm>
            <a:off x="136779" y="9713180"/>
            <a:ext cx="688120" cy="688120"/>
            <a:chOff x="1270054" y="2679920"/>
            <a:chExt cx="688120" cy="68812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90977EB-9F40-80FA-3D3F-5094DFC0AB17}"/>
                </a:ext>
              </a:extLst>
            </p:cNvPr>
            <p:cNvSpPr/>
            <p:nvPr/>
          </p:nvSpPr>
          <p:spPr>
            <a:xfrm>
              <a:off x="1270054" y="2679920"/>
              <a:ext cx="688120" cy="6881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C0D2A5C2-B10C-4716-00A1-24AAA95FD6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3614" y="2833480"/>
              <a:ext cx="381000" cy="381000"/>
            </a:xfrm>
            <a:prstGeom prst="rect">
              <a:avLst/>
            </a:prstGeom>
          </p:spPr>
        </p:pic>
      </p:grpSp>
      <p:grpSp>
        <p:nvGrpSpPr>
          <p:cNvPr id="45" name="RecommedGroup">
            <a:extLst>
              <a:ext uri="{FF2B5EF4-FFF2-40B4-BE49-F238E27FC236}">
                <a16:creationId xmlns:a16="http://schemas.microsoft.com/office/drawing/2014/main" id="{346C7459-A937-5053-7B85-4033ECF1A46F}"/>
              </a:ext>
            </a:extLst>
          </p:cNvPr>
          <p:cNvGrpSpPr/>
          <p:nvPr/>
        </p:nvGrpSpPr>
        <p:grpSpPr>
          <a:xfrm>
            <a:off x="8029160" y="304417"/>
            <a:ext cx="688120" cy="688120"/>
            <a:chOff x="1291920" y="4082000"/>
            <a:chExt cx="688120" cy="68812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CD1D5E4E-7836-88DD-A915-D540BBC5F4C0}"/>
                </a:ext>
              </a:extLst>
            </p:cNvPr>
            <p:cNvSpPr/>
            <p:nvPr/>
          </p:nvSpPr>
          <p:spPr>
            <a:xfrm>
              <a:off x="1291920" y="4082000"/>
              <a:ext cx="688120" cy="68812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1D79C1E6-C54B-3500-E562-E8BA84BDDD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34308" y="4187727"/>
              <a:ext cx="425230" cy="42523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A133814-1B54-4753-61B4-BB98C16AB36A}"/>
              </a:ext>
            </a:extLst>
          </p:cNvPr>
          <p:cNvSpPr txBox="1"/>
          <p:nvPr/>
        </p:nvSpPr>
        <p:spPr>
          <a:xfrm>
            <a:off x="3474720" y="325312"/>
            <a:ext cx="4554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C000"/>
                </a:solidFill>
                <a:latin typeface="Montserrat" pitchFamily="2" charset="0"/>
              </a:rPr>
              <a:t>Recommendation</a:t>
            </a:r>
            <a:endParaRPr lang="en-IN" sz="3600" dirty="0">
              <a:solidFill>
                <a:srgbClr val="FFC000"/>
              </a:solidFill>
              <a:latin typeface="Montserrat" pitchFamily="2" charset="0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8C47927-C74A-DCCA-2956-03A5AA6EA599}"/>
              </a:ext>
            </a:extLst>
          </p:cNvPr>
          <p:cNvSpPr/>
          <p:nvPr/>
        </p:nvSpPr>
        <p:spPr>
          <a:xfrm>
            <a:off x="0" y="7239000"/>
            <a:ext cx="1059180" cy="10953750"/>
          </a:xfrm>
          <a:custGeom>
            <a:avLst/>
            <a:gdLst>
              <a:gd name="connsiteX0" fmla="*/ 0 w 1059180"/>
              <a:gd name="connsiteY0" fmla="*/ 0 h 10953750"/>
              <a:gd name="connsiteX1" fmla="*/ 1059180 w 1059180"/>
              <a:gd name="connsiteY1" fmla="*/ 0 h 10953750"/>
              <a:gd name="connsiteX2" fmla="*/ 1059180 w 1059180"/>
              <a:gd name="connsiteY2" fmla="*/ 4095750 h 10953750"/>
              <a:gd name="connsiteX3" fmla="*/ 1059180 w 1059180"/>
              <a:gd name="connsiteY3" fmla="*/ 4732823 h 10953750"/>
              <a:gd name="connsiteX4" fmla="*/ 822011 w 1059180"/>
              <a:gd name="connsiteY4" fmla="*/ 5352335 h 10953750"/>
              <a:gd name="connsiteX5" fmla="*/ 822011 w 1059180"/>
              <a:gd name="connsiteY5" fmla="*/ 5826673 h 10953750"/>
              <a:gd name="connsiteX6" fmla="*/ 1059180 w 1059180"/>
              <a:gd name="connsiteY6" fmla="*/ 6446185 h 10953750"/>
              <a:gd name="connsiteX7" fmla="*/ 1059180 w 1059180"/>
              <a:gd name="connsiteY7" fmla="*/ 10953750 h 10953750"/>
              <a:gd name="connsiteX8" fmla="*/ 0 w 1059180"/>
              <a:gd name="connsiteY8" fmla="*/ 10953750 h 10953750"/>
              <a:gd name="connsiteX9" fmla="*/ 0 w 1059180"/>
              <a:gd name="connsiteY9" fmla="*/ 4095750 h 10953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59180" h="10953750">
                <a:moveTo>
                  <a:pt x="0" y="0"/>
                </a:moveTo>
                <a:lnTo>
                  <a:pt x="1059180" y="0"/>
                </a:lnTo>
                <a:lnTo>
                  <a:pt x="1059180" y="4095750"/>
                </a:lnTo>
                <a:lnTo>
                  <a:pt x="1059180" y="4732823"/>
                </a:lnTo>
                <a:cubicBezTo>
                  <a:pt x="1043847" y="5003051"/>
                  <a:pt x="964792" y="5209555"/>
                  <a:pt x="822011" y="5352335"/>
                </a:cubicBezTo>
                <a:cubicBezTo>
                  <a:pt x="691027" y="5483320"/>
                  <a:pt x="691027" y="5695688"/>
                  <a:pt x="822011" y="5826673"/>
                </a:cubicBezTo>
                <a:cubicBezTo>
                  <a:pt x="964792" y="5969453"/>
                  <a:pt x="1043847" y="6175957"/>
                  <a:pt x="1059180" y="6446185"/>
                </a:cubicBezTo>
                <a:lnTo>
                  <a:pt x="1059180" y="10953750"/>
                </a:lnTo>
                <a:lnTo>
                  <a:pt x="0" y="10953750"/>
                </a:lnTo>
                <a:lnTo>
                  <a:pt x="0" y="409575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>
            <a:outerShdw blurRad="190500" dist="190500" sx="103000" sy="103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pic>
        <p:nvPicPr>
          <p:cNvPr id="55" name="Genre">
            <a:extLst>
              <a:ext uri="{FF2B5EF4-FFF2-40B4-BE49-F238E27FC236}">
                <a16:creationId xmlns:a16="http://schemas.microsoft.com/office/drawing/2014/main" id="{5F75BBD9-9632-CC7A-6FC4-37EA2B0B58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08" y="9371084"/>
            <a:ext cx="482430" cy="482430"/>
          </a:xfrm>
          <a:prstGeom prst="rect">
            <a:avLst/>
          </a:prstGeom>
        </p:spPr>
      </p:pic>
      <p:pic>
        <p:nvPicPr>
          <p:cNvPr id="2" name="Prediction">
            <a:extLst>
              <a:ext uri="{FF2B5EF4-FFF2-40B4-BE49-F238E27FC236}">
                <a16:creationId xmlns:a16="http://schemas.microsoft.com/office/drawing/2014/main" id="{F1AE74FD-3DBD-87D7-4F93-AFAE071ECD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08" y="11020486"/>
            <a:ext cx="473808" cy="47380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36BFFBD-F320-A251-3DDD-A2BFD84E894F}"/>
              </a:ext>
            </a:extLst>
          </p:cNvPr>
          <p:cNvSpPr/>
          <p:nvPr/>
        </p:nvSpPr>
        <p:spPr>
          <a:xfrm>
            <a:off x="2471530" y="1237920"/>
            <a:ext cx="7248940" cy="412030"/>
          </a:xfrm>
          <a:prstGeom prst="roundRect">
            <a:avLst/>
          </a:prstGeom>
          <a:solidFill>
            <a:srgbClr val="EFEFE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D87F20E-0791-3C3F-8390-E638826FB1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34860" y="1294660"/>
            <a:ext cx="298549" cy="29854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9507FA1-4E9A-9A5D-C862-6AA18ABC413E}"/>
              </a:ext>
            </a:extLst>
          </p:cNvPr>
          <p:cNvSpPr txBox="1"/>
          <p:nvPr/>
        </p:nvSpPr>
        <p:spPr>
          <a:xfrm>
            <a:off x="3107300" y="1258851"/>
            <a:ext cx="567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Spider-Man</a:t>
            </a:r>
            <a:endParaRPr lang="en-IN" dirty="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3F6024E2-86F8-E242-2A99-2713047408D4}"/>
              </a:ext>
            </a:extLst>
          </p:cNvPr>
          <p:cNvGrpSpPr/>
          <p:nvPr/>
        </p:nvGrpSpPr>
        <p:grpSpPr>
          <a:xfrm>
            <a:off x="2471530" y="1916227"/>
            <a:ext cx="7261860" cy="1965962"/>
            <a:chOff x="2471530" y="1916227"/>
            <a:chExt cx="7261860" cy="1965962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B11E4EB8-D5F0-D9D1-CA5B-2C1FFE9E1D3A}"/>
                </a:ext>
              </a:extLst>
            </p:cNvPr>
            <p:cNvSpPr/>
            <p:nvPr/>
          </p:nvSpPr>
          <p:spPr>
            <a:xfrm>
              <a:off x="2471530" y="1916227"/>
              <a:ext cx="1310640" cy="1965962"/>
            </a:xfrm>
            <a:prstGeom prst="roundRect">
              <a:avLst>
                <a:gd name="adj" fmla="val 6783"/>
              </a:avLst>
            </a:prstGeom>
            <a:blipFill dpi="0" rotWithShape="1">
              <a:blip r:embed="rId8"/>
              <a:srcRect/>
              <a:stretch>
                <a:fillRect/>
              </a:stretch>
            </a:blipFill>
            <a:ln>
              <a:solidFill>
                <a:schemeClr val="bg1"/>
              </a:solidFill>
            </a:ln>
            <a:effectLst>
              <a:outerShdw blurRad="254000" dist="63500" dir="2700000" sx="103000" sy="103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9142D7B-79FE-612F-4AB4-FB83EF95C75D}"/>
                </a:ext>
              </a:extLst>
            </p:cNvPr>
            <p:cNvSpPr txBox="1"/>
            <p:nvPr/>
          </p:nvSpPr>
          <p:spPr>
            <a:xfrm>
              <a:off x="4056490" y="2022165"/>
              <a:ext cx="5676900" cy="17055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Candara" panose="020E0502030303020204" pitchFamily="34" charset="0"/>
                </a:rPr>
                <a:t>Spider-Man</a:t>
              </a:r>
            </a:p>
            <a:p>
              <a:pPr>
                <a:spcBef>
                  <a:spcPts val="1000"/>
                </a:spcBef>
              </a:pPr>
              <a:r>
                <a:rPr lang="en-US" sz="1600" dirty="0">
                  <a:solidFill>
                    <a:schemeClr val="bg1"/>
                  </a:solidFill>
                  <a:latin typeface="Candara" panose="020E0502030303020204" pitchFamily="34" charset="0"/>
                </a:rPr>
                <a:t>Genres</a:t>
              </a:r>
              <a:r>
                <a:rPr lang="en-US" sz="16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                 </a:t>
              </a:r>
              <a:r>
                <a:rPr lang="en-US" sz="1600" dirty="0">
                  <a:solidFill>
                    <a:srgbClr val="0070C0"/>
                  </a:solidFill>
                  <a:latin typeface="Candara Light" panose="020E0502030303020204" pitchFamily="34" charset="0"/>
                </a:rPr>
                <a:t>Action</a:t>
              </a:r>
              <a:r>
                <a:rPr lang="en-US" sz="16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 </a:t>
              </a:r>
              <a:r>
                <a:rPr lang="en-IN" sz="1600" b="0" i="0" dirty="0">
                  <a:solidFill>
                    <a:schemeClr val="bg1"/>
                  </a:solidFill>
                  <a:effectLst/>
                  <a:latin typeface="arial" panose="020B0604020202020204" pitchFamily="34" charset="0"/>
                </a:rPr>
                <a:t>·</a:t>
              </a:r>
              <a:r>
                <a:rPr lang="en-IN" sz="1600" b="0" i="0" dirty="0">
                  <a:solidFill>
                    <a:srgbClr val="555555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lang="en-IN" sz="1600" b="0" i="0" dirty="0">
                  <a:solidFill>
                    <a:srgbClr val="0070C0"/>
                  </a:solidFill>
                  <a:effectLst/>
                  <a:latin typeface="Candara Light" panose="020E0502030303020204" pitchFamily="34" charset="0"/>
                </a:rPr>
                <a:t>Adventure</a:t>
              </a:r>
              <a:r>
                <a:rPr lang="en-IN" sz="1600" b="0" i="0" dirty="0">
                  <a:solidFill>
                    <a:schemeClr val="bg1"/>
                  </a:solidFill>
                  <a:effectLst/>
                  <a:latin typeface="Candara Light" panose="020E0502030303020204" pitchFamily="34" charset="0"/>
                </a:rPr>
                <a:t> </a:t>
              </a:r>
              <a:r>
                <a:rPr lang="en-IN" sz="1600" b="0" i="0" dirty="0">
                  <a:solidFill>
                    <a:schemeClr val="bg1"/>
                  </a:solidFill>
                  <a:effectLst/>
                  <a:latin typeface="arial" panose="020B0604020202020204" pitchFamily="34" charset="0"/>
                </a:rPr>
                <a:t>·</a:t>
              </a:r>
              <a:r>
                <a:rPr lang="en-IN" sz="1600" b="0" i="0" dirty="0">
                  <a:solidFill>
                    <a:schemeClr val="bg1"/>
                  </a:solidFill>
                  <a:effectLst/>
                  <a:latin typeface="Candara Light" panose="020E0502030303020204" pitchFamily="34" charset="0"/>
                </a:rPr>
                <a:t> </a:t>
              </a:r>
              <a:r>
                <a:rPr lang="en-IN" sz="1600" b="0" i="0" dirty="0">
                  <a:solidFill>
                    <a:srgbClr val="0070C0"/>
                  </a:solidFill>
                  <a:effectLst/>
                  <a:latin typeface="Candara Light" panose="020E0502030303020204" pitchFamily="34" charset="0"/>
                </a:rPr>
                <a:t>Sci-Fi</a:t>
              </a:r>
            </a:p>
            <a:p>
              <a:pPr>
                <a:spcBef>
                  <a:spcPts val="500"/>
                </a:spcBef>
              </a:pPr>
              <a:r>
                <a:rPr lang="en-IN" sz="1600" dirty="0">
                  <a:solidFill>
                    <a:schemeClr val="bg1"/>
                  </a:solidFill>
                  <a:latin typeface="Candara" panose="020E0502030303020204" pitchFamily="34" charset="0"/>
                </a:rPr>
                <a:t>Director</a:t>
              </a:r>
              <a:r>
                <a:rPr lang="en-IN" sz="16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               </a:t>
              </a:r>
              <a:r>
                <a:rPr lang="en-IN" sz="1600" dirty="0">
                  <a:solidFill>
                    <a:srgbClr val="0070C0"/>
                  </a:solidFill>
                  <a:latin typeface="Candara Light" panose="020E0502030303020204" pitchFamily="34" charset="0"/>
                </a:rPr>
                <a:t>Sam Raimi</a:t>
              </a:r>
            </a:p>
            <a:p>
              <a:pPr>
                <a:spcBef>
                  <a:spcPts val="500"/>
                </a:spcBef>
              </a:pPr>
              <a:r>
                <a:rPr lang="en-IN" sz="1600" dirty="0">
                  <a:solidFill>
                    <a:schemeClr val="bg1"/>
                  </a:solidFill>
                  <a:latin typeface="Candara" panose="020E0502030303020204" pitchFamily="34" charset="0"/>
                </a:rPr>
                <a:t>Stars </a:t>
              </a:r>
              <a:r>
                <a:rPr lang="en-IN" sz="1600" dirty="0">
                  <a:solidFill>
                    <a:srgbClr val="0070C0"/>
                  </a:solidFill>
                  <a:latin typeface="Candara Light" panose="020E0502030303020204" pitchFamily="34" charset="0"/>
                </a:rPr>
                <a:t>                    Tobey Maguire </a:t>
              </a:r>
              <a:r>
                <a:rPr lang="en-IN" sz="1600" b="0" i="0" dirty="0">
                  <a:solidFill>
                    <a:schemeClr val="bg1"/>
                  </a:solidFill>
                  <a:effectLst/>
                  <a:latin typeface="arial" panose="020B0604020202020204" pitchFamily="34" charset="0"/>
                </a:rPr>
                <a:t>· </a:t>
              </a:r>
              <a:r>
                <a:rPr lang="en-IN" sz="1600" b="0" i="0" dirty="0">
                  <a:solidFill>
                    <a:srgbClr val="0070C0"/>
                  </a:solidFill>
                  <a:effectLst/>
                  <a:latin typeface="Candara Light" panose="020E0502030303020204" pitchFamily="34" charset="0"/>
                </a:rPr>
                <a:t>Kristen Dunst </a:t>
              </a:r>
              <a:r>
                <a:rPr lang="en-IN" sz="1600" b="0" i="0" dirty="0">
                  <a:solidFill>
                    <a:schemeClr val="bg1"/>
                  </a:solidFill>
                  <a:effectLst/>
                  <a:latin typeface="arial" panose="020B0604020202020204" pitchFamily="34" charset="0"/>
                </a:rPr>
                <a:t>· </a:t>
              </a:r>
              <a:r>
                <a:rPr lang="en-IN" sz="1600" b="0" i="0" dirty="0">
                  <a:solidFill>
                    <a:srgbClr val="0070C0"/>
                  </a:solidFill>
                  <a:effectLst/>
                  <a:latin typeface="Candara Light" panose="020E0502030303020204" pitchFamily="34" charset="0"/>
                </a:rPr>
                <a:t>Willem Dafoe</a:t>
              </a:r>
            </a:p>
            <a:p>
              <a:pPr>
                <a:spcBef>
                  <a:spcPts val="500"/>
                </a:spcBef>
              </a:pPr>
              <a:r>
                <a:rPr lang="en-IN" sz="1600" dirty="0">
                  <a:solidFill>
                    <a:schemeClr val="bg1"/>
                  </a:solidFill>
                  <a:latin typeface="Candara" panose="020E0502030303020204" pitchFamily="34" charset="0"/>
                </a:rPr>
                <a:t>Release Date</a:t>
              </a:r>
              <a:r>
                <a:rPr lang="en-IN" sz="1600" dirty="0">
                  <a:solidFill>
                    <a:schemeClr val="bg1"/>
                  </a:solidFill>
                  <a:latin typeface="Candara Light" panose="020E0502030303020204" pitchFamily="34" charset="0"/>
                </a:rPr>
                <a:t>      </a:t>
              </a:r>
              <a:r>
                <a:rPr lang="en-IN" sz="1600" dirty="0">
                  <a:solidFill>
                    <a:srgbClr val="0070C0"/>
                  </a:solidFill>
                  <a:latin typeface="Candara Light" panose="020E0502030303020204" pitchFamily="34" charset="0"/>
                </a:rPr>
                <a:t>May 3, 2002</a:t>
              </a: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7F9182-AF28-06A8-83AC-BE89DFF4CB54}"/>
                </a:ext>
              </a:extLst>
            </p:cNvPr>
            <p:cNvGrpSpPr/>
            <p:nvPr/>
          </p:nvGrpSpPr>
          <p:grpSpPr>
            <a:xfrm>
              <a:off x="5663537" y="2063440"/>
              <a:ext cx="1416823" cy="307777"/>
              <a:chOff x="8384163" y="2219849"/>
              <a:chExt cx="1416823" cy="307777"/>
            </a:xfrm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65544242-F49C-9E16-0E3A-62F0C8ACDD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384163" y="2249030"/>
                <a:ext cx="249416" cy="249416"/>
              </a:xfrm>
              <a:prstGeom prst="rect">
                <a:avLst/>
              </a:prstGeom>
            </p:spPr>
          </p:pic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CC31FD0-F022-F582-E7E0-49413F0FE811}"/>
                  </a:ext>
                </a:extLst>
              </p:cNvPr>
              <p:cNvSpPr txBox="1"/>
              <p:nvPr/>
            </p:nvSpPr>
            <p:spPr>
              <a:xfrm>
                <a:off x="8633578" y="2219849"/>
                <a:ext cx="116740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chemeClr val="bg1"/>
                    </a:solidFill>
                    <a:latin typeface="+mj-lt"/>
                  </a:rPr>
                  <a:t>7.4</a:t>
                </a:r>
                <a:r>
                  <a:rPr lang="en-US" sz="1400" dirty="0">
                    <a:solidFill>
                      <a:schemeClr val="bg1"/>
                    </a:solidFill>
                    <a:latin typeface="+mj-lt"/>
                  </a:rPr>
                  <a:t>/10 </a:t>
                </a:r>
                <a:r>
                  <a:rPr lang="en-US" sz="1200" b="1" dirty="0">
                    <a:solidFill>
                      <a:schemeClr val="bg1">
                        <a:lumMod val="65000"/>
                      </a:schemeClr>
                    </a:solidFill>
                    <a:latin typeface="+mj-lt"/>
                  </a:rPr>
                  <a:t>(964k)</a:t>
                </a:r>
              </a:p>
            </p:txBody>
          </p:sp>
        </p:grpSp>
      </p:grp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8670E1E-FBDE-B055-8953-2D8BB0190F79}"/>
              </a:ext>
            </a:extLst>
          </p:cNvPr>
          <p:cNvSpPr/>
          <p:nvPr/>
        </p:nvSpPr>
        <p:spPr>
          <a:xfrm>
            <a:off x="1246597" y="4435189"/>
            <a:ext cx="1310640" cy="1965962"/>
          </a:xfrm>
          <a:prstGeom prst="roundRect">
            <a:avLst>
              <a:gd name="adj" fmla="val 6783"/>
            </a:avLst>
          </a:prstGeom>
          <a:blipFill dpi="0" rotWithShape="1">
            <a:blip r:embed="rId10"/>
            <a:srcRect/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54000" dist="63500" dir="2700000" sx="103000" sy="103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F3EB297-5E21-D498-9EAA-837C5D8557FE}"/>
              </a:ext>
            </a:extLst>
          </p:cNvPr>
          <p:cNvSpPr/>
          <p:nvPr/>
        </p:nvSpPr>
        <p:spPr>
          <a:xfrm>
            <a:off x="2933409" y="4435189"/>
            <a:ext cx="1310640" cy="1965962"/>
          </a:xfrm>
          <a:prstGeom prst="roundRect">
            <a:avLst>
              <a:gd name="adj" fmla="val 6783"/>
            </a:avLst>
          </a:prstGeom>
          <a:blipFill dpi="0" rotWithShape="1">
            <a:blip r:embed="rId11"/>
            <a:srcRect/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54000" dist="63500" dir="2700000" sx="103000" sy="103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714F077-C8EE-C4BE-DFDD-716752074741}"/>
              </a:ext>
            </a:extLst>
          </p:cNvPr>
          <p:cNvSpPr/>
          <p:nvPr/>
        </p:nvSpPr>
        <p:spPr>
          <a:xfrm>
            <a:off x="4620221" y="4435189"/>
            <a:ext cx="1310640" cy="1965962"/>
          </a:xfrm>
          <a:prstGeom prst="roundRect">
            <a:avLst>
              <a:gd name="adj" fmla="val 6783"/>
            </a:avLst>
          </a:prstGeom>
          <a:blipFill dpi="0" rotWithShape="1">
            <a:blip r:embed="rId12"/>
            <a:srcRect/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54000" dist="63500" dir="2700000" sx="103000" sy="103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FAAE9FEB-1B14-9DEA-1F43-ACF234EECAC4}"/>
              </a:ext>
            </a:extLst>
          </p:cNvPr>
          <p:cNvSpPr/>
          <p:nvPr/>
        </p:nvSpPr>
        <p:spPr>
          <a:xfrm>
            <a:off x="6307033" y="4435189"/>
            <a:ext cx="1310640" cy="1965962"/>
          </a:xfrm>
          <a:prstGeom prst="roundRect">
            <a:avLst>
              <a:gd name="adj" fmla="val 6783"/>
            </a:avLst>
          </a:prstGeom>
          <a:blipFill dpi="0" rotWithShape="1">
            <a:blip r:embed="rId13"/>
            <a:srcRect/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54000" dist="63500" dir="2700000" sx="103000" sy="103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65DDC692-F108-E18D-4650-E73FF3534E9F}"/>
              </a:ext>
            </a:extLst>
          </p:cNvPr>
          <p:cNvSpPr/>
          <p:nvPr/>
        </p:nvSpPr>
        <p:spPr>
          <a:xfrm>
            <a:off x="7993845" y="4435189"/>
            <a:ext cx="1310640" cy="1965962"/>
          </a:xfrm>
          <a:prstGeom prst="roundRect">
            <a:avLst>
              <a:gd name="adj" fmla="val 6783"/>
            </a:avLst>
          </a:prstGeom>
          <a:blipFill dpi="0" rotWithShape="1">
            <a:blip r:embed="rId14"/>
            <a:srcRect/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54000" dist="63500" dir="2700000" sx="103000" sy="103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5A359D34-82F9-CDCF-4568-C00B893B4DC7}"/>
              </a:ext>
            </a:extLst>
          </p:cNvPr>
          <p:cNvSpPr/>
          <p:nvPr/>
        </p:nvSpPr>
        <p:spPr>
          <a:xfrm>
            <a:off x="9680657" y="4435189"/>
            <a:ext cx="1310640" cy="1965962"/>
          </a:xfrm>
          <a:prstGeom prst="roundRect">
            <a:avLst>
              <a:gd name="adj" fmla="val 6783"/>
            </a:avLst>
          </a:prstGeom>
          <a:blipFill dpi="0" rotWithShape="1">
            <a:blip r:embed="rId15"/>
            <a:srcRect/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54000" dist="63500" dir="2700000" sx="103000" sy="103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59513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6" grpId="0" animBg="1"/>
      <p:bldP spid="29" grpId="0" animBg="1"/>
      <p:bldP spid="30" grpId="0" animBg="1"/>
      <p:bldP spid="40" grpId="0" animBg="1"/>
      <p:bldP spid="48" grpId="0" animBg="1"/>
      <p:bldP spid="4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0"/>
                <a:lumOff val="100000"/>
              </a:schemeClr>
            </a:gs>
            <a:gs pos="35000">
              <a:schemeClr val="accent4">
                <a:lumMod val="0"/>
                <a:lumOff val="100000"/>
              </a:schemeClr>
            </a:gs>
            <a:gs pos="100000">
              <a:schemeClr val="accent4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F7FFAF0-4A5F-78FF-6FB6-730907037CD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6016307" y="4025354"/>
                </a:moveTo>
                <a:cubicBezTo>
                  <a:pt x="6101278" y="4026267"/>
                  <a:pt x="6171843" y="4055874"/>
                  <a:pt x="6228000" y="4114175"/>
                </a:cubicBezTo>
                <a:cubicBezTo>
                  <a:pt x="6284158" y="4172476"/>
                  <a:pt x="6313289" y="4253994"/>
                  <a:pt x="6315392" y="4358729"/>
                </a:cubicBezTo>
                <a:cubicBezTo>
                  <a:pt x="6313289" y="4463464"/>
                  <a:pt x="6284158" y="4544982"/>
                  <a:pt x="6228000" y="4603284"/>
                </a:cubicBezTo>
                <a:cubicBezTo>
                  <a:pt x="6171843" y="4661584"/>
                  <a:pt x="6101278" y="4691191"/>
                  <a:pt x="6016307" y="4692104"/>
                </a:cubicBezTo>
                <a:cubicBezTo>
                  <a:pt x="5931336" y="4691191"/>
                  <a:pt x="5860772" y="4661584"/>
                  <a:pt x="5804615" y="4603284"/>
                </a:cubicBezTo>
                <a:cubicBezTo>
                  <a:pt x="5748456" y="4544982"/>
                  <a:pt x="5719326" y="4463464"/>
                  <a:pt x="5717222" y="4358729"/>
                </a:cubicBezTo>
                <a:cubicBezTo>
                  <a:pt x="5719326" y="4253994"/>
                  <a:pt x="5748456" y="4172476"/>
                  <a:pt x="5804615" y="4114175"/>
                </a:cubicBezTo>
                <a:cubicBezTo>
                  <a:pt x="5860772" y="4055874"/>
                  <a:pt x="5931336" y="4026267"/>
                  <a:pt x="6016307" y="4025354"/>
                </a:cubicBezTo>
                <a:close/>
                <a:moveTo>
                  <a:pt x="6924992" y="3691979"/>
                </a:moveTo>
                <a:lnTo>
                  <a:pt x="6924992" y="4425404"/>
                </a:lnTo>
                <a:cubicBezTo>
                  <a:pt x="6926461" y="4626699"/>
                  <a:pt x="6983531" y="4781798"/>
                  <a:pt x="7096204" y="4890700"/>
                </a:cubicBezTo>
                <a:cubicBezTo>
                  <a:pt x="7208877" y="4999603"/>
                  <a:pt x="7368341" y="5054689"/>
                  <a:pt x="7574597" y="5055959"/>
                </a:cubicBezTo>
                <a:cubicBezTo>
                  <a:pt x="7780853" y="5054689"/>
                  <a:pt x="7940318" y="4999603"/>
                  <a:pt x="8052990" y="4890700"/>
                </a:cubicBezTo>
                <a:cubicBezTo>
                  <a:pt x="8165663" y="4781798"/>
                  <a:pt x="8222734" y="4626699"/>
                  <a:pt x="8224203" y="4425404"/>
                </a:cubicBezTo>
                <a:lnTo>
                  <a:pt x="8224203" y="3691979"/>
                </a:lnTo>
                <a:lnTo>
                  <a:pt x="7782242" y="3691979"/>
                </a:lnTo>
                <a:lnTo>
                  <a:pt x="7782242" y="4412069"/>
                </a:lnTo>
                <a:cubicBezTo>
                  <a:pt x="7781607" y="4512915"/>
                  <a:pt x="7763351" y="4585067"/>
                  <a:pt x="7727474" y="4628525"/>
                </a:cubicBezTo>
                <a:cubicBezTo>
                  <a:pt x="7691596" y="4671983"/>
                  <a:pt x="7641907" y="4693176"/>
                  <a:pt x="7578407" y="4692104"/>
                </a:cubicBezTo>
                <a:cubicBezTo>
                  <a:pt x="7514907" y="4693176"/>
                  <a:pt x="7465219" y="4671983"/>
                  <a:pt x="7429341" y="4628525"/>
                </a:cubicBezTo>
                <a:cubicBezTo>
                  <a:pt x="7393464" y="4585067"/>
                  <a:pt x="7375207" y="4512915"/>
                  <a:pt x="7374572" y="4412069"/>
                </a:cubicBezTo>
                <a:lnTo>
                  <a:pt x="7374572" y="3691979"/>
                </a:lnTo>
                <a:close/>
                <a:moveTo>
                  <a:pt x="3804602" y="3691979"/>
                </a:moveTo>
                <a:lnTo>
                  <a:pt x="4307522" y="4535894"/>
                </a:lnTo>
                <a:lnTo>
                  <a:pt x="4307522" y="5025479"/>
                </a:lnTo>
                <a:lnTo>
                  <a:pt x="4757103" y="5025479"/>
                </a:lnTo>
                <a:lnTo>
                  <a:pt x="4757103" y="4541609"/>
                </a:lnTo>
                <a:lnTo>
                  <a:pt x="5260022" y="3691979"/>
                </a:lnTo>
                <a:lnTo>
                  <a:pt x="4825682" y="3691979"/>
                </a:lnTo>
                <a:lnTo>
                  <a:pt x="4551363" y="4152989"/>
                </a:lnTo>
                <a:lnTo>
                  <a:pt x="4278947" y="3691979"/>
                </a:lnTo>
                <a:close/>
                <a:moveTo>
                  <a:pt x="6016307" y="3661499"/>
                </a:moveTo>
                <a:cubicBezTo>
                  <a:pt x="5870281" y="3662628"/>
                  <a:pt x="5740905" y="3692967"/>
                  <a:pt x="5628181" y="3752516"/>
                </a:cubicBezTo>
                <a:cubicBezTo>
                  <a:pt x="5515457" y="3812065"/>
                  <a:pt x="5426863" y="3894050"/>
                  <a:pt x="5362398" y="3998473"/>
                </a:cubicBezTo>
                <a:cubicBezTo>
                  <a:pt x="5297935" y="4102895"/>
                  <a:pt x="5265079" y="4222980"/>
                  <a:pt x="5263832" y="4358729"/>
                </a:cubicBezTo>
                <a:cubicBezTo>
                  <a:pt x="5265079" y="4494478"/>
                  <a:pt x="5297935" y="4614564"/>
                  <a:pt x="5362398" y="4718986"/>
                </a:cubicBezTo>
                <a:cubicBezTo>
                  <a:pt x="5426863" y="4823408"/>
                  <a:pt x="5515457" y="4905394"/>
                  <a:pt x="5628181" y="4964942"/>
                </a:cubicBezTo>
                <a:cubicBezTo>
                  <a:pt x="5740905" y="5024491"/>
                  <a:pt x="5870281" y="5054830"/>
                  <a:pt x="6016307" y="5055959"/>
                </a:cubicBezTo>
                <a:cubicBezTo>
                  <a:pt x="6162334" y="5054830"/>
                  <a:pt x="6291709" y="5024491"/>
                  <a:pt x="6404433" y="4964943"/>
                </a:cubicBezTo>
                <a:cubicBezTo>
                  <a:pt x="6517158" y="4905394"/>
                  <a:pt x="6605752" y="4823408"/>
                  <a:pt x="6670216" y="4718986"/>
                </a:cubicBezTo>
                <a:cubicBezTo>
                  <a:pt x="6734680" y="4614564"/>
                  <a:pt x="6767536" y="4494478"/>
                  <a:pt x="6768782" y="4358729"/>
                </a:cubicBezTo>
                <a:cubicBezTo>
                  <a:pt x="6767536" y="4222980"/>
                  <a:pt x="6734680" y="4102895"/>
                  <a:pt x="6670216" y="3998473"/>
                </a:cubicBezTo>
                <a:cubicBezTo>
                  <a:pt x="6605752" y="3894050"/>
                  <a:pt x="6517158" y="3812065"/>
                  <a:pt x="6404433" y="3752516"/>
                </a:cubicBezTo>
                <a:cubicBezTo>
                  <a:pt x="6291709" y="3692967"/>
                  <a:pt x="6162334" y="3662628"/>
                  <a:pt x="6016307" y="3661499"/>
                </a:cubicBezTo>
                <a:close/>
                <a:moveTo>
                  <a:pt x="5982017" y="1847939"/>
                </a:moveTo>
                <a:lnTo>
                  <a:pt x="6111557" y="2183219"/>
                </a:lnTo>
                <a:lnTo>
                  <a:pt x="5852478" y="2183219"/>
                </a:lnTo>
                <a:close/>
                <a:moveTo>
                  <a:pt x="8393747" y="1405979"/>
                </a:moveTo>
                <a:lnTo>
                  <a:pt x="8393747" y="2739479"/>
                </a:lnTo>
                <a:lnTo>
                  <a:pt x="8835707" y="2739479"/>
                </a:lnTo>
                <a:lnTo>
                  <a:pt x="8835707" y="2409914"/>
                </a:lnTo>
                <a:lnTo>
                  <a:pt x="8936672" y="2297519"/>
                </a:lnTo>
                <a:lnTo>
                  <a:pt x="9270047" y="2739479"/>
                </a:lnTo>
                <a:lnTo>
                  <a:pt x="9790112" y="2739479"/>
                </a:lnTo>
                <a:lnTo>
                  <a:pt x="9230042" y="1992719"/>
                </a:lnTo>
                <a:lnTo>
                  <a:pt x="9763442" y="1405979"/>
                </a:lnTo>
                <a:lnTo>
                  <a:pt x="9273857" y="1405979"/>
                </a:lnTo>
                <a:lnTo>
                  <a:pt x="8835707" y="1889849"/>
                </a:lnTo>
                <a:lnTo>
                  <a:pt x="8835707" y="1405979"/>
                </a:lnTo>
                <a:close/>
                <a:moveTo>
                  <a:pt x="6860222" y="1405979"/>
                </a:moveTo>
                <a:lnTo>
                  <a:pt x="6860222" y="2739479"/>
                </a:lnTo>
                <a:lnTo>
                  <a:pt x="7298372" y="2739479"/>
                </a:lnTo>
                <a:lnTo>
                  <a:pt x="7298372" y="2133689"/>
                </a:lnTo>
                <a:lnTo>
                  <a:pt x="7805102" y="2739479"/>
                </a:lnTo>
                <a:lnTo>
                  <a:pt x="8174672" y="2739479"/>
                </a:lnTo>
                <a:lnTo>
                  <a:pt x="8174672" y="1405979"/>
                </a:lnTo>
                <a:lnTo>
                  <a:pt x="7736522" y="1405979"/>
                </a:lnTo>
                <a:lnTo>
                  <a:pt x="7736522" y="2011769"/>
                </a:lnTo>
                <a:lnTo>
                  <a:pt x="7229792" y="1405979"/>
                </a:lnTo>
                <a:close/>
                <a:moveTo>
                  <a:pt x="5764847" y="1405979"/>
                </a:moveTo>
                <a:lnTo>
                  <a:pt x="5181917" y="2739479"/>
                </a:lnTo>
                <a:lnTo>
                  <a:pt x="5639118" y="2739479"/>
                </a:lnTo>
                <a:lnTo>
                  <a:pt x="5728652" y="2507069"/>
                </a:lnTo>
                <a:lnTo>
                  <a:pt x="6235382" y="2507069"/>
                </a:lnTo>
                <a:lnTo>
                  <a:pt x="6324917" y="2739479"/>
                </a:lnTo>
                <a:lnTo>
                  <a:pt x="6789737" y="2739479"/>
                </a:lnTo>
                <a:lnTo>
                  <a:pt x="6206807" y="1405979"/>
                </a:lnTo>
                <a:close/>
                <a:moveTo>
                  <a:pt x="3793172" y="1405979"/>
                </a:moveTo>
                <a:lnTo>
                  <a:pt x="3793172" y="2739479"/>
                </a:lnTo>
                <a:lnTo>
                  <a:pt x="4242752" y="2739479"/>
                </a:lnTo>
                <a:lnTo>
                  <a:pt x="4242752" y="2247989"/>
                </a:lnTo>
                <a:lnTo>
                  <a:pt x="4658042" y="2247989"/>
                </a:lnTo>
                <a:lnTo>
                  <a:pt x="4658042" y="2739479"/>
                </a:lnTo>
                <a:lnTo>
                  <a:pt x="5107622" y="2739479"/>
                </a:lnTo>
                <a:lnTo>
                  <a:pt x="5107622" y="1405979"/>
                </a:lnTo>
                <a:lnTo>
                  <a:pt x="4658042" y="1405979"/>
                </a:lnTo>
                <a:lnTo>
                  <a:pt x="4658042" y="1878419"/>
                </a:lnTo>
                <a:lnTo>
                  <a:pt x="4242752" y="1878419"/>
                </a:lnTo>
                <a:lnTo>
                  <a:pt x="4242752" y="1405979"/>
                </a:lnTo>
                <a:close/>
                <a:moveTo>
                  <a:pt x="2444432" y="1405979"/>
                </a:moveTo>
                <a:lnTo>
                  <a:pt x="2444432" y="1754594"/>
                </a:lnTo>
                <a:lnTo>
                  <a:pt x="2834958" y="1754594"/>
                </a:lnTo>
                <a:lnTo>
                  <a:pt x="2834958" y="2739479"/>
                </a:lnTo>
                <a:lnTo>
                  <a:pt x="3284537" y="2739479"/>
                </a:lnTo>
                <a:lnTo>
                  <a:pt x="3284537" y="1754594"/>
                </a:lnTo>
                <a:lnTo>
                  <a:pt x="3675063" y="1754594"/>
                </a:lnTo>
                <a:lnTo>
                  <a:pt x="3675063" y="1405979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7731104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3299</TotalTime>
  <Words>4121</Words>
  <Application>Microsoft Office PowerPoint</Application>
  <PresentationFormat>Widescreen</PresentationFormat>
  <Paragraphs>789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51" baseType="lpstr">
      <vt:lpstr>Arial</vt:lpstr>
      <vt:lpstr>Arial</vt:lpstr>
      <vt:lpstr>Calibri</vt:lpstr>
      <vt:lpstr>Calibri Light</vt:lpstr>
      <vt:lpstr>Candara</vt:lpstr>
      <vt:lpstr>Candara Light</vt:lpstr>
      <vt:lpstr>Impact</vt:lpstr>
      <vt:lpstr>Montserrat</vt:lpstr>
      <vt:lpstr>Montserrat Black</vt:lpstr>
      <vt:lpstr>Noto Sans Lisu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Shreyash Patel</dc:creator>
  <cp:lastModifiedBy>Shreyash Patel</cp:lastModifiedBy>
  <cp:revision>18</cp:revision>
  <dcterms:created xsi:type="dcterms:W3CDTF">2026-03-28T20:42:23Z</dcterms:created>
  <dcterms:modified xsi:type="dcterms:W3CDTF">2026-04-05T19:35:50Z</dcterms:modified>
</cp:coreProperties>
</file>